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BillWise AI: an AI-powered receipt analyzer and bill-splitting assistant. Tagline: Snap it. Understand it. Split it. Share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abstract briefly, then walk down the table: each manual problem maps to a feature that solves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objectives, one pipeline. Every step in the pipeline is implemented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numbered cards. Gemini AI handles reading and chat; Python handles verification and share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UI, image preparation, Gemini extraction into a typed schema, Python verification and splitting, then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capabilities, all described in the project README and visible in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each numbered element on the real screenshot. Requirements are on the right; hardware figures are suggested minimums.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these qualitative; the project does not report benchmark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none of these are implemented yet; they are realistic next steps on top of the current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five-step flow, then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MAIN-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600" b="1" dirty="0">
                <a:solidFill>
                  <a:srgbClr val="F5F7FB"/>
                </a:solidFill>
                <a:latin typeface="Calibri" pitchFamily="34" charset="0"/>
                <a:ea typeface="Calibri" pitchFamily="34" charset="-122"/>
                <a:cs typeface="Calibri" pitchFamily="34" charset="-120"/>
              </a:defRPr>
            </a:lvl1pPr>
          </a:lstStyle>
          <a:p>
            <a:pPr algn="l" indent="0" marL="0">
              <a:buNone/>
            </a:pPr>
            <a:endParaRPr lang="en-US" sz="3600" dirty="0"/>
          </a:p>
        </p:txBody>
      </p:sp>
      <p:sp>
        <p:nvSpPr>
          <p:cNvPr id="3" name="Text 0"/>
          <p:cNvSpPr/>
          <p:nvPr/>
        </p:nvSpPr>
        <p:spPr>
          <a:xfrm>
            <a:off x="548640" y="6473952"/>
            <a:ext cx="2743200" cy="228600"/>
          </a:xfrm>
          <a:prstGeom prst="rect">
            <a:avLst/>
          </a:prstGeom>
          <a:noFill/>
          <a:ln/>
        </p:spPr>
        <p:txBody>
          <a:bodyPr wrap="square" lIns="0" tIns="0" rIns="0" bIns="0" rtlCol="0" anchor="ctr"/>
          <a:lstStyle/>
          <a:p>
            <a:pPr indent="0" marL="0">
              <a:buNone/>
            </a:pPr>
            <a:r>
              <a:rPr lang="en-US" sz="1000" dirty="0">
                <a:solidFill>
                  <a:srgbClr val="7F899B"/>
                </a:solidFill>
                <a:latin typeface="Calibri" pitchFamily="34" charset="0"/>
                <a:ea typeface="Calibri" pitchFamily="34" charset="-122"/>
                <a:cs typeface="Calibri" pitchFamily="34" charset="-120"/>
              </a:rPr>
              <a:t>BillWise AI</a:t>
            </a:r>
            <a:endParaRPr lang="en-US" sz="10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899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899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slideLayout" Target="../slideLayouts/slideLayout2.xml"/><Relationship Id="rId1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slideLayout" Target="../slideLayouts/slideLayout2.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logo"/>
          <p:cNvSpPr/>
          <p:nvPr/>
        </p:nvSpPr>
        <p:spPr>
          <a:xfrm>
            <a:off x="731520" y="914400"/>
            <a:ext cx="868680" cy="868680"/>
          </a:xfrm>
          <a:prstGeom prst="roundRect">
            <a:avLst>
              <a:gd name="adj" fmla="val 23158"/>
            </a:avLst>
          </a:prstGeom>
          <a:solidFill>
            <a:srgbClr val="241C45"/>
          </a:solidFill>
          <a:ln w="12700">
            <a:solidFill>
              <a:srgbClr val="8B5CF6"/>
            </a:solidFill>
            <a:prstDash val="solid"/>
          </a:ln>
          <a:effectLst>
            <a:outerShdw sx="100000" sy="100000" kx="0" ky="0" algn="bl" rotWithShape="0" blurRad="177800" dist="50800" dir="16200000">
              <a:srgbClr val="8B5CF6">
                <a:alpha val="28000"/>
              </a:srgbClr>
            </a:outerShdw>
          </a:effectLst>
        </p:spPr>
      </p:sp>
      <p:pic>
        <p:nvPicPr>
          <p:cNvPr id="4" name="logo-icon" descr="preencoded.png">    </p:cNvPr>
          <p:cNvPicPr>
            <a:picLocks noChangeAspect="1"/>
          </p:cNvPicPr>
          <p:nvPr/>
        </p:nvPicPr>
        <p:blipFill>
          <a:blip r:embed="rId1"/>
          <a:stretch>
            <a:fillRect/>
          </a:stretch>
        </p:blipFill>
        <p:spPr>
          <a:xfrm>
            <a:off x="960120" y="1143000"/>
            <a:ext cx="411480" cy="411480"/>
          </a:xfrm>
          <a:prstGeom prst="rect">
            <a:avLst/>
          </a:prstGeom>
        </p:spPr>
      </p:pic>
      <p:sp>
        <p:nvSpPr>
          <p:cNvPr id="5" name="Text 1"/>
          <p:cNvSpPr txBox="1"/>
          <p:nvPr/>
        </p:nvSpPr>
        <p:spPr>
          <a:xfrm>
            <a:off x="731520" y="1965960"/>
            <a:ext cx="5669280" cy="1097280"/>
          </a:xfrm>
          <a:prstGeom prst="rect">
            <a:avLst/>
          </a:prstGeom>
          <a:noFill/>
          <a:ln/>
        </p:spPr>
        <p:txBody>
          <a:bodyPr wrap="square" lIns="0" tIns="0" rIns="0" bIns="0" rtlCol="0" anchor="ctr"/>
          <a:lstStyle/>
          <a:p>
            <a:pPr indent="0" marL="0">
              <a:buNone/>
            </a:pPr>
            <a:r>
              <a:rPr lang="en-US" sz="6600" b="1" dirty="0">
                <a:solidFill>
                  <a:srgbClr val="C4B5FD"/>
                </a:solidFill>
                <a:latin typeface="Calibri" pitchFamily="34" charset="0"/>
                <a:ea typeface="Calibri" pitchFamily="34" charset="-122"/>
                <a:cs typeface="Calibri" pitchFamily="34" charset="-120"/>
              </a:rPr>
              <a:t>BillWise AI</a:t>
            </a:r>
            <a:endParaRPr lang="en-US" sz="6600" dirty="0"/>
          </a:p>
        </p:txBody>
      </p:sp>
      <p:sp>
        <p:nvSpPr>
          <p:cNvPr id="6" name="Text 2"/>
          <p:cNvSpPr txBox="1"/>
          <p:nvPr/>
        </p:nvSpPr>
        <p:spPr>
          <a:xfrm>
            <a:off x="731520" y="3108960"/>
            <a:ext cx="5394960" cy="914400"/>
          </a:xfrm>
          <a:prstGeom prst="rect">
            <a:avLst/>
          </a:prstGeom>
          <a:noFill/>
          <a:ln/>
        </p:spPr>
        <p:txBody>
          <a:bodyPr wrap="square" lIns="0" tIns="0" rIns="0" bIns="0" rtlCol="0" anchor="t"/>
          <a:lstStyle/>
          <a:p>
            <a:pPr indent="0" marL="0">
              <a:buNone/>
            </a:pPr>
            <a:r>
              <a:rPr lang="en-US" sz="2200" dirty="0">
                <a:solidFill>
                  <a:srgbClr val="F5F7FB"/>
                </a:solidFill>
                <a:latin typeface="Calibri" pitchFamily="34" charset="0"/>
                <a:ea typeface="Calibri" pitchFamily="34" charset="-122"/>
                <a:cs typeface="Calibri" pitchFamily="34" charset="-120"/>
              </a:rPr>
              <a:t>AI-Powered Receipt Analyzer &amp; Smart Bill Splitting Assistant</a:t>
            </a:r>
            <a:endParaRPr lang="en-US" sz="2200" dirty="0"/>
          </a:p>
        </p:txBody>
      </p:sp>
      <p:sp>
        <p:nvSpPr>
          <p:cNvPr id="7" name="Text 3"/>
          <p:cNvSpPr txBox="1"/>
          <p:nvPr/>
        </p:nvSpPr>
        <p:spPr>
          <a:xfrm>
            <a:off x="731520" y="4160520"/>
            <a:ext cx="5394960" cy="457200"/>
          </a:xfrm>
          <a:prstGeom prst="rect">
            <a:avLst/>
          </a:prstGeom>
          <a:noFill/>
          <a:ln/>
        </p:spPr>
        <p:txBody>
          <a:bodyPr wrap="square" lIns="0" tIns="0" rIns="0" bIns="0" rtlCol="0" anchor="ctr"/>
          <a:lstStyle/>
          <a:p>
            <a:pPr indent="0" marL="0">
              <a:buNone/>
            </a:pPr>
            <a:r>
              <a:rPr lang="en-US" sz="1800" i="1" dirty="0">
                <a:solidFill>
                  <a:srgbClr val="F9A8D4"/>
                </a:solidFill>
                <a:latin typeface="Calibri" pitchFamily="34" charset="0"/>
                <a:ea typeface="Calibri" pitchFamily="34" charset="-122"/>
                <a:cs typeface="Calibri" pitchFamily="34" charset="-120"/>
              </a:rPr>
              <a:t>“Snap it. Understand it. Split it. Share it.”</a:t>
            </a:r>
            <a:endParaRPr lang="en-US" sz="1800" dirty="0"/>
          </a:p>
        </p:txBody>
      </p:sp>
      <p:sp>
        <p:nvSpPr>
          <p:cNvPr id="8" name="Text 4"/>
          <p:cNvSpPr txBox="1"/>
          <p:nvPr/>
        </p:nvSpPr>
        <p:spPr>
          <a:xfrm>
            <a:off x="731520" y="5257800"/>
            <a:ext cx="5394960" cy="365760"/>
          </a:xfrm>
          <a:prstGeom prst="rect">
            <a:avLst/>
          </a:prstGeom>
          <a:noFill/>
          <a:ln/>
        </p:spPr>
        <p:txBody>
          <a:bodyPr wrap="square" lIns="0" tIns="0" rIns="0" bIns="0" rtlCol="0" anchor="ctr"/>
          <a:lstStyle/>
          <a:p>
            <a:pPr indent="0" marL="0">
              <a:buNone/>
            </a:pPr>
            <a:r>
              <a:rPr lang="en-US" sz="1600" b="1" dirty="0">
                <a:solidFill>
                  <a:srgbClr val="F5F7FB"/>
                </a:solidFill>
                <a:latin typeface="Calibri" pitchFamily="34" charset="0"/>
                <a:ea typeface="Calibri" pitchFamily="34" charset="-122"/>
                <a:cs typeface="Calibri" pitchFamily="34" charset="-120"/>
              </a:rPr>
              <a:t>B.Tech Project Presentation</a:t>
            </a:r>
            <a:endParaRPr lang="en-US" sz="1600" dirty="0"/>
          </a:p>
        </p:txBody>
      </p:sp>
      <p:sp>
        <p:nvSpPr>
          <p:cNvPr id="9" name="Text 5"/>
          <p:cNvSpPr txBox="1"/>
          <p:nvPr/>
        </p:nvSpPr>
        <p:spPr>
          <a:xfrm>
            <a:off x="731520" y="5623560"/>
            <a:ext cx="5394960" cy="320040"/>
          </a:xfrm>
          <a:prstGeom prst="rect">
            <a:avLst/>
          </a:prstGeom>
          <a:noFill/>
          <a:ln/>
        </p:spPr>
        <p:txBody>
          <a:bodyPr wrap="square" lIns="0" tIns="0" rIns="0" bIns="0" rtlCol="0" anchor="ctr"/>
          <a:lstStyle/>
          <a:p>
            <a:pPr indent="0" marL="0">
              <a:buNone/>
            </a:pPr>
            <a:r>
              <a:rPr lang="en-US" sz="1400" dirty="0">
                <a:solidFill>
                  <a:srgbClr val="A3ABBC"/>
                </a:solidFill>
                <a:latin typeface="Calibri" pitchFamily="34" charset="0"/>
                <a:ea typeface="Calibri" pitchFamily="34" charset="-122"/>
                <a:cs typeface="Calibri" pitchFamily="34" charset="-120"/>
              </a:rPr>
              <a:t>Presented by: [Your Name]  |  Guide: [Guide Name]</a:t>
            </a:r>
            <a:endParaRPr lang="en-US" sz="1400" dirty="0"/>
          </a:p>
        </p:txBody>
      </p:sp>
      <p:sp>
        <p:nvSpPr>
          <p:cNvPr id="10" name="screen-frame"/>
          <p:cNvSpPr/>
          <p:nvPr/>
        </p:nvSpPr>
        <p:spPr>
          <a:xfrm>
            <a:off x="6537960" y="1463040"/>
            <a:ext cx="5212080" cy="3552516"/>
          </a:xfrm>
          <a:prstGeom prst="roundRect">
            <a:avLst>
              <a:gd name="adj" fmla="val 3861"/>
            </a:avLst>
          </a:prstGeom>
          <a:solidFill>
            <a:srgbClr val="11151F"/>
          </a:solidFill>
          <a:ln w="15875">
            <a:solidFill>
              <a:srgbClr val="8B5CF6"/>
            </a:solidFill>
            <a:prstDash val="solid"/>
          </a:ln>
          <a:effectLst>
            <a:outerShdw sx="100000" sy="100000" kx="0" ky="0" algn="bl" rotWithShape="0" blurRad="381000" dist="50800" dir="16200000">
              <a:srgbClr val="8B5CF6">
                <a:alpha val="45000"/>
              </a:srgbClr>
            </a:outerShdw>
          </a:effectLst>
        </p:spPr>
      </p:sp>
      <p:pic>
        <p:nvPicPr>
          <p:cNvPr id="11" name="app-screenshot" descr="BillWise AI application screenshot">    </p:cNvPr>
          <p:cNvPicPr>
            <a:picLocks noChangeAspect="1"/>
          </p:cNvPicPr>
          <p:nvPr/>
        </p:nvPicPr>
        <p:blipFill>
          <a:blip r:embed="rId2"/>
          <a:stretch>
            <a:fillRect/>
          </a:stretch>
        </p:blipFill>
        <p:spPr>
          <a:xfrm>
            <a:off x="6675120" y="1600200"/>
            <a:ext cx="4937760" cy="32781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rgbClr val="F5F7FB"/>
                </a:solidFill>
                <a:latin typeface="Calibri" pitchFamily="34" charset="0"/>
                <a:ea typeface="Calibri" pitchFamily="34" charset="-122"/>
                <a:cs typeface="Calibri" pitchFamily="34" charset="-120"/>
              </a:rPr>
              <a:t>Abstract &amp; Problem Statement</a:t>
            </a:r>
            <a:endParaRPr lang="en-US" sz="3600" dirty="0"/>
          </a:p>
        </p:txBody>
      </p:sp>
      <p:sp>
        <p:nvSpPr>
          <p:cNvPr id="4" name="card"/>
          <p:cNvSpPr/>
          <p:nvPr/>
        </p:nvSpPr>
        <p:spPr>
          <a:xfrm>
            <a:off x="548640" y="1280160"/>
            <a:ext cx="11064240" cy="1188720"/>
          </a:xfrm>
          <a:prstGeom prst="roundRect">
            <a:avLst>
              <a:gd name="adj" fmla="val 9231"/>
            </a:avLst>
          </a:prstGeom>
          <a:solidFill>
            <a:srgbClr val="161B27"/>
          </a:solidFill>
          <a:ln w="12700">
            <a:solidFill>
              <a:srgbClr val="2B3240"/>
            </a:solidFill>
            <a:prstDash val="solid"/>
          </a:ln>
        </p:spPr>
      </p:sp>
      <p:sp>
        <p:nvSpPr>
          <p:cNvPr id="5" name="Text 2"/>
          <p:cNvSpPr txBox="1"/>
          <p:nvPr/>
        </p:nvSpPr>
        <p:spPr>
          <a:xfrm>
            <a:off x="777240" y="1371600"/>
            <a:ext cx="10607040" cy="1005840"/>
          </a:xfrm>
          <a:prstGeom prst="rect">
            <a:avLst/>
          </a:prstGeom>
          <a:noFill/>
          <a:ln/>
        </p:spPr>
        <p:txBody>
          <a:bodyPr wrap="square" lIns="0" tIns="0" rIns="0" bIns="0" rtlCol="0" anchor="ctr"/>
          <a:lstStyle/>
          <a:p>
            <a:pPr indent="0" marL="0">
              <a:buNone/>
            </a:pPr>
            <a:r>
              <a:rPr lang="en-US" sz="1200" b="1" dirty="0">
                <a:solidFill>
                  <a:srgbClr val="EC4899"/>
                </a:solidFill>
                <a:latin typeface="Calibri" pitchFamily="34" charset="0"/>
                <a:ea typeface="Calibri" pitchFamily="34" charset="-122"/>
                <a:cs typeface="Calibri" pitchFamily="34" charset="-120"/>
              </a:rPr>
              <a:t>ABSTRACT   </a:t>
            </a:r>
            <a:pPr indent="0" marL="0">
              <a:buNone/>
            </a:pPr>
            <a:r>
              <a:rPr lang="en-US" sz="1500" dirty="0">
                <a:solidFill>
                  <a:srgbClr val="F5F7FB"/>
                </a:solidFill>
                <a:latin typeface="Calibri" pitchFamily="34" charset="0"/>
                <a:ea typeface="Calibri" pitchFamily="34" charset="-122"/>
                <a:cs typeface="Calibri" pitchFamily="34" charset="-120"/>
              </a:rPr>
              <a:t>BillWise AI is an AI-powered application that simplifies receipt understanding and group expense management. It analyzes receipt images using Google Gemini, extracts structured bill data, and verifies calculations in Python. It then enables bill splitting among participants and sharing of expense summaries.</a:t>
            </a:r>
            <a:endParaRPr lang="en-US" sz="1400" dirty="0"/>
          </a:p>
        </p:txBody>
      </p:sp>
      <p:sp>
        <p:nvSpPr>
          <p:cNvPr id="6" name="Text 3"/>
          <p:cNvSpPr txBox="1"/>
          <p:nvPr/>
        </p:nvSpPr>
        <p:spPr>
          <a:xfrm>
            <a:off x="548640" y="2651760"/>
            <a:ext cx="5029200" cy="274320"/>
          </a:xfrm>
          <a:prstGeom prst="rect">
            <a:avLst/>
          </a:prstGeom>
          <a:noFill/>
          <a:ln/>
        </p:spPr>
        <p:txBody>
          <a:bodyPr wrap="square" lIns="0" tIns="0" rIns="0" bIns="0" rtlCol="0" anchor="ctr"/>
          <a:lstStyle/>
          <a:p>
            <a:pPr indent="0" marL="0">
              <a:buNone/>
            </a:pPr>
            <a:r>
              <a:rPr lang="en-US" sz="1200" b="1" dirty="0">
                <a:solidFill>
                  <a:srgbClr val="F87171"/>
                </a:solidFill>
                <a:latin typeface="Calibri" pitchFamily="34" charset="0"/>
                <a:ea typeface="Calibri" pitchFamily="34" charset="-122"/>
                <a:cs typeface="Calibri" pitchFamily="34" charset="-120"/>
              </a:rPr>
              <a:t>PROBLEM</a:t>
            </a:r>
            <a:endParaRPr lang="en-US" sz="1200" dirty="0"/>
          </a:p>
        </p:txBody>
      </p:sp>
      <p:sp>
        <p:nvSpPr>
          <p:cNvPr id="7" name="Text 4"/>
          <p:cNvSpPr txBox="1"/>
          <p:nvPr/>
        </p:nvSpPr>
        <p:spPr>
          <a:xfrm>
            <a:off x="6583680" y="2651760"/>
            <a:ext cx="5029200" cy="274320"/>
          </a:xfrm>
          <a:prstGeom prst="rect">
            <a:avLst/>
          </a:prstGeom>
          <a:noFill/>
          <a:ln/>
        </p:spPr>
        <p:txBody>
          <a:bodyPr wrap="square" lIns="0" tIns="0" rIns="0" bIns="0" rtlCol="0" anchor="ctr"/>
          <a:lstStyle/>
          <a:p>
            <a:pPr indent="0" marL="0">
              <a:buNone/>
            </a:pPr>
            <a:r>
              <a:rPr lang="en-US" sz="1200" b="1" dirty="0">
                <a:solidFill>
                  <a:srgbClr val="C4B5FD"/>
                </a:solidFill>
                <a:latin typeface="Calibri" pitchFamily="34" charset="0"/>
                <a:ea typeface="Calibri" pitchFamily="34" charset="-122"/>
                <a:cs typeface="Calibri" pitchFamily="34" charset="-120"/>
              </a:rPr>
              <a:t>AI-POWERED SOLUTION</a:t>
            </a:r>
            <a:endParaRPr lang="en-US" sz="1200" dirty="0"/>
          </a:p>
        </p:txBody>
      </p:sp>
      <p:sp>
        <p:nvSpPr>
          <p:cNvPr id="8" name="card"/>
          <p:cNvSpPr/>
          <p:nvPr/>
        </p:nvSpPr>
        <p:spPr>
          <a:xfrm>
            <a:off x="548640" y="3017520"/>
            <a:ext cx="5029200" cy="457200"/>
          </a:xfrm>
          <a:prstGeom prst="roundRect">
            <a:avLst>
              <a:gd name="adj" fmla="val 24000"/>
            </a:avLst>
          </a:prstGeom>
          <a:solidFill>
            <a:srgbClr val="1A1218"/>
          </a:solidFill>
          <a:ln w="12700">
            <a:solidFill>
              <a:srgbClr val="4A2530"/>
            </a:solidFill>
            <a:prstDash val="solid"/>
          </a:ln>
        </p:spPr>
      </p:sp>
      <p:sp>
        <p:nvSpPr>
          <p:cNvPr id="9" name="Text 6"/>
          <p:cNvSpPr txBox="1"/>
          <p:nvPr/>
        </p:nvSpPr>
        <p:spPr>
          <a:xfrm>
            <a:off x="731520" y="3017520"/>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Manual receipt entry is time-consuming</a:t>
            </a:r>
            <a:endParaRPr lang="en-US" sz="1400" dirty="0"/>
          </a:p>
        </p:txBody>
      </p:sp>
      <p:sp>
        <p:nvSpPr>
          <p:cNvPr id="10" name="Text 7"/>
          <p:cNvSpPr txBox="1"/>
          <p:nvPr/>
        </p:nvSpPr>
        <p:spPr>
          <a:xfrm>
            <a:off x="5669280" y="3017520"/>
            <a:ext cx="822960" cy="457200"/>
          </a:xfrm>
          <a:prstGeom prst="rect">
            <a:avLst/>
          </a:prstGeom>
          <a:noFill/>
          <a:ln/>
        </p:spPr>
        <p:txBody>
          <a:bodyPr wrap="square" lIns="0" tIns="0" rIns="0" bIns="0" rtlCol="0" anchor="ctr"/>
          <a:lstStyle/>
          <a:p>
            <a:pPr algn="ctr" indent="0" marL="0">
              <a:buNone/>
            </a:pPr>
            <a:r>
              <a:rPr lang="en-US" sz="2400" b="1" dirty="0">
                <a:solidFill>
                  <a:srgbClr val="EC4899"/>
                </a:solidFill>
                <a:latin typeface="Calibri" pitchFamily="34" charset="0"/>
                <a:ea typeface="Calibri" pitchFamily="34" charset="-122"/>
                <a:cs typeface="Calibri" pitchFamily="34" charset="-120"/>
              </a:rPr>
              <a:t>→</a:t>
            </a:r>
            <a:endParaRPr lang="en-US" sz="2400" dirty="0"/>
          </a:p>
        </p:txBody>
      </p:sp>
      <p:sp>
        <p:nvSpPr>
          <p:cNvPr id="11" name="card"/>
          <p:cNvSpPr/>
          <p:nvPr/>
        </p:nvSpPr>
        <p:spPr>
          <a:xfrm>
            <a:off x="6583680" y="3017520"/>
            <a:ext cx="5029200" cy="457200"/>
          </a:xfrm>
          <a:prstGeom prst="roundRect">
            <a:avLst>
              <a:gd name="adj" fmla="val 24000"/>
            </a:avLst>
          </a:prstGeom>
          <a:solidFill>
            <a:srgbClr val="18142B"/>
          </a:solidFill>
          <a:ln w="12700">
            <a:solidFill>
              <a:srgbClr val="8B5CF6"/>
            </a:solidFill>
            <a:prstDash val="solid"/>
          </a:ln>
          <a:effectLst>
            <a:outerShdw sx="100000" sy="100000" kx="0" ky="0" algn="bl" rotWithShape="0" blurRad="177800" dist="50800" dir="16200000">
              <a:srgbClr val="8B5CF6">
                <a:alpha val="28000"/>
              </a:srgbClr>
            </a:outerShdw>
          </a:effectLst>
        </p:spPr>
      </p:sp>
      <p:sp>
        <p:nvSpPr>
          <p:cNvPr id="12" name="Text 9"/>
          <p:cNvSpPr txBox="1"/>
          <p:nvPr/>
        </p:nvSpPr>
        <p:spPr>
          <a:xfrm>
            <a:off x="6766560" y="3017520"/>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Automatic AI receipt analysis</a:t>
            </a:r>
            <a:endParaRPr lang="en-US" sz="1400" dirty="0"/>
          </a:p>
        </p:txBody>
      </p:sp>
      <p:sp>
        <p:nvSpPr>
          <p:cNvPr id="13" name="card"/>
          <p:cNvSpPr/>
          <p:nvPr/>
        </p:nvSpPr>
        <p:spPr>
          <a:xfrm>
            <a:off x="548640" y="3575304"/>
            <a:ext cx="5029200" cy="457200"/>
          </a:xfrm>
          <a:prstGeom prst="roundRect">
            <a:avLst>
              <a:gd name="adj" fmla="val 24000"/>
            </a:avLst>
          </a:prstGeom>
          <a:solidFill>
            <a:srgbClr val="1A1218"/>
          </a:solidFill>
          <a:ln w="12700">
            <a:solidFill>
              <a:srgbClr val="4A2530"/>
            </a:solidFill>
            <a:prstDash val="solid"/>
          </a:ln>
        </p:spPr>
      </p:sp>
      <p:sp>
        <p:nvSpPr>
          <p:cNvPr id="14" name="Text 11"/>
          <p:cNvSpPr txBox="1"/>
          <p:nvPr/>
        </p:nvSpPr>
        <p:spPr>
          <a:xfrm>
            <a:off x="731520" y="3575304"/>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Receipt data is hard to extract</a:t>
            </a:r>
            <a:endParaRPr lang="en-US" sz="1400" dirty="0"/>
          </a:p>
        </p:txBody>
      </p:sp>
      <p:sp>
        <p:nvSpPr>
          <p:cNvPr id="15" name="Text 12"/>
          <p:cNvSpPr txBox="1"/>
          <p:nvPr/>
        </p:nvSpPr>
        <p:spPr>
          <a:xfrm>
            <a:off x="5669280" y="3575304"/>
            <a:ext cx="822960" cy="457200"/>
          </a:xfrm>
          <a:prstGeom prst="rect">
            <a:avLst/>
          </a:prstGeom>
          <a:noFill/>
          <a:ln/>
        </p:spPr>
        <p:txBody>
          <a:bodyPr wrap="square" lIns="0" tIns="0" rIns="0" bIns="0" rtlCol="0" anchor="ctr"/>
          <a:lstStyle/>
          <a:p>
            <a:pPr algn="ctr" indent="0" marL="0">
              <a:buNone/>
            </a:pPr>
            <a:r>
              <a:rPr lang="en-US" sz="2400" b="1" dirty="0">
                <a:solidFill>
                  <a:srgbClr val="EC4899"/>
                </a:solidFill>
                <a:latin typeface="Calibri" pitchFamily="34" charset="0"/>
                <a:ea typeface="Calibri" pitchFamily="34" charset="-122"/>
                <a:cs typeface="Calibri" pitchFamily="34" charset="-120"/>
              </a:rPr>
              <a:t>→</a:t>
            </a:r>
            <a:endParaRPr lang="en-US" sz="2400" dirty="0"/>
          </a:p>
        </p:txBody>
      </p:sp>
      <p:sp>
        <p:nvSpPr>
          <p:cNvPr id="16" name="card"/>
          <p:cNvSpPr/>
          <p:nvPr/>
        </p:nvSpPr>
        <p:spPr>
          <a:xfrm>
            <a:off x="6583680" y="3575304"/>
            <a:ext cx="5029200" cy="457200"/>
          </a:xfrm>
          <a:prstGeom prst="roundRect">
            <a:avLst>
              <a:gd name="adj" fmla="val 24000"/>
            </a:avLst>
          </a:prstGeom>
          <a:solidFill>
            <a:srgbClr val="18142B"/>
          </a:solidFill>
          <a:ln w="12700">
            <a:solidFill>
              <a:srgbClr val="8B5CF6"/>
            </a:solidFill>
            <a:prstDash val="solid"/>
          </a:ln>
          <a:effectLst>
            <a:outerShdw sx="100000" sy="100000" kx="0" ky="0" algn="bl" rotWithShape="0" blurRad="177800" dist="50800" dir="16200000">
              <a:srgbClr val="8B5CF6">
                <a:alpha val="28000"/>
              </a:srgbClr>
            </a:outerShdw>
          </a:effectLst>
        </p:spPr>
      </p:sp>
      <p:sp>
        <p:nvSpPr>
          <p:cNvPr id="17" name="Text 14"/>
          <p:cNvSpPr txBox="1"/>
          <p:nvPr/>
        </p:nvSpPr>
        <p:spPr>
          <a:xfrm>
            <a:off x="6766560" y="3575304"/>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Structured bill information</a:t>
            </a:r>
            <a:endParaRPr lang="en-US" sz="1400" dirty="0"/>
          </a:p>
        </p:txBody>
      </p:sp>
      <p:sp>
        <p:nvSpPr>
          <p:cNvPr id="18" name="card"/>
          <p:cNvSpPr/>
          <p:nvPr/>
        </p:nvSpPr>
        <p:spPr>
          <a:xfrm>
            <a:off x="548640" y="4133088"/>
            <a:ext cx="5029200" cy="457200"/>
          </a:xfrm>
          <a:prstGeom prst="roundRect">
            <a:avLst>
              <a:gd name="adj" fmla="val 24000"/>
            </a:avLst>
          </a:prstGeom>
          <a:solidFill>
            <a:srgbClr val="1A1218"/>
          </a:solidFill>
          <a:ln w="12700">
            <a:solidFill>
              <a:srgbClr val="4A2530"/>
            </a:solidFill>
            <a:prstDash val="solid"/>
          </a:ln>
        </p:spPr>
      </p:sp>
      <p:sp>
        <p:nvSpPr>
          <p:cNvPr id="19" name="Text 16"/>
          <p:cNvSpPr txBox="1"/>
          <p:nvPr/>
        </p:nvSpPr>
        <p:spPr>
          <a:xfrm>
            <a:off x="731520" y="4133088"/>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Manual calculations cause errors</a:t>
            </a:r>
            <a:endParaRPr lang="en-US" sz="1400" dirty="0"/>
          </a:p>
        </p:txBody>
      </p:sp>
      <p:sp>
        <p:nvSpPr>
          <p:cNvPr id="20" name="Text 17"/>
          <p:cNvSpPr txBox="1"/>
          <p:nvPr/>
        </p:nvSpPr>
        <p:spPr>
          <a:xfrm>
            <a:off x="5669280" y="4133088"/>
            <a:ext cx="822960" cy="457200"/>
          </a:xfrm>
          <a:prstGeom prst="rect">
            <a:avLst/>
          </a:prstGeom>
          <a:noFill/>
          <a:ln/>
        </p:spPr>
        <p:txBody>
          <a:bodyPr wrap="square" lIns="0" tIns="0" rIns="0" bIns="0" rtlCol="0" anchor="ctr"/>
          <a:lstStyle/>
          <a:p>
            <a:pPr algn="ctr" indent="0" marL="0">
              <a:buNone/>
            </a:pPr>
            <a:r>
              <a:rPr lang="en-US" sz="2400" b="1" dirty="0">
                <a:solidFill>
                  <a:srgbClr val="EC4899"/>
                </a:solidFill>
                <a:latin typeface="Calibri" pitchFamily="34" charset="0"/>
                <a:ea typeface="Calibri" pitchFamily="34" charset="-122"/>
                <a:cs typeface="Calibri" pitchFamily="34" charset="-120"/>
              </a:rPr>
              <a:t>→</a:t>
            </a:r>
            <a:endParaRPr lang="en-US" sz="2400" dirty="0"/>
          </a:p>
        </p:txBody>
      </p:sp>
      <p:sp>
        <p:nvSpPr>
          <p:cNvPr id="21" name="card"/>
          <p:cNvSpPr/>
          <p:nvPr/>
        </p:nvSpPr>
        <p:spPr>
          <a:xfrm>
            <a:off x="6583680" y="4133088"/>
            <a:ext cx="5029200" cy="457200"/>
          </a:xfrm>
          <a:prstGeom prst="roundRect">
            <a:avLst>
              <a:gd name="adj" fmla="val 24000"/>
            </a:avLst>
          </a:prstGeom>
          <a:solidFill>
            <a:srgbClr val="18142B"/>
          </a:solidFill>
          <a:ln w="12700">
            <a:solidFill>
              <a:srgbClr val="8B5CF6"/>
            </a:solidFill>
            <a:prstDash val="solid"/>
          </a:ln>
          <a:effectLst>
            <a:outerShdw sx="100000" sy="100000" kx="0" ky="0" algn="bl" rotWithShape="0" blurRad="177800" dist="50800" dir="16200000">
              <a:srgbClr val="8B5CF6">
                <a:alpha val="28000"/>
              </a:srgbClr>
            </a:outerShdw>
          </a:effectLst>
        </p:spPr>
      </p:sp>
      <p:sp>
        <p:nvSpPr>
          <p:cNvPr id="22" name="Text 19"/>
          <p:cNvSpPr txBox="1"/>
          <p:nvPr/>
        </p:nvSpPr>
        <p:spPr>
          <a:xfrm>
            <a:off x="6766560" y="4133088"/>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Python-based bill verification</a:t>
            </a:r>
            <a:endParaRPr lang="en-US" sz="1400" dirty="0"/>
          </a:p>
        </p:txBody>
      </p:sp>
      <p:sp>
        <p:nvSpPr>
          <p:cNvPr id="23" name="card"/>
          <p:cNvSpPr/>
          <p:nvPr/>
        </p:nvSpPr>
        <p:spPr>
          <a:xfrm>
            <a:off x="548640" y="4690872"/>
            <a:ext cx="5029200" cy="457200"/>
          </a:xfrm>
          <a:prstGeom prst="roundRect">
            <a:avLst>
              <a:gd name="adj" fmla="val 24000"/>
            </a:avLst>
          </a:prstGeom>
          <a:solidFill>
            <a:srgbClr val="1A1218"/>
          </a:solidFill>
          <a:ln w="12700">
            <a:solidFill>
              <a:srgbClr val="4A2530"/>
            </a:solidFill>
            <a:prstDash val="solid"/>
          </a:ln>
        </p:spPr>
      </p:sp>
      <p:sp>
        <p:nvSpPr>
          <p:cNvPr id="24" name="Text 21"/>
          <p:cNvSpPr txBox="1"/>
          <p:nvPr/>
        </p:nvSpPr>
        <p:spPr>
          <a:xfrm>
            <a:off x="731520" y="4690872"/>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Splitting among people is inconvenient</a:t>
            </a:r>
            <a:endParaRPr lang="en-US" sz="1400" dirty="0"/>
          </a:p>
        </p:txBody>
      </p:sp>
      <p:sp>
        <p:nvSpPr>
          <p:cNvPr id="25" name="Text 22"/>
          <p:cNvSpPr txBox="1"/>
          <p:nvPr/>
        </p:nvSpPr>
        <p:spPr>
          <a:xfrm>
            <a:off x="5669280" y="4690872"/>
            <a:ext cx="822960" cy="457200"/>
          </a:xfrm>
          <a:prstGeom prst="rect">
            <a:avLst/>
          </a:prstGeom>
          <a:noFill/>
          <a:ln/>
        </p:spPr>
        <p:txBody>
          <a:bodyPr wrap="square" lIns="0" tIns="0" rIns="0" bIns="0" rtlCol="0" anchor="ctr"/>
          <a:lstStyle/>
          <a:p>
            <a:pPr algn="ctr" indent="0" marL="0">
              <a:buNone/>
            </a:pPr>
            <a:r>
              <a:rPr lang="en-US" sz="2400" b="1" dirty="0">
                <a:solidFill>
                  <a:srgbClr val="EC4899"/>
                </a:solidFill>
                <a:latin typeface="Calibri" pitchFamily="34" charset="0"/>
                <a:ea typeface="Calibri" pitchFamily="34" charset="-122"/>
                <a:cs typeface="Calibri" pitchFamily="34" charset="-120"/>
              </a:rPr>
              <a:t>→</a:t>
            </a:r>
            <a:endParaRPr lang="en-US" sz="2400" dirty="0"/>
          </a:p>
        </p:txBody>
      </p:sp>
      <p:sp>
        <p:nvSpPr>
          <p:cNvPr id="26" name="card"/>
          <p:cNvSpPr/>
          <p:nvPr/>
        </p:nvSpPr>
        <p:spPr>
          <a:xfrm>
            <a:off x="6583680" y="4690872"/>
            <a:ext cx="5029200" cy="457200"/>
          </a:xfrm>
          <a:prstGeom prst="roundRect">
            <a:avLst>
              <a:gd name="adj" fmla="val 24000"/>
            </a:avLst>
          </a:prstGeom>
          <a:solidFill>
            <a:srgbClr val="18142B"/>
          </a:solidFill>
          <a:ln w="12700">
            <a:solidFill>
              <a:srgbClr val="8B5CF6"/>
            </a:solidFill>
            <a:prstDash val="solid"/>
          </a:ln>
          <a:effectLst>
            <a:outerShdw sx="100000" sy="100000" kx="0" ky="0" algn="bl" rotWithShape="0" blurRad="177800" dist="50800" dir="16200000">
              <a:srgbClr val="8B5CF6">
                <a:alpha val="28000"/>
              </a:srgbClr>
            </a:outerShdw>
          </a:effectLst>
        </p:spPr>
      </p:sp>
      <p:sp>
        <p:nvSpPr>
          <p:cNvPr id="27" name="Text 24"/>
          <p:cNvSpPr txBox="1"/>
          <p:nvPr/>
        </p:nvSpPr>
        <p:spPr>
          <a:xfrm>
            <a:off x="6766560" y="4690872"/>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Equal and item-based splitting</a:t>
            </a:r>
            <a:endParaRPr lang="en-US" sz="1400" dirty="0"/>
          </a:p>
        </p:txBody>
      </p:sp>
      <p:sp>
        <p:nvSpPr>
          <p:cNvPr id="28" name="card"/>
          <p:cNvSpPr/>
          <p:nvPr/>
        </p:nvSpPr>
        <p:spPr>
          <a:xfrm>
            <a:off x="548640" y="5248656"/>
            <a:ext cx="5029200" cy="457200"/>
          </a:xfrm>
          <a:prstGeom prst="roundRect">
            <a:avLst>
              <a:gd name="adj" fmla="val 24000"/>
            </a:avLst>
          </a:prstGeom>
          <a:solidFill>
            <a:srgbClr val="1A1218"/>
          </a:solidFill>
          <a:ln w="12700">
            <a:solidFill>
              <a:srgbClr val="4A2530"/>
            </a:solidFill>
            <a:prstDash val="solid"/>
          </a:ln>
        </p:spPr>
      </p:sp>
      <p:sp>
        <p:nvSpPr>
          <p:cNvPr id="29" name="Text 26"/>
          <p:cNvSpPr txBox="1"/>
          <p:nvPr/>
        </p:nvSpPr>
        <p:spPr>
          <a:xfrm>
            <a:off x="731520" y="5248656"/>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Individual shares get confusing</a:t>
            </a:r>
            <a:endParaRPr lang="en-US" sz="1400" dirty="0"/>
          </a:p>
        </p:txBody>
      </p:sp>
      <p:sp>
        <p:nvSpPr>
          <p:cNvPr id="30" name="Text 27"/>
          <p:cNvSpPr txBox="1"/>
          <p:nvPr/>
        </p:nvSpPr>
        <p:spPr>
          <a:xfrm>
            <a:off x="5669280" y="5248656"/>
            <a:ext cx="822960" cy="457200"/>
          </a:xfrm>
          <a:prstGeom prst="rect">
            <a:avLst/>
          </a:prstGeom>
          <a:noFill/>
          <a:ln/>
        </p:spPr>
        <p:txBody>
          <a:bodyPr wrap="square" lIns="0" tIns="0" rIns="0" bIns="0" rtlCol="0" anchor="ctr"/>
          <a:lstStyle/>
          <a:p>
            <a:pPr algn="ctr" indent="0" marL="0">
              <a:buNone/>
            </a:pPr>
            <a:r>
              <a:rPr lang="en-US" sz="2400" b="1" dirty="0">
                <a:solidFill>
                  <a:srgbClr val="EC4899"/>
                </a:solidFill>
                <a:latin typeface="Calibri" pitchFamily="34" charset="0"/>
                <a:ea typeface="Calibri" pitchFamily="34" charset="-122"/>
                <a:cs typeface="Calibri" pitchFamily="34" charset="-120"/>
              </a:rPr>
              <a:t>→</a:t>
            </a:r>
            <a:endParaRPr lang="en-US" sz="2400" dirty="0"/>
          </a:p>
        </p:txBody>
      </p:sp>
      <p:sp>
        <p:nvSpPr>
          <p:cNvPr id="31" name="card"/>
          <p:cNvSpPr/>
          <p:nvPr/>
        </p:nvSpPr>
        <p:spPr>
          <a:xfrm>
            <a:off x="6583680" y="5248656"/>
            <a:ext cx="5029200" cy="457200"/>
          </a:xfrm>
          <a:prstGeom prst="roundRect">
            <a:avLst>
              <a:gd name="adj" fmla="val 24000"/>
            </a:avLst>
          </a:prstGeom>
          <a:solidFill>
            <a:srgbClr val="18142B"/>
          </a:solidFill>
          <a:ln w="12700">
            <a:solidFill>
              <a:srgbClr val="8B5CF6"/>
            </a:solidFill>
            <a:prstDash val="solid"/>
          </a:ln>
          <a:effectLst>
            <a:outerShdw sx="100000" sy="100000" kx="0" ky="0" algn="bl" rotWithShape="0" blurRad="177800" dist="50800" dir="16200000">
              <a:srgbClr val="8B5CF6">
                <a:alpha val="28000"/>
              </a:srgbClr>
            </a:outerShdw>
          </a:effectLst>
        </p:spPr>
      </p:sp>
      <p:sp>
        <p:nvSpPr>
          <p:cNvPr id="32" name="Text 29"/>
          <p:cNvSpPr txBox="1"/>
          <p:nvPr/>
        </p:nvSpPr>
        <p:spPr>
          <a:xfrm>
            <a:off x="6766560" y="5248656"/>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Per-person share calculation</a:t>
            </a:r>
            <a:endParaRPr lang="en-US" sz="1400" dirty="0"/>
          </a:p>
        </p:txBody>
      </p:sp>
      <p:sp>
        <p:nvSpPr>
          <p:cNvPr id="33" name="card"/>
          <p:cNvSpPr/>
          <p:nvPr/>
        </p:nvSpPr>
        <p:spPr>
          <a:xfrm>
            <a:off x="548640" y="5806440"/>
            <a:ext cx="5029200" cy="457200"/>
          </a:xfrm>
          <a:prstGeom prst="roundRect">
            <a:avLst>
              <a:gd name="adj" fmla="val 24000"/>
            </a:avLst>
          </a:prstGeom>
          <a:solidFill>
            <a:srgbClr val="1A1218"/>
          </a:solidFill>
          <a:ln w="12700">
            <a:solidFill>
              <a:srgbClr val="4A2530"/>
            </a:solidFill>
            <a:prstDash val="solid"/>
          </a:ln>
        </p:spPr>
      </p:sp>
      <p:sp>
        <p:nvSpPr>
          <p:cNvPr id="34" name="Text 31"/>
          <p:cNvSpPr txBox="1"/>
          <p:nvPr/>
        </p:nvSpPr>
        <p:spPr>
          <a:xfrm>
            <a:off x="731520" y="5806440"/>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Sharing summaries takes extra effort</a:t>
            </a:r>
            <a:endParaRPr lang="en-US" sz="1400" dirty="0"/>
          </a:p>
        </p:txBody>
      </p:sp>
      <p:sp>
        <p:nvSpPr>
          <p:cNvPr id="35" name="Text 32"/>
          <p:cNvSpPr txBox="1"/>
          <p:nvPr/>
        </p:nvSpPr>
        <p:spPr>
          <a:xfrm>
            <a:off x="5669280" y="5806440"/>
            <a:ext cx="822960" cy="457200"/>
          </a:xfrm>
          <a:prstGeom prst="rect">
            <a:avLst/>
          </a:prstGeom>
          <a:noFill/>
          <a:ln/>
        </p:spPr>
        <p:txBody>
          <a:bodyPr wrap="square" lIns="0" tIns="0" rIns="0" bIns="0" rtlCol="0" anchor="ctr"/>
          <a:lstStyle/>
          <a:p>
            <a:pPr algn="ctr" indent="0" marL="0">
              <a:buNone/>
            </a:pPr>
            <a:r>
              <a:rPr lang="en-US" sz="2400" b="1" dirty="0">
                <a:solidFill>
                  <a:srgbClr val="EC4899"/>
                </a:solidFill>
                <a:latin typeface="Calibri" pitchFamily="34" charset="0"/>
                <a:ea typeface="Calibri" pitchFamily="34" charset="-122"/>
                <a:cs typeface="Calibri" pitchFamily="34" charset="-120"/>
              </a:rPr>
              <a:t>→</a:t>
            </a:r>
            <a:endParaRPr lang="en-US" sz="2400" dirty="0"/>
          </a:p>
        </p:txBody>
      </p:sp>
      <p:sp>
        <p:nvSpPr>
          <p:cNvPr id="36" name="card"/>
          <p:cNvSpPr/>
          <p:nvPr/>
        </p:nvSpPr>
        <p:spPr>
          <a:xfrm>
            <a:off x="6583680" y="5806440"/>
            <a:ext cx="5029200" cy="457200"/>
          </a:xfrm>
          <a:prstGeom prst="roundRect">
            <a:avLst>
              <a:gd name="adj" fmla="val 24000"/>
            </a:avLst>
          </a:prstGeom>
          <a:solidFill>
            <a:srgbClr val="18142B"/>
          </a:solidFill>
          <a:ln w="12700">
            <a:solidFill>
              <a:srgbClr val="8B5CF6"/>
            </a:solidFill>
            <a:prstDash val="solid"/>
          </a:ln>
          <a:effectLst>
            <a:outerShdw sx="100000" sy="100000" kx="0" ky="0" algn="bl" rotWithShape="0" blurRad="177800" dist="50800" dir="16200000">
              <a:srgbClr val="8B5CF6">
                <a:alpha val="28000"/>
              </a:srgbClr>
            </a:outerShdw>
          </a:effectLst>
        </p:spPr>
      </p:sp>
      <p:sp>
        <p:nvSpPr>
          <p:cNvPr id="37" name="Text 34"/>
          <p:cNvSpPr txBox="1"/>
          <p:nvPr/>
        </p:nvSpPr>
        <p:spPr>
          <a:xfrm>
            <a:off x="6766560" y="5806440"/>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Email / WhatsApp sharing</a:t>
            </a:r>
            <a:endParaRPr lang="en-US" sz="14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899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rgbClr val="F5F7FB"/>
                </a:solidFill>
                <a:latin typeface="Calibri" pitchFamily="34" charset="0"/>
                <a:ea typeface="Calibri" pitchFamily="34" charset="-122"/>
                <a:cs typeface="Calibri" pitchFamily="34" charset="-120"/>
              </a:rPr>
              <a:t>Objectives &amp; Proposed Solution</a:t>
            </a:r>
            <a:endParaRPr lang="en-US" sz="3600" dirty="0"/>
          </a:p>
        </p:txBody>
      </p:sp>
      <p:sp>
        <p:nvSpPr>
          <p:cNvPr id="4" name="card"/>
          <p:cNvSpPr/>
          <p:nvPr/>
        </p:nvSpPr>
        <p:spPr>
          <a:xfrm>
            <a:off x="548640" y="1325880"/>
            <a:ext cx="5440680" cy="457200"/>
          </a:xfrm>
          <a:prstGeom prst="roundRect">
            <a:avLst>
              <a:gd name="adj" fmla="val 24000"/>
            </a:avLst>
          </a:prstGeom>
          <a:solidFill>
            <a:srgbClr val="11151F"/>
          </a:solidFill>
          <a:ln w="12700">
            <a:solidFill>
              <a:srgbClr val="2B3240"/>
            </a:solidFill>
            <a:prstDash val="solid"/>
          </a:ln>
        </p:spPr>
      </p:sp>
      <p:pic>
        <p:nvPicPr>
          <p:cNvPr id="5" name="check" descr="preencoded.png">    </p:cNvPr>
          <p:cNvPicPr>
            <a:picLocks noChangeAspect="1"/>
          </p:cNvPicPr>
          <p:nvPr/>
        </p:nvPicPr>
        <p:blipFill>
          <a:blip r:embed="rId1"/>
          <a:stretch>
            <a:fillRect/>
          </a:stretch>
        </p:blipFill>
        <p:spPr>
          <a:xfrm>
            <a:off x="713232" y="1444752"/>
            <a:ext cx="219456" cy="219456"/>
          </a:xfrm>
          <a:prstGeom prst="rect">
            <a:avLst/>
          </a:prstGeom>
        </p:spPr>
      </p:pic>
      <p:sp>
        <p:nvSpPr>
          <p:cNvPr id="6" name="Text 2"/>
          <p:cNvSpPr txBox="1"/>
          <p:nvPr/>
        </p:nvSpPr>
        <p:spPr>
          <a:xfrm>
            <a:off x="1097280" y="1325880"/>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Analyze receipt images automatically</a:t>
            </a:r>
            <a:endParaRPr lang="en-US" sz="1400" dirty="0"/>
          </a:p>
        </p:txBody>
      </p:sp>
      <p:sp>
        <p:nvSpPr>
          <p:cNvPr id="7" name="card"/>
          <p:cNvSpPr/>
          <p:nvPr/>
        </p:nvSpPr>
        <p:spPr>
          <a:xfrm>
            <a:off x="6172200" y="1325880"/>
            <a:ext cx="5440680" cy="457200"/>
          </a:xfrm>
          <a:prstGeom prst="roundRect">
            <a:avLst>
              <a:gd name="adj" fmla="val 24000"/>
            </a:avLst>
          </a:prstGeom>
          <a:solidFill>
            <a:srgbClr val="11151F"/>
          </a:solidFill>
          <a:ln w="12700">
            <a:solidFill>
              <a:srgbClr val="2B3240"/>
            </a:solidFill>
            <a:prstDash val="solid"/>
          </a:ln>
        </p:spPr>
      </p:sp>
      <p:pic>
        <p:nvPicPr>
          <p:cNvPr id="8" name="check" descr="preencoded.png">    </p:cNvPr>
          <p:cNvPicPr>
            <a:picLocks noChangeAspect="1"/>
          </p:cNvPicPr>
          <p:nvPr/>
        </p:nvPicPr>
        <p:blipFill>
          <a:blip r:embed="rId2"/>
          <a:stretch>
            <a:fillRect/>
          </a:stretch>
        </p:blipFill>
        <p:spPr>
          <a:xfrm>
            <a:off x="6336792" y="1444752"/>
            <a:ext cx="219456" cy="219456"/>
          </a:xfrm>
          <a:prstGeom prst="rect">
            <a:avLst/>
          </a:prstGeom>
        </p:spPr>
      </p:pic>
      <p:sp>
        <p:nvSpPr>
          <p:cNvPr id="9" name="Text 4"/>
          <p:cNvSpPr txBox="1"/>
          <p:nvPr/>
        </p:nvSpPr>
        <p:spPr>
          <a:xfrm>
            <a:off x="6720840" y="1325880"/>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Extract structured bill information</a:t>
            </a:r>
            <a:endParaRPr lang="en-US" sz="1400" dirty="0"/>
          </a:p>
        </p:txBody>
      </p:sp>
      <p:sp>
        <p:nvSpPr>
          <p:cNvPr id="10" name="card"/>
          <p:cNvSpPr/>
          <p:nvPr/>
        </p:nvSpPr>
        <p:spPr>
          <a:xfrm>
            <a:off x="548640" y="1892808"/>
            <a:ext cx="5440680" cy="457200"/>
          </a:xfrm>
          <a:prstGeom prst="roundRect">
            <a:avLst>
              <a:gd name="adj" fmla="val 24000"/>
            </a:avLst>
          </a:prstGeom>
          <a:solidFill>
            <a:srgbClr val="11151F"/>
          </a:solidFill>
          <a:ln w="12700">
            <a:solidFill>
              <a:srgbClr val="2B3240"/>
            </a:solidFill>
            <a:prstDash val="solid"/>
          </a:ln>
        </p:spPr>
      </p:sp>
      <p:pic>
        <p:nvPicPr>
          <p:cNvPr id="11" name="check" descr="preencoded.png">    </p:cNvPr>
          <p:cNvPicPr>
            <a:picLocks noChangeAspect="1"/>
          </p:cNvPicPr>
          <p:nvPr/>
        </p:nvPicPr>
        <p:blipFill>
          <a:blip r:embed="rId3"/>
          <a:stretch>
            <a:fillRect/>
          </a:stretch>
        </p:blipFill>
        <p:spPr>
          <a:xfrm>
            <a:off x="713232" y="2011680"/>
            <a:ext cx="219456" cy="219456"/>
          </a:xfrm>
          <a:prstGeom prst="rect">
            <a:avLst/>
          </a:prstGeom>
        </p:spPr>
      </p:pic>
      <p:sp>
        <p:nvSpPr>
          <p:cNvPr id="12" name="Text 6"/>
          <p:cNvSpPr txBox="1"/>
          <p:nvPr/>
        </p:nvSpPr>
        <p:spPr>
          <a:xfrm>
            <a:off x="1097280" y="1892808"/>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Verify bill calculations</a:t>
            </a:r>
            <a:endParaRPr lang="en-US" sz="1400" dirty="0"/>
          </a:p>
        </p:txBody>
      </p:sp>
      <p:sp>
        <p:nvSpPr>
          <p:cNvPr id="13" name="card"/>
          <p:cNvSpPr/>
          <p:nvPr/>
        </p:nvSpPr>
        <p:spPr>
          <a:xfrm>
            <a:off x="6172200" y="1892808"/>
            <a:ext cx="5440680" cy="457200"/>
          </a:xfrm>
          <a:prstGeom prst="roundRect">
            <a:avLst>
              <a:gd name="adj" fmla="val 24000"/>
            </a:avLst>
          </a:prstGeom>
          <a:solidFill>
            <a:srgbClr val="11151F"/>
          </a:solidFill>
          <a:ln w="12700">
            <a:solidFill>
              <a:srgbClr val="2B3240"/>
            </a:solidFill>
            <a:prstDash val="solid"/>
          </a:ln>
        </p:spPr>
      </p:sp>
      <p:pic>
        <p:nvPicPr>
          <p:cNvPr id="14" name="check" descr="preencoded.png">    </p:cNvPr>
          <p:cNvPicPr>
            <a:picLocks noChangeAspect="1"/>
          </p:cNvPicPr>
          <p:nvPr/>
        </p:nvPicPr>
        <p:blipFill>
          <a:blip r:embed="rId4"/>
          <a:stretch>
            <a:fillRect/>
          </a:stretch>
        </p:blipFill>
        <p:spPr>
          <a:xfrm>
            <a:off x="6336792" y="2011680"/>
            <a:ext cx="219456" cy="219456"/>
          </a:xfrm>
          <a:prstGeom prst="rect">
            <a:avLst/>
          </a:prstGeom>
        </p:spPr>
      </p:pic>
      <p:sp>
        <p:nvSpPr>
          <p:cNvPr id="15" name="Text 8"/>
          <p:cNvSpPr txBox="1"/>
          <p:nvPr/>
        </p:nvSpPr>
        <p:spPr>
          <a:xfrm>
            <a:off x="6720840" y="1892808"/>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Simplify expense splitting</a:t>
            </a:r>
            <a:endParaRPr lang="en-US" sz="1400" dirty="0"/>
          </a:p>
        </p:txBody>
      </p:sp>
      <p:sp>
        <p:nvSpPr>
          <p:cNvPr id="16" name="card"/>
          <p:cNvSpPr/>
          <p:nvPr/>
        </p:nvSpPr>
        <p:spPr>
          <a:xfrm>
            <a:off x="548640" y="2459736"/>
            <a:ext cx="5440680" cy="457200"/>
          </a:xfrm>
          <a:prstGeom prst="roundRect">
            <a:avLst>
              <a:gd name="adj" fmla="val 24000"/>
            </a:avLst>
          </a:prstGeom>
          <a:solidFill>
            <a:srgbClr val="11151F"/>
          </a:solidFill>
          <a:ln w="12700">
            <a:solidFill>
              <a:srgbClr val="2B3240"/>
            </a:solidFill>
            <a:prstDash val="solid"/>
          </a:ln>
        </p:spPr>
      </p:sp>
      <p:pic>
        <p:nvPicPr>
          <p:cNvPr id="17" name="check" descr="preencoded.png">    </p:cNvPr>
          <p:cNvPicPr>
            <a:picLocks noChangeAspect="1"/>
          </p:cNvPicPr>
          <p:nvPr/>
        </p:nvPicPr>
        <p:blipFill>
          <a:blip r:embed="rId5"/>
          <a:stretch>
            <a:fillRect/>
          </a:stretch>
        </p:blipFill>
        <p:spPr>
          <a:xfrm>
            <a:off x="713232" y="2578608"/>
            <a:ext cx="219456" cy="219456"/>
          </a:xfrm>
          <a:prstGeom prst="rect">
            <a:avLst/>
          </a:prstGeom>
        </p:spPr>
      </p:pic>
      <p:sp>
        <p:nvSpPr>
          <p:cNvPr id="18" name="Text 10"/>
          <p:cNvSpPr txBox="1"/>
          <p:nvPr/>
        </p:nvSpPr>
        <p:spPr>
          <a:xfrm>
            <a:off x="1097280" y="2459736"/>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Calculate individual participant shares</a:t>
            </a:r>
            <a:endParaRPr lang="en-US" sz="1400" dirty="0"/>
          </a:p>
        </p:txBody>
      </p:sp>
      <p:sp>
        <p:nvSpPr>
          <p:cNvPr id="19" name="card"/>
          <p:cNvSpPr/>
          <p:nvPr/>
        </p:nvSpPr>
        <p:spPr>
          <a:xfrm>
            <a:off x="6172200" y="2459736"/>
            <a:ext cx="5440680" cy="457200"/>
          </a:xfrm>
          <a:prstGeom prst="roundRect">
            <a:avLst>
              <a:gd name="adj" fmla="val 24000"/>
            </a:avLst>
          </a:prstGeom>
          <a:solidFill>
            <a:srgbClr val="11151F"/>
          </a:solidFill>
          <a:ln w="12700">
            <a:solidFill>
              <a:srgbClr val="2B3240"/>
            </a:solidFill>
            <a:prstDash val="solid"/>
          </a:ln>
        </p:spPr>
      </p:sp>
      <p:pic>
        <p:nvPicPr>
          <p:cNvPr id="20" name="check" descr="preencoded.png">    </p:cNvPr>
          <p:cNvPicPr>
            <a:picLocks noChangeAspect="1"/>
          </p:cNvPicPr>
          <p:nvPr/>
        </p:nvPicPr>
        <p:blipFill>
          <a:blip r:embed="rId6"/>
          <a:stretch>
            <a:fillRect/>
          </a:stretch>
        </p:blipFill>
        <p:spPr>
          <a:xfrm>
            <a:off x="6336792" y="2578608"/>
            <a:ext cx="219456" cy="219456"/>
          </a:xfrm>
          <a:prstGeom prst="rect">
            <a:avLst/>
          </a:prstGeom>
        </p:spPr>
      </p:pic>
      <p:sp>
        <p:nvSpPr>
          <p:cNvPr id="21" name="Text 12"/>
          <p:cNvSpPr txBox="1"/>
          <p:nvPr/>
        </p:nvSpPr>
        <p:spPr>
          <a:xfrm>
            <a:off x="6720840" y="2459736"/>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Provide AI-based receipt assistance</a:t>
            </a:r>
            <a:endParaRPr lang="en-US" sz="1400" dirty="0"/>
          </a:p>
        </p:txBody>
      </p:sp>
      <p:sp>
        <p:nvSpPr>
          <p:cNvPr id="22" name="card"/>
          <p:cNvSpPr/>
          <p:nvPr/>
        </p:nvSpPr>
        <p:spPr>
          <a:xfrm>
            <a:off x="548640" y="3026664"/>
            <a:ext cx="5440680" cy="457200"/>
          </a:xfrm>
          <a:prstGeom prst="roundRect">
            <a:avLst>
              <a:gd name="adj" fmla="val 24000"/>
            </a:avLst>
          </a:prstGeom>
          <a:solidFill>
            <a:srgbClr val="11151F"/>
          </a:solidFill>
          <a:ln w="12700">
            <a:solidFill>
              <a:srgbClr val="2B3240"/>
            </a:solidFill>
            <a:prstDash val="solid"/>
          </a:ln>
        </p:spPr>
      </p:sp>
      <p:pic>
        <p:nvPicPr>
          <p:cNvPr id="23" name="check" descr="preencoded.png">    </p:cNvPr>
          <p:cNvPicPr>
            <a:picLocks noChangeAspect="1"/>
          </p:cNvPicPr>
          <p:nvPr/>
        </p:nvPicPr>
        <p:blipFill>
          <a:blip r:embed="rId7"/>
          <a:stretch>
            <a:fillRect/>
          </a:stretch>
        </p:blipFill>
        <p:spPr>
          <a:xfrm>
            <a:off x="713232" y="3145536"/>
            <a:ext cx="219456" cy="219456"/>
          </a:xfrm>
          <a:prstGeom prst="rect">
            <a:avLst/>
          </a:prstGeom>
        </p:spPr>
      </p:pic>
      <p:sp>
        <p:nvSpPr>
          <p:cNvPr id="24" name="Text 14"/>
          <p:cNvSpPr txBox="1"/>
          <p:nvPr/>
        </p:nvSpPr>
        <p:spPr>
          <a:xfrm>
            <a:off x="1097280" y="3026664"/>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Generate expense summaries</a:t>
            </a:r>
            <a:endParaRPr lang="en-US" sz="1400" dirty="0"/>
          </a:p>
        </p:txBody>
      </p:sp>
      <p:sp>
        <p:nvSpPr>
          <p:cNvPr id="25" name="card"/>
          <p:cNvSpPr/>
          <p:nvPr/>
        </p:nvSpPr>
        <p:spPr>
          <a:xfrm>
            <a:off x="6172200" y="3026664"/>
            <a:ext cx="5440680" cy="457200"/>
          </a:xfrm>
          <a:prstGeom prst="roundRect">
            <a:avLst>
              <a:gd name="adj" fmla="val 24000"/>
            </a:avLst>
          </a:prstGeom>
          <a:solidFill>
            <a:srgbClr val="11151F"/>
          </a:solidFill>
          <a:ln w="12700">
            <a:solidFill>
              <a:srgbClr val="2B3240"/>
            </a:solidFill>
            <a:prstDash val="solid"/>
          </a:ln>
        </p:spPr>
      </p:sp>
      <p:pic>
        <p:nvPicPr>
          <p:cNvPr id="26" name="check" descr="preencoded.png">    </p:cNvPr>
          <p:cNvPicPr>
            <a:picLocks noChangeAspect="1"/>
          </p:cNvPicPr>
          <p:nvPr/>
        </p:nvPicPr>
        <p:blipFill>
          <a:blip r:embed="rId8"/>
          <a:stretch>
            <a:fillRect/>
          </a:stretch>
        </p:blipFill>
        <p:spPr>
          <a:xfrm>
            <a:off x="6336792" y="3145536"/>
            <a:ext cx="219456" cy="219456"/>
          </a:xfrm>
          <a:prstGeom prst="rect">
            <a:avLst/>
          </a:prstGeom>
        </p:spPr>
      </p:pic>
      <p:sp>
        <p:nvSpPr>
          <p:cNvPr id="27" name="Text 16"/>
          <p:cNvSpPr txBox="1"/>
          <p:nvPr/>
        </p:nvSpPr>
        <p:spPr>
          <a:xfrm>
            <a:off x="6720840" y="3026664"/>
            <a:ext cx="4754880" cy="457200"/>
          </a:xfrm>
          <a:prstGeom prst="rect">
            <a:avLst/>
          </a:prstGeom>
          <a:noFill/>
          <a:ln/>
        </p:spPr>
        <p:txBody>
          <a:bodyPr wrap="square" lIns="0" tIns="0" rIns="0" bIns="0" rtlCol="0" anchor="ctr"/>
          <a:lstStyle/>
          <a:p>
            <a:pPr indent="0" marL="0">
              <a:buNone/>
            </a:pPr>
            <a:r>
              <a:rPr lang="en-US" sz="1400" dirty="0">
                <a:solidFill>
                  <a:srgbClr val="F5F7FB"/>
                </a:solidFill>
                <a:latin typeface="Calibri" pitchFamily="34" charset="0"/>
                <a:ea typeface="Calibri" pitchFamily="34" charset="-122"/>
                <a:cs typeface="Calibri" pitchFamily="34" charset="-120"/>
              </a:rPr>
              <a:t>Enable convenient sharing</a:t>
            </a:r>
            <a:endParaRPr lang="en-US" sz="1400" dirty="0"/>
          </a:p>
        </p:txBody>
      </p:sp>
      <p:sp>
        <p:nvSpPr>
          <p:cNvPr id="28" name="Text 17"/>
          <p:cNvSpPr txBox="1"/>
          <p:nvPr/>
        </p:nvSpPr>
        <p:spPr>
          <a:xfrm>
            <a:off x="548640" y="3794760"/>
            <a:ext cx="7315200" cy="274320"/>
          </a:xfrm>
          <a:prstGeom prst="rect">
            <a:avLst/>
          </a:prstGeom>
          <a:noFill/>
          <a:ln/>
        </p:spPr>
        <p:txBody>
          <a:bodyPr wrap="square" lIns="0" tIns="0" rIns="0" bIns="0" rtlCol="0" anchor="ctr"/>
          <a:lstStyle/>
          <a:p>
            <a:pPr indent="0" marL="0">
              <a:buNone/>
            </a:pPr>
            <a:r>
              <a:rPr lang="en-US" sz="1200" b="1" dirty="0">
                <a:solidFill>
                  <a:srgbClr val="EC4899"/>
                </a:solidFill>
                <a:latin typeface="Calibri" pitchFamily="34" charset="0"/>
                <a:ea typeface="Calibri" pitchFamily="34" charset="-122"/>
                <a:cs typeface="Calibri" pitchFamily="34" charset="-120"/>
              </a:rPr>
              <a:t>PROPOSED SOLUTION PIPELINE</a:t>
            </a:r>
            <a:endParaRPr lang="en-US" sz="1200" dirty="0"/>
          </a:p>
        </p:txBody>
      </p:sp>
      <p:sp>
        <p:nvSpPr>
          <p:cNvPr id="29" name="card"/>
          <p:cNvSpPr/>
          <p:nvPr/>
        </p:nvSpPr>
        <p:spPr>
          <a:xfrm>
            <a:off x="548640" y="4160520"/>
            <a:ext cx="1188720" cy="1783080"/>
          </a:xfrm>
          <a:prstGeom prst="roundRect">
            <a:avLst>
              <a:gd name="adj" fmla="val 9231"/>
            </a:avLst>
          </a:prstGeom>
          <a:solidFill>
            <a:srgbClr val="161B27"/>
          </a:solidFill>
          <a:ln w="12700">
            <a:solidFill>
              <a:srgbClr val="2B3240"/>
            </a:solidFill>
            <a:prstDash val="solid"/>
          </a:ln>
        </p:spPr>
      </p:sp>
      <p:sp>
        <p:nvSpPr>
          <p:cNvPr id="30" name="Text 19"/>
          <p:cNvSpPr txBox="1"/>
          <p:nvPr/>
        </p:nvSpPr>
        <p:spPr>
          <a:xfrm>
            <a:off x="548640" y="4224528"/>
            <a:ext cx="1188720" cy="228600"/>
          </a:xfrm>
          <a:prstGeom prst="rect">
            <a:avLst/>
          </a:prstGeom>
          <a:noFill/>
          <a:ln/>
        </p:spPr>
        <p:txBody>
          <a:bodyPr wrap="square" lIns="0" tIns="0" rIns="0" bIns="0" rtlCol="0" anchor="ctr"/>
          <a:lstStyle/>
          <a:p>
            <a:pPr algn="ctr" indent="0" marL="0">
              <a:buNone/>
            </a:pPr>
            <a:r>
              <a:rPr lang="en-US" sz="1100" b="1" dirty="0">
                <a:solidFill>
                  <a:srgbClr val="EC4899"/>
                </a:solidFill>
                <a:latin typeface="Calibri" pitchFamily="34" charset="0"/>
                <a:ea typeface="Calibri" pitchFamily="34" charset="-122"/>
                <a:cs typeface="Calibri" pitchFamily="34" charset="-120"/>
              </a:rPr>
              <a:t>1</a:t>
            </a:r>
            <a:endParaRPr lang="en-US" sz="1100" dirty="0"/>
          </a:p>
        </p:txBody>
      </p:sp>
      <p:sp>
        <p:nvSpPr>
          <p:cNvPr id="31" name="icon-circle"/>
          <p:cNvSpPr/>
          <p:nvPr/>
        </p:nvSpPr>
        <p:spPr>
          <a:xfrm>
            <a:off x="868680" y="4526280"/>
            <a:ext cx="548640" cy="548640"/>
          </a:xfrm>
          <a:prstGeom prst="ellipse">
            <a:avLst/>
          </a:prstGeom>
          <a:solidFill>
            <a:srgbClr val="241C45"/>
          </a:solidFill>
          <a:ln w="12700">
            <a:solidFill>
              <a:srgbClr val="8B5CF6"/>
            </a:solidFill>
            <a:prstDash val="solid"/>
          </a:ln>
        </p:spPr>
      </p:sp>
      <p:pic>
        <p:nvPicPr>
          <p:cNvPr id="32" name="icon" descr="preencoded.png">    </p:cNvPr>
          <p:cNvPicPr>
            <a:picLocks noChangeAspect="1"/>
          </p:cNvPicPr>
          <p:nvPr/>
        </p:nvPicPr>
        <p:blipFill>
          <a:blip r:embed="rId9"/>
          <a:stretch>
            <a:fillRect/>
          </a:stretch>
        </p:blipFill>
        <p:spPr>
          <a:xfrm>
            <a:off x="1005840" y="4663440"/>
            <a:ext cx="274320" cy="274320"/>
          </a:xfrm>
          <a:prstGeom prst="rect">
            <a:avLst/>
          </a:prstGeom>
        </p:spPr>
      </p:pic>
      <p:sp>
        <p:nvSpPr>
          <p:cNvPr id="33" name="Text 21"/>
          <p:cNvSpPr txBox="1"/>
          <p:nvPr/>
        </p:nvSpPr>
        <p:spPr>
          <a:xfrm>
            <a:off x="594360" y="5212080"/>
            <a:ext cx="1097280" cy="640080"/>
          </a:xfrm>
          <a:prstGeom prst="rect">
            <a:avLst/>
          </a:prstGeom>
          <a:noFill/>
          <a:ln/>
        </p:spPr>
        <p:txBody>
          <a:bodyPr wrap="square" lIns="0" tIns="0" rIns="0" bIns="0" rtlCol="0" anchor="t"/>
          <a:lstStyle/>
          <a:p>
            <a:pPr algn="ctr" indent="0" marL="0">
              <a:buNone/>
            </a:pPr>
            <a:r>
              <a:rPr lang="en-US" sz="1200" b="1" dirty="0">
                <a:solidFill>
                  <a:srgbClr val="F5F7FB"/>
                </a:solidFill>
                <a:latin typeface="Calibri" pitchFamily="34" charset="0"/>
                <a:ea typeface="Calibri" pitchFamily="34" charset="-122"/>
                <a:cs typeface="Calibri" pitchFamily="34" charset="-120"/>
              </a:rPr>
              <a:t>Receipt Image</a:t>
            </a:r>
            <a:endParaRPr lang="en-US" sz="1200" dirty="0"/>
          </a:p>
        </p:txBody>
      </p:sp>
      <p:sp>
        <p:nvSpPr>
          <p:cNvPr id="34" name="Text 22"/>
          <p:cNvSpPr txBox="1"/>
          <p:nvPr/>
        </p:nvSpPr>
        <p:spPr>
          <a:xfrm>
            <a:off x="1737360" y="4754880"/>
            <a:ext cx="222069" cy="365760"/>
          </a:xfrm>
          <a:prstGeom prst="rect">
            <a:avLst/>
          </a:prstGeom>
          <a:noFill/>
          <a:ln/>
        </p:spPr>
        <p:txBody>
          <a:bodyPr wrap="square" lIns="0" tIns="0" rIns="0" bIns="0" rtlCol="0" anchor="ctr"/>
          <a:lstStyle/>
          <a:p>
            <a:pPr algn="ctr" indent="0" marL="0">
              <a:buNone/>
            </a:pPr>
            <a:r>
              <a:rPr lang="en-US" sz="2200" b="1" dirty="0">
                <a:solidFill>
                  <a:srgbClr val="EC4899"/>
                </a:solidFill>
                <a:latin typeface="Calibri" pitchFamily="34" charset="0"/>
                <a:ea typeface="Calibri" pitchFamily="34" charset="-122"/>
                <a:cs typeface="Calibri" pitchFamily="34" charset="-120"/>
              </a:rPr>
              <a:t>›</a:t>
            </a:r>
            <a:endParaRPr lang="en-US" sz="2200" dirty="0"/>
          </a:p>
        </p:txBody>
      </p:sp>
      <p:sp>
        <p:nvSpPr>
          <p:cNvPr id="35" name="card"/>
          <p:cNvSpPr/>
          <p:nvPr/>
        </p:nvSpPr>
        <p:spPr>
          <a:xfrm>
            <a:off x="1959429" y="4160520"/>
            <a:ext cx="1188720" cy="1783080"/>
          </a:xfrm>
          <a:prstGeom prst="roundRect">
            <a:avLst>
              <a:gd name="adj" fmla="val 9231"/>
            </a:avLst>
          </a:prstGeom>
          <a:solidFill>
            <a:srgbClr val="161B27"/>
          </a:solidFill>
          <a:ln w="12700">
            <a:solidFill>
              <a:srgbClr val="2B3240"/>
            </a:solidFill>
            <a:prstDash val="solid"/>
          </a:ln>
          <a:effectLst>
            <a:outerShdw sx="100000" sy="100000" kx="0" ky="0" algn="bl" rotWithShape="0" blurRad="177800" dist="50800" dir="16200000">
              <a:srgbClr val="8B5CF6">
                <a:alpha val="28000"/>
              </a:srgbClr>
            </a:outerShdw>
          </a:effectLst>
        </p:spPr>
      </p:sp>
      <p:sp>
        <p:nvSpPr>
          <p:cNvPr id="36" name="Text 24"/>
          <p:cNvSpPr txBox="1"/>
          <p:nvPr/>
        </p:nvSpPr>
        <p:spPr>
          <a:xfrm>
            <a:off x="1959429" y="4224528"/>
            <a:ext cx="1188720" cy="228600"/>
          </a:xfrm>
          <a:prstGeom prst="rect">
            <a:avLst/>
          </a:prstGeom>
          <a:noFill/>
          <a:ln/>
        </p:spPr>
        <p:txBody>
          <a:bodyPr wrap="square" lIns="0" tIns="0" rIns="0" bIns="0" rtlCol="0" anchor="ctr"/>
          <a:lstStyle/>
          <a:p>
            <a:pPr algn="ctr" indent="0" marL="0">
              <a:buNone/>
            </a:pPr>
            <a:r>
              <a:rPr lang="en-US" sz="1100" b="1" dirty="0">
                <a:solidFill>
                  <a:srgbClr val="EC4899"/>
                </a:solidFill>
                <a:latin typeface="Calibri" pitchFamily="34" charset="0"/>
                <a:ea typeface="Calibri" pitchFamily="34" charset="-122"/>
                <a:cs typeface="Calibri" pitchFamily="34" charset="-120"/>
              </a:rPr>
              <a:t>2</a:t>
            </a:r>
            <a:endParaRPr lang="en-US" sz="1100" dirty="0"/>
          </a:p>
        </p:txBody>
      </p:sp>
      <p:sp>
        <p:nvSpPr>
          <p:cNvPr id="37" name="icon-circle"/>
          <p:cNvSpPr/>
          <p:nvPr/>
        </p:nvSpPr>
        <p:spPr>
          <a:xfrm>
            <a:off x="2279469" y="4526280"/>
            <a:ext cx="548640" cy="548640"/>
          </a:xfrm>
          <a:prstGeom prst="ellipse">
            <a:avLst/>
          </a:prstGeom>
          <a:solidFill>
            <a:srgbClr val="241C45"/>
          </a:solidFill>
          <a:ln w="12700">
            <a:solidFill>
              <a:srgbClr val="8B5CF6"/>
            </a:solidFill>
            <a:prstDash val="solid"/>
          </a:ln>
        </p:spPr>
      </p:sp>
      <p:pic>
        <p:nvPicPr>
          <p:cNvPr id="38" name="icon" descr="preencoded.png">    </p:cNvPr>
          <p:cNvPicPr>
            <a:picLocks noChangeAspect="1"/>
          </p:cNvPicPr>
          <p:nvPr/>
        </p:nvPicPr>
        <p:blipFill>
          <a:blip r:embed="rId10"/>
          <a:stretch>
            <a:fillRect/>
          </a:stretch>
        </p:blipFill>
        <p:spPr>
          <a:xfrm>
            <a:off x="2416629" y="4663440"/>
            <a:ext cx="274320" cy="274320"/>
          </a:xfrm>
          <a:prstGeom prst="rect">
            <a:avLst/>
          </a:prstGeom>
        </p:spPr>
      </p:pic>
      <p:sp>
        <p:nvSpPr>
          <p:cNvPr id="39" name="Text 26"/>
          <p:cNvSpPr txBox="1"/>
          <p:nvPr/>
        </p:nvSpPr>
        <p:spPr>
          <a:xfrm>
            <a:off x="2005149" y="5212080"/>
            <a:ext cx="1097280" cy="640080"/>
          </a:xfrm>
          <a:prstGeom prst="rect">
            <a:avLst/>
          </a:prstGeom>
          <a:noFill/>
          <a:ln/>
        </p:spPr>
        <p:txBody>
          <a:bodyPr wrap="square" lIns="0" tIns="0" rIns="0" bIns="0" rtlCol="0" anchor="t"/>
          <a:lstStyle/>
          <a:p>
            <a:pPr algn="ctr" indent="0" marL="0">
              <a:buNone/>
            </a:pPr>
            <a:r>
              <a:rPr lang="en-US" sz="1200" b="1" dirty="0">
                <a:solidFill>
                  <a:srgbClr val="F5F7FB"/>
                </a:solidFill>
                <a:latin typeface="Calibri" pitchFamily="34" charset="0"/>
                <a:ea typeface="Calibri" pitchFamily="34" charset="-122"/>
                <a:cs typeface="Calibri" pitchFamily="34" charset="-120"/>
              </a:rPr>
              <a:t>AI Analysis</a:t>
            </a:r>
            <a:endParaRPr lang="en-US" sz="1200" dirty="0"/>
          </a:p>
        </p:txBody>
      </p:sp>
      <p:sp>
        <p:nvSpPr>
          <p:cNvPr id="40" name="Text 27"/>
          <p:cNvSpPr txBox="1"/>
          <p:nvPr/>
        </p:nvSpPr>
        <p:spPr>
          <a:xfrm>
            <a:off x="3148149" y="4754880"/>
            <a:ext cx="222069" cy="365760"/>
          </a:xfrm>
          <a:prstGeom prst="rect">
            <a:avLst/>
          </a:prstGeom>
          <a:noFill/>
          <a:ln/>
        </p:spPr>
        <p:txBody>
          <a:bodyPr wrap="square" lIns="0" tIns="0" rIns="0" bIns="0" rtlCol="0" anchor="ctr"/>
          <a:lstStyle/>
          <a:p>
            <a:pPr algn="ctr" indent="0" marL="0">
              <a:buNone/>
            </a:pPr>
            <a:r>
              <a:rPr lang="en-US" sz="2200" b="1" dirty="0">
                <a:solidFill>
                  <a:srgbClr val="EC4899"/>
                </a:solidFill>
                <a:latin typeface="Calibri" pitchFamily="34" charset="0"/>
                <a:ea typeface="Calibri" pitchFamily="34" charset="-122"/>
                <a:cs typeface="Calibri" pitchFamily="34" charset="-120"/>
              </a:rPr>
              <a:t>›</a:t>
            </a:r>
            <a:endParaRPr lang="en-US" sz="2200" dirty="0"/>
          </a:p>
        </p:txBody>
      </p:sp>
      <p:sp>
        <p:nvSpPr>
          <p:cNvPr id="41" name="card"/>
          <p:cNvSpPr/>
          <p:nvPr/>
        </p:nvSpPr>
        <p:spPr>
          <a:xfrm>
            <a:off x="3370217" y="4160520"/>
            <a:ext cx="1188720" cy="1783080"/>
          </a:xfrm>
          <a:prstGeom prst="roundRect">
            <a:avLst>
              <a:gd name="adj" fmla="val 9231"/>
            </a:avLst>
          </a:prstGeom>
          <a:solidFill>
            <a:srgbClr val="161B27"/>
          </a:solidFill>
          <a:ln w="12700">
            <a:solidFill>
              <a:srgbClr val="2B3240"/>
            </a:solidFill>
            <a:prstDash val="solid"/>
          </a:ln>
        </p:spPr>
      </p:sp>
      <p:sp>
        <p:nvSpPr>
          <p:cNvPr id="42" name="Text 29"/>
          <p:cNvSpPr txBox="1"/>
          <p:nvPr/>
        </p:nvSpPr>
        <p:spPr>
          <a:xfrm>
            <a:off x="3370217" y="4224528"/>
            <a:ext cx="1188720" cy="228600"/>
          </a:xfrm>
          <a:prstGeom prst="rect">
            <a:avLst/>
          </a:prstGeom>
          <a:noFill/>
          <a:ln/>
        </p:spPr>
        <p:txBody>
          <a:bodyPr wrap="square" lIns="0" tIns="0" rIns="0" bIns="0" rtlCol="0" anchor="ctr"/>
          <a:lstStyle/>
          <a:p>
            <a:pPr algn="ctr" indent="0" marL="0">
              <a:buNone/>
            </a:pPr>
            <a:r>
              <a:rPr lang="en-US" sz="1100" b="1" dirty="0">
                <a:solidFill>
                  <a:srgbClr val="EC4899"/>
                </a:solidFill>
                <a:latin typeface="Calibri" pitchFamily="34" charset="0"/>
                <a:ea typeface="Calibri" pitchFamily="34" charset="-122"/>
                <a:cs typeface="Calibri" pitchFamily="34" charset="-120"/>
              </a:rPr>
              <a:t>3</a:t>
            </a:r>
            <a:endParaRPr lang="en-US" sz="1100" dirty="0"/>
          </a:p>
        </p:txBody>
      </p:sp>
      <p:sp>
        <p:nvSpPr>
          <p:cNvPr id="43" name="icon-circle"/>
          <p:cNvSpPr/>
          <p:nvPr/>
        </p:nvSpPr>
        <p:spPr>
          <a:xfrm>
            <a:off x="3690257" y="4526280"/>
            <a:ext cx="548640" cy="548640"/>
          </a:xfrm>
          <a:prstGeom prst="ellipse">
            <a:avLst/>
          </a:prstGeom>
          <a:solidFill>
            <a:srgbClr val="241C45"/>
          </a:solidFill>
          <a:ln w="12700">
            <a:solidFill>
              <a:srgbClr val="8B5CF6"/>
            </a:solidFill>
            <a:prstDash val="solid"/>
          </a:ln>
        </p:spPr>
      </p:sp>
      <p:pic>
        <p:nvPicPr>
          <p:cNvPr id="44" name="icon" descr="preencoded.png">    </p:cNvPr>
          <p:cNvPicPr>
            <a:picLocks noChangeAspect="1"/>
          </p:cNvPicPr>
          <p:nvPr/>
        </p:nvPicPr>
        <p:blipFill>
          <a:blip r:embed="rId11"/>
          <a:stretch>
            <a:fillRect/>
          </a:stretch>
        </p:blipFill>
        <p:spPr>
          <a:xfrm>
            <a:off x="3827417" y="4663440"/>
            <a:ext cx="274320" cy="274320"/>
          </a:xfrm>
          <a:prstGeom prst="rect">
            <a:avLst/>
          </a:prstGeom>
        </p:spPr>
      </p:pic>
      <p:sp>
        <p:nvSpPr>
          <p:cNvPr id="45" name="Text 31"/>
          <p:cNvSpPr txBox="1"/>
          <p:nvPr/>
        </p:nvSpPr>
        <p:spPr>
          <a:xfrm>
            <a:off x="3415937" y="5212080"/>
            <a:ext cx="1097280" cy="640080"/>
          </a:xfrm>
          <a:prstGeom prst="rect">
            <a:avLst/>
          </a:prstGeom>
          <a:noFill/>
          <a:ln/>
        </p:spPr>
        <p:txBody>
          <a:bodyPr wrap="square" lIns="0" tIns="0" rIns="0" bIns="0" rtlCol="0" anchor="t"/>
          <a:lstStyle/>
          <a:p>
            <a:pPr algn="ctr" indent="0" marL="0">
              <a:buNone/>
            </a:pPr>
            <a:r>
              <a:rPr lang="en-US" sz="1200" b="1" dirty="0">
                <a:solidFill>
                  <a:srgbClr val="F5F7FB"/>
                </a:solidFill>
                <a:latin typeface="Calibri" pitchFamily="34" charset="0"/>
                <a:ea typeface="Calibri" pitchFamily="34" charset="-122"/>
                <a:cs typeface="Calibri" pitchFamily="34" charset="-120"/>
              </a:rPr>
              <a:t>Information Extraction</a:t>
            </a:r>
            <a:endParaRPr lang="en-US" sz="1200" dirty="0"/>
          </a:p>
        </p:txBody>
      </p:sp>
      <p:sp>
        <p:nvSpPr>
          <p:cNvPr id="46" name="Text 32"/>
          <p:cNvSpPr txBox="1"/>
          <p:nvPr/>
        </p:nvSpPr>
        <p:spPr>
          <a:xfrm>
            <a:off x="4558937" y="4754880"/>
            <a:ext cx="222069" cy="365760"/>
          </a:xfrm>
          <a:prstGeom prst="rect">
            <a:avLst/>
          </a:prstGeom>
          <a:noFill/>
          <a:ln/>
        </p:spPr>
        <p:txBody>
          <a:bodyPr wrap="square" lIns="0" tIns="0" rIns="0" bIns="0" rtlCol="0" anchor="ctr"/>
          <a:lstStyle/>
          <a:p>
            <a:pPr algn="ctr" indent="0" marL="0">
              <a:buNone/>
            </a:pPr>
            <a:r>
              <a:rPr lang="en-US" sz="2200" b="1" dirty="0">
                <a:solidFill>
                  <a:srgbClr val="EC4899"/>
                </a:solidFill>
                <a:latin typeface="Calibri" pitchFamily="34" charset="0"/>
                <a:ea typeface="Calibri" pitchFamily="34" charset="-122"/>
                <a:cs typeface="Calibri" pitchFamily="34" charset="-120"/>
              </a:rPr>
              <a:t>›</a:t>
            </a:r>
            <a:endParaRPr lang="en-US" sz="2200" dirty="0"/>
          </a:p>
        </p:txBody>
      </p:sp>
      <p:sp>
        <p:nvSpPr>
          <p:cNvPr id="47" name="card"/>
          <p:cNvSpPr/>
          <p:nvPr/>
        </p:nvSpPr>
        <p:spPr>
          <a:xfrm>
            <a:off x="4781006" y="4160520"/>
            <a:ext cx="1188720" cy="1783080"/>
          </a:xfrm>
          <a:prstGeom prst="roundRect">
            <a:avLst>
              <a:gd name="adj" fmla="val 9231"/>
            </a:avLst>
          </a:prstGeom>
          <a:solidFill>
            <a:srgbClr val="161B27"/>
          </a:solidFill>
          <a:ln w="12700">
            <a:solidFill>
              <a:srgbClr val="2B3240"/>
            </a:solidFill>
            <a:prstDash val="solid"/>
          </a:ln>
          <a:effectLst>
            <a:outerShdw sx="100000" sy="100000" kx="0" ky="0" algn="bl" rotWithShape="0" blurRad="177800" dist="50800" dir="16200000">
              <a:srgbClr val="8B5CF6">
                <a:alpha val="28000"/>
              </a:srgbClr>
            </a:outerShdw>
          </a:effectLst>
        </p:spPr>
      </p:sp>
      <p:sp>
        <p:nvSpPr>
          <p:cNvPr id="48" name="Text 34"/>
          <p:cNvSpPr txBox="1"/>
          <p:nvPr/>
        </p:nvSpPr>
        <p:spPr>
          <a:xfrm>
            <a:off x="4781006" y="4224528"/>
            <a:ext cx="1188720" cy="228600"/>
          </a:xfrm>
          <a:prstGeom prst="rect">
            <a:avLst/>
          </a:prstGeom>
          <a:noFill/>
          <a:ln/>
        </p:spPr>
        <p:txBody>
          <a:bodyPr wrap="square" lIns="0" tIns="0" rIns="0" bIns="0" rtlCol="0" anchor="ctr"/>
          <a:lstStyle/>
          <a:p>
            <a:pPr algn="ctr" indent="0" marL="0">
              <a:buNone/>
            </a:pPr>
            <a:r>
              <a:rPr lang="en-US" sz="1100" b="1" dirty="0">
                <a:solidFill>
                  <a:srgbClr val="EC4899"/>
                </a:solidFill>
                <a:latin typeface="Calibri" pitchFamily="34" charset="0"/>
                <a:ea typeface="Calibri" pitchFamily="34" charset="-122"/>
                <a:cs typeface="Calibri" pitchFamily="34" charset="-120"/>
              </a:rPr>
              <a:t>4</a:t>
            </a:r>
            <a:endParaRPr lang="en-US" sz="1100" dirty="0"/>
          </a:p>
        </p:txBody>
      </p:sp>
      <p:sp>
        <p:nvSpPr>
          <p:cNvPr id="49" name="icon-circle"/>
          <p:cNvSpPr/>
          <p:nvPr/>
        </p:nvSpPr>
        <p:spPr>
          <a:xfrm>
            <a:off x="5101046" y="4526280"/>
            <a:ext cx="548640" cy="548640"/>
          </a:xfrm>
          <a:prstGeom prst="ellipse">
            <a:avLst/>
          </a:prstGeom>
          <a:solidFill>
            <a:srgbClr val="241C45"/>
          </a:solidFill>
          <a:ln w="12700">
            <a:solidFill>
              <a:srgbClr val="8B5CF6"/>
            </a:solidFill>
            <a:prstDash val="solid"/>
          </a:ln>
        </p:spPr>
      </p:sp>
      <p:pic>
        <p:nvPicPr>
          <p:cNvPr id="50" name="icon" descr="preencoded.png">    </p:cNvPr>
          <p:cNvPicPr>
            <a:picLocks noChangeAspect="1"/>
          </p:cNvPicPr>
          <p:nvPr/>
        </p:nvPicPr>
        <p:blipFill>
          <a:blip r:embed="rId12"/>
          <a:stretch>
            <a:fillRect/>
          </a:stretch>
        </p:blipFill>
        <p:spPr>
          <a:xfrm>
            <a:off x="5238206" y="4663440"/>
            <a:ext cx="274320" cy="274320"/>
          </a:xfrm>
          <a:prstGeom prst="rect">
            <a:avLst/>
          </a:prstGeom>
        </p:spPr>
      </p:pic>
      <p:sp>
        <p:nvSpPr>
          <p:cNvPr id="51" name="Text 36"/>
          <p:cNvSpPr txBox="1"/>
          <p:nvPr/>
        </p:nvSpPr>
        <p:spPr>
          <a:xfrm>
            <a:off x="4826726" y="5212080"/>
            <a:ext cx="1097280" cy="640080"/>
          </a:xfrm>
          <a:prstGeom prst="rect">
            <a:avLst/>
          </a:prstGeom>
          <a:noFill/>
          <a:ln/>
        </p:spPr>
        <p:txBody>
          <a:bodyPr wrap="square" lIns="0" tIns="0" rIns="0" bIns="0" rtlCol="0" anchor="t"/>
          <a:lstStyle/>
          <a:p>
            <a:pPr algn="ctr" indent="0" marL="0">
              <a:buNone/>
            </a:pPr>
            <a:r>
              <a:rPr lang="en-US" sz="1200" b="1" dirty="0">
                <a:solidFill>
                  <a:srgbClr val="F5F7FB"/>
                </a:solidFill>
                <a:latin typeface="Calibri" pitchFamily="34" charset="0"/>
                <a:ea typeface="Calibri" pitchFamily="34" charset="-122"/>
                <a:cs typeface="Calibri" pitchFamily="34" charset="-120"/>
              </a:rPr>
              <a:t>Bill Verification</a:t>
            </a:r>
            <a:endParaRPr lang="en-US" sz="1200" dirty="0"/>
          </a:p>
        </p:txBody>
      </p:sp>
      <p:sp>
        <p:nvSpPr>
          <p:cNvPr id="52" name="Text 37"/>
          <p:cNvSpPr txBox="1"/>
          <p:nvPr/>
        </p:nvSpPr>
        <p:spPr>
          <a:xfrm>
            <a:off x="5969726" y="4754880"/>
            <a:ext cx="222069" cy="365760"/>
          </a:xfrm>
          <a:prstGeom prst="rect">
            <a:avLst/>
          </a:prstGeom>
          <a:noFill/>
          <a:ln/>
        </p:spPr>
        <p:txBody>
          <a:bodyPr wrap="square" lIns="0" tIns="0" rIns="0" bIns="0" rtlCol="0" anchor="ctr"/>
          <a:lstStyle/>
          <a:p>
            <a:pPr algn="ctr" indent="0" marL="0">
              <a:buNone/>
            </a:pPr>
            <a:r>
              <a:rPr lang="en-US" sz="2200" b="1" dirty="0">
                <a:solidFill>
                  <a:srgbClr val="EC4899"/>
                </a:solidFill>
                <a:latin typeface="Calibri" pitchFamily="34" charset="0"/>
                <a:ea typeface="Calibri" pitchFamily="34" charset="-122"/>
                <a:cs typeface="Calibri" pitchFamily="34" charset="-120"/>
              </a:rPr>
              <a:t>›</a:t>
            </a:r>
            <a:endParaRPr lang="en-US" sz="2200" dirty="0"/>
          </a:p>
        </p:txBody>
      </p:sp>
      <p:sp>
        <p:nvSpPr>
          <p:cNvPr id="53" name="card"/>
          <p:cNvSpPr/>
          <p:nvPr/>
        </p:nvSpPr>
        <p:spPr>
          <a:xfrm>
            <a:off x="6191794" y="4160520"/>
            <a:ext cx="1188720" cy="1783080"/>
          </a:xfrm>
          <a:prstGeom prst="roundRect">
            <a:avLst>
              <a:gd name="adj" fmla="val 9231"/>
            </a:avLst>
          </a:prstGeom>
          <a:solidFill>
            <a:srgbClr val="161B27"/>
          </a:solidFill>
          <a:ln w="12700">
            <a:solidFill>
              <a:srgbClr val="2B3240"/>
            </a:solidFill>
            <a:prstDash val="solid"/>
          </a:ln>
        </p:spPr>
      </p:sp>
      <p:sp>
        <p:nvSpPr>
          <p:cNvPr id="54" name="Text 39"/>
          <p:cNvSpPr txBox="1"/>
          <p:nvPr/>
        </p:nvSpPr>
        <p:spPr>
          <a:xfrm>
            <a:off x="6191794" y="4224528"/>
            <a:ext cx="1188720" cy="228600"/>
          </a:xfrm>
          <a:prstGeom prst="rect">
            <a:avLst/>
          </a:prstGeom>
          <a:noFill/>
          <a:ln/>
        </p:spPr>
        <p:txBody>
          <a:bodyPr wrap="square" lIns="0" tIns="0" rIns="0" bIns="0" rtlCol="0" anchor="ctr"/>
          <a:lstStyle/>
          <a:p>
            <a:pPr algn="ctr" indent="0" marL="0">
              <a:buNone/>
            </a:pPr>
            <a:r>
              <a:rPr lang="en-US" sz="1100" b="1" dirty="0">
                <a:solidFill>
                  <a:srgbClr val="EC4899"/>
                </a:solidFill>
                <a:latin typeface="Calibri" pitchFamily="34" charset="0"/>
                <a:ea typeface="Calibri" pitchFamily="34" charset="-122"/>
                <a:cs typeface="Calibri" pitchFamily="34" charset="-120"/>
              </a:rPr>
              <a:t>5</a:t>
            </a:r>
            <a:endParaRPr lang="en-US" sz="1100" dirty="0"/>
          </a:p>
        </p:txBody>
      </p:sp>
      <p:sp>
        <p:nvSpPr>
          <p:cNvPr id="55" name="icon-circle"/>
          <p:cNvSpPr/>
          <p:nvPr/>
        </p:nvSpPr>
        <p:spPr>
          <a:xfrm>
            <a:off x="6511834" y="4526280"/>
            <a:ext cx="548640" cy="548640"/>
          </a:xfrm>
          <a:prstGeom prst="ellipse">
            <a:avLst/>
          </a:prstGeom>
          <a:solidFill>
            <a:srgbClr val="241C45"/>
          </a:solidFill>
          <a:ln w="12700">
            <a:solidFill>
              <a:srgbClr val="8B5CF6"/>
            </a:solidFill>
            <a:prstDash val="solid"/>
          </a:ln>
        </p:spPr>
      </p:sp>
      <p:pic>
        <p:nvPicPr>
          <p:cNvPr id="56" name="icon" descr="preencoded.png">    </p:cNvPr>
          <p:cNvPicPr>
            <a:picLocks noChangeAspect="1"/>
          </p:cNvPicPr>
          <p:nvPr/>
        </p:nvPicPr>
        <p:blipFill>
          <a:blip r:embed="rId13"/>
          <a:stretch>
            <a:fillRect/>
          </a:stretch>
        </p:blipFill>
        <p:spPr>
          <a:xfrm>
            <a:off x="6648994" y="4663440"/>
            <a:ext cx="274320" cy="274320"/>
          </a:xfrm>
          <a:prstGeom prst="rect">
            <a:avLst/>
          </a:prstGeom>
        </p:spPr>
      </p:pic>
      <p:sp>
        <p:nvSpPr>
          <p:cNvPr id="57" name="Text 41"/>
          <p:cNvSpPr txBox="1"/>
          <p:nvPr/>
        </p:nvSpPr>
        <p:spPr>
          <a:xfrm>
            <a:off x="6237514" y="5212080"/>
            <a:ext cx="1097280" cy="640080"/>
          </a:xfrm>
          <a:prstGeom prst="rect">
            <a:avLst/>
          </a:prstGeom>
          <a:noFill/>
          <a:ln/>
        </p:spPr>
        <p:txBody>
          <a:bodyPr wrap="square" lIns="0" tIns="0" rIns="0" bIns="0" rtlCol="0" anchor="t"/>
          <a:lstStyle/>
          <a:p>
            <a:pPr algn="ctr" indent="0" marL="0">
              <a:buNone/>
            </a:pPr>
            <a:r>
              <a:rPr lang="en-US" sz="1200" b="1" dirty="0">
                <a:solidFill>
                  <a:srgbClr val="F5F7FB"/>
                </a:solidFill>
                <a:latin typeface="Calibri" pitchFamily="34" charset="0"/>
                <a:ea typeface="Calibri" pitchFamily="34" charset="-122"/>
                <a:cs typeface="Calibri" pitchFamily="34" charset="-120"/>
              </a:rPr>
              <a:t>Smart Bill Splitting</a:t>
            </a:r>
            <a:endParaRPr lang="en-US" sz="1200" dirty="0"/>
          </a:p>
        </p:txBody>
      </p:sp>
      <p:sp>
        <p:nvSpPr>
          <p:cNvPr id="58" name="Text 42"/>
          <p:cNvSpPr txBox="1"/>
          <p:nvPr/>
        </p:nvSpPr>
        <p:spPr>
          <a:xfrm>
            <a:off x="7380514" y="4754880"/>
            <a:ext cx="222069" cy="365760"/>
          </a:xfrm>
          <a:prstGeom prst="rect">
            <a:avLst/>
          </a:prstGeom>
          <a:noFill/>
          <a:ln/>
        </p:spPr>
        <p:txBody>
          <a:bodyPr wrap="square" lIns="0" tIns="0" rIns="0" bIns="0" rtlCol="0" anchor="ctr"/>
          <a:lstStyle/>
          <a:p>
            <a:pPr algn="ctr" indent="0" marL="0">
              <a:buNone/>
            </a:pPr>
            <a:r>
              <a:rPr lang="en-US" sz="2200" b="1" dirty="0">
                <a:solidFill>
                  <a:srgbClr val="EC4899"/>
                </a:solidFill>
                <a:latin typeface="Calibri" pitchFamily="34" charset="0"/>
                <a:ea typeface="Calibri" pitchFamily="34" charset="-122"/>
                <a:cs typeface="Calibri" pitchFamily="34" charset="-120"/>
              </a:rPr>
              <a:t>›</a:t>
            </a:r>
            <a:endParaRPr lang="en-US" sz="2200" dirty="0"/>
          </a:p>
        </p:txBody>
      </p:sp>
      <p:sp>
        <p:nvSpPr>
          <p:cNvPr id="59" name="card"/>
          <p:cNvSpPr/>
          <p:nvPr/>
        </p:nvSpPr>
        <p:spPr>
          <a:xfrm>
            <a:off x="7602583" y="4160520"/>
            <a:ext cx="1188720" cy="1783080"/>
          </a:xfrm>
          <a:prstGeom prst="roundRect">
            <a:avLst>
              <a:gd name="adj" fmla="val 9231"/>
            </a:avLst>
          </a:prstGeom>
          <a:solidFill>
            <a:srgbClr val="161B27"/>
          </a:solidFill>
          <a:ln w="12700">
            <a:solidFill>
              <a:srgbClr val="2B3240"/>
            </a:solidFill>
            <a:prstDash val="solid"/>
          </a:ln>
        </p:spPr>
      </p:sp>
      <p:sp>
        <p:nvSpPr>
          <p:cNvPr id="60" name="Text 44"/>
          <p:cNvSpPr txBox="1"/>
          <p:nvPr/>
        </p:nvSpPr>
        <p:spPr>
          <a:xfrm>
            <a:off x="7602583" y="4224528"/>
            <a:ext cx="1188720" cy="228600"/>
          </a:xfrm>
          <a:prstGeom prst="rect">
            <a:avLst/>
          </a:prstGeom>
          <a:noFill/>
          <a:ln/>
        </p:spPr>
        <p:txBody>
          <a:bodyPr wrap="square" lIns="0" tIns="0" rIns="0" bIns="0" rtlCol="0" anchor="ctr"/>
          <a:lstStyle/>
          <a:p>
            <a:pPr algn="ctr" indent="0" marL="0">
              <a:buNone/>
            </a:pPr>
            <a:r>
              <a:rPr lang="en-US" sz="1100" b="1" dirty="0">
                <a:solidFill>
                  <a:srgbClr val="EC4899"/>
                </a:solidFill>
                <a:latin typeface="Calibri" pitchFamily="34" charset="0"/>
                <a:ea typeface="Calibri" pitchFamily="34" charset="-122"/>
                <a:cs typeface="Calibri" pitchFamily="34" charset="-120"/>
              </a:rPr>
              <a:t>6</a:t>
            </a:r>
            <a:endParaRPr lang="en-US" sz="1100" dirty="0"/>
          </a:p>
        </p:txBody>
      </p:sp>
      <p:sp>
        <p:nvSpPr>
          <p:cNvPr id="61" name="icon-circle"/>
          <p:cNvSpPr/>
          <p:nvPr/>
        </p:nvSpPr>
        <p:spPr>
          <a:xfrm>
            <a:off x="7922623" y="4526280"/>
            <a:ext cx="548640" cy="548640"/>
          </a:xfrm>
          <a:prstGeom prst="ellipse">
            <a:avLst/>
          </a:prstGeom>
          <a:solidFill>
            <a:srgbClr val="241C45"/>
          </a:solidFill>
          <a:ln w="12700">
            <a:solidFill>
              <a:srgbClr val="8B5CF6"/>
            </a:solidFill>
            <a:prstDash val="solid"/>
          </a:ln>
        </p:spPr>
      </p:sp>
      <p:pic>
        <p:nvPicPr>
          <p:cNvPr id="62" name="icon" descr="preencoded.png">    </p:cNvPr>
          <p:cNvPicPr>
            <a:picLocks noChangeAspect="1"/>
          </p:cNvPicPr>
          <p:nvPr/>
        </p:nvPicPr>
        <p:blipFill>
          <a:blip r:embed="rId14"/>
          <a:stretch>
            <a:fillRect/>
          </a:stretch>
        </p:blipFill>
        <p:spPr>
          <a:xfrm>
            <a:off x="8059783" y="4663440"/>
            <a:ext cx="274320" cy="274320"/>
          </a:xfrm>
          <a:prstGeom prst="rect">
            <a:avLst/>
          </a:prstGeom>
        </p:spPr>
      </p:pic>
      <p:sp>
        <p:nvSpPr>
          <p:cNvPr id="63" name="Text 46"/>
          <p:cNvSpPr txBox="1"/>
          <p:nvPr/>
        </p:nvSpPr>
        <p:spPr>
          <a:xfrm>
            <a:off x="7648303" y="5212080"/>
            <a:ext cx="1097280" cy="640080"/>
          </a:xfrm>
          <a:prstGeom prst="rect">
            <a:avLst/>
          </a:prstGeom>
          <a:noFill/>
          <a:ln/>
        </p:spPr>
        <p:txBody>
          <a:bodyPr wrap="square" lIns="0" tIns="0" rIns="0" bIns="0" rtlCol="0" anchor="t"/>
          <a:lstStyle/>
          <a:p>
            <a:pPr algn="ctr" indent="0" marL="0">
              <a:buNone/>
            </a:pPr>
            <a:r>
              <a:rPr lang="en-US" sz="1200" b="1" dirty="0">
                <a:solidFill>
                  <a:srgbClr val="F5F7FB"/>
                </a:solidFill>
                <a:latin typeface="Calibri" pitchFamily="34" charset="0"/>
                <a:ea typeface="Calibri" pitchFamily="34" charset="-122"/>
                <a:cs typeface="Calibri" pitchFamily="34" charset="-120"/>
              </a:rPr>
              <a:t>Participant Shares</a:t>
            </a:r>
            <a:endParaRPr lang="en-US" sz="1200" dirty="0"/>
          </a:p>
        </p:txBody>
      </p:sp>
      <p:sp>
        <p:nvSpPr>
          <p:cNvPr id="64" name="Text 47"/>
          <p:cNvSpPr txBox="1"/>
          <p:nvPr/>
        </p:nvSpPr>
        <p:spPr>
          <a:xfrm>
            <a:off x="8791303" y="4754880"/>
            <a:ext cx="222069" cy="365760"/>
          </a:xfrm>
          <a:prstGeom prst="rect">
            <a:avLst/>
          </a:prstGeom>
          <a:noFill/>
          <a:ln/>
        </p:spPr>
        <p:txBody>
          <a:bodyPr wrap="square" lIns="0" tIns="0" rIns="0" bIns="0" rtlCol="0" anchor="ctr"/>
          <a:lstStyle/>
          <a:p>
            <a:pPr algn="ctr" indent="0" marL="0">
              <a:buNone/>
            </a:pPr>
            <a:r>
              <a:rPr lang="en-US" sz="2200" b="1" dirty="0">
                <a:solidFill>
                  <a:srgbClr val="EC4899"/>
                </a:solidFill>
                <a:latin typeface="Calibri" pitchFamily="34" charset="0"/>
                <a:ea typeface="Calibri" pitchFamily="34" charset="-122"/>
                <a:cs typeface="Calibri" pitchFamily="34" charset="-120"/>
              </a:rPr>
              <a:t>›</a:t>
            </a:r>
            <a:endParaRPr lang="en-US" sz="2200" dirty="0"/>
          </a:p>
        </p:txBody>
      </p:sp>
      <p:sp>
        <p:nvSpPr>
          <p:cNvPr id="65" name="card"/>
          <p:cNvSpPr/>
          <p:nvPr/>
        </p:nvSpPr>
        <p:spPr>
          <a:xfrm>
            <a:off x="9013371" y="4160520"/>
            <a:ext cx="1188720" cy="1783080"/>
          </a:xfrm>
          <a:prstGeom prst="roundRect">
            <a:avLst>
              <a:gd name="adj" fmla="val 9231"/>
            </a:avLst>
          </a:prstGeom>
          <a:solidFill>
            <a:srgbClr val="161B27"/>
          </a:solidFill>
          <a:ln w="12700">
            <a:solidFill>
              <a:srgbClr val="2B3240"/>
            </a:solidFill>
            <a:prstDash val="solid"/>
          </a:ln>
        </p:spPr>
      </p:sp>
      <p:sp>
        <p:nvSpPr>
          <p:cNvPr id="66" name="Text 49"/>
          <p:cNvSpPr txBox="1"/>
          <p:nvPr/>
        </p:nvSpPr>
        <p:spPr>
          <a:xfrm>
            <a:off x="9013371" y="4224528"/>
            <a:ext cx="1188720" cy="228600"/>
          </a:xfrm>
          <a:prstGeom prst="rect">
            <a:avLst/>
          </a:prstGeom>
          <a:noFill/>
          <a:ln/>
        </p:spPr>
        <p:txBody>
          <a:bodyPr wrap="square" lIns="0" tIns="0" rIns="0" bIns="0" rtlCol="0" anchor="ctr"/>
          <a:lstStyle/>
          <a:p>
            <a:pPr algn="ctr" indent="0" marL="0">
              <a:buNone/>
            </a:pPr>
            <a:r>
              <a:rPr lang="en-US" sz="1100" b="1" dirty="0">
                <a:solidFill>
                  <a:srgbClr val="EC4899"/>
                </a:solidFill>
                <a:latin typeface="Calibri" pitchFamily="34" charset="0"/>
                <a:ea typeface="Calibri" pitchFamily="34" charset="-122"/>
                <a:cs typeface="Calibri" pitchFamily="34" charset="-120"/>
              </a:rPr>
              <a:t>7</a:t>
            </a:r>
            <a:endParaRPr lang="en-US" sz="1100" dirty="0"/>
          </a:p>
        </p:txBody>
      </p:sp>
      <p:sp>
        <p:nvSpPr>
          <p:cNvPr id="67" name="icon-circle"/>
          <p:cNvSpPr/>
          <p:nvPr/>
        </p:nvSpPr>
        <p:spPr>
          <a:xfrm>
            <a:off x="9333411" y="4526280"/>
            <a:ext cx="548640" cy="548640"/>
          </a:xfrm>
          <a:prstGeom prst="ellipse">
            <a:avLst/>
          </a:prstGeom>
          <a:solidFill>
            <a:srgbClr val="241C45"/>
          </a:solidFill>
          <a:ln w="12700">
            <a:solidFill>
              <a:srgbClr val="8B5CF6"/>
            </a:solidFill>
            <a:prstDash val="solid"/>
          </a:ln>
        </p:spPr>
      </p:sp>
      <p:pic>
        <p:nvPicPr>
          <p:cNvPr id="68" name="icon" descr="preencoded.png">    </p:cNvPr>
          <p:cNvPicPr>
            <a:picLocks noChangeAspect="1"/>
          </p:cNvPicPr>
          <p:nvPr/>
        </p:nvPicPr>
        <p:blipFill>
          <a:blip r:embed="rId15"/>
          <a:stretch>
            <a:fillRect/>
          </a:stretch>
        </p:blipFill>
        <p:spPr>
          <a:xfrm>
            <a:off x="9470571" y="4663440"/>
            <a:ext cx="274320" cy="274320"/>
          </a:xfrm>
          <a:prstGeom prst="rect">
            <a:avLst/>
          </a:prstGeom>
        </p:spPr>
      </p:pic>
      <p:sp>
        <p:nvSpPr>
          <p:cNvPr id="69" name="Text 51"/>
          <p:cNvSpPr txBox="1"/>
          <p:nvPr/>
        </p:nvSpPr>
        <p:spPr>
          <a:xfrm>
            <a:off x="9059091" y="5212080"/>
            <a:ext cx="1097280" cy="640080"/>
          </a:xfrm>
          <a:prstGeom prst="rect">
            <a:avLst/>
          </a:prstGeom>
          <a:noFill/>
          <a:ln/>
        </p:spPr>
        <p:txBody>
          <a:bodyPr wrap="square" lIns="0" tIns="0" rIns="0" bIns="0" rtlCol="0" anchor="t"/>
          <a:lstStyle/>
          <a:p>
            <a:pPr algn="ctr" indent="0" marL="0">
              <a:buNone/>
            </a:pPr>
            <a:r>
              <a:rPr lang="en-US" sz="1200" b="1" dirty="0">
                <a:solidFill>
                  <a:srgbClr val="F5F7FB"/>
                </a:solidFill>
                <a:latin typeface="Calibri" pitchFamily="34" charset="0"/>
                <a:ea typeface="Calibri" pitchFamily="34" charset="-122"/>
                <a:cs typeface="Calibri" pitchFamily="34" charset="-120"/>
              </a:rPr>
              <a:t>Summary</a:t>
            </a:r>
            <a:endParaRPr lang="en-US" sz="1200" dirty="0"/>
          </a:p>
        </p:txBody>
      </p:sp>
      <p:sp>
        <p:nvSpPr>
          <p:cNvPr id="70" name="Text 52"/>
          <p:cNvSpPr txBox="1"/>
          <p:nvPr/>
        </p:nvSpPr>
        <p:spPr>
          <a:xfrm>
            <a:off x="10202091" y="4754880"/>
            <a:ext cx="222069" cy="365760"/>
          </a:xfrm>
          <a:prstGeom prst="rect">
            <a:avLst/>
          </a:prstGeom>
          <a:noFill/>
          <a:ln/>
        </p:spPr>
        <p:txBody>
          <a:bodyPr wrap="square" lIns="0" tIns="0" rIns="0" bIns="0" rtlCol="0" anchor="ctr"/>
          <a:lstStyle/>
          <a:p>
            <a:pPr algn="ctr" indent="0" marL="0">
              <a:buNone/>
            </a:pPr>
            <a:r>
              <a:rPr lang="en-US" sz="2200" b="1" dirty="0">
                <a:solidFill>
                  <a:srgbClr val="EC4899"/>
                </a:solidFill>
                <a:latin typeface="Calibri" pitchFamily="34" charset="0"/>
                <a:ea typeface="Calibri" pitchFamily="34" charset="-122"/>
                <a:cs typeface="Calibri" pitchFamily="34" charset="-120"/>
              </a:rPr>
              <a:t>›</a:t>
            </a:r>
            <a:endParaRPr lang="en-US" sz="2200" dirty="0"/>
          </a:p>
        </p:txBody>
      </p:sp>
      <p:sp>
        <p:nvSpPr>
          <p:cNvPr id="71" name="card"/>
          <p:cNvSpPr/>
          <p:nvPr/>
        </p:nvSpPr>
        <p:spPr>
          <a:xfrm>
            <a:off x="10424160" y="4160520"/>
            <a:ext cx="1188720" cy="1783080"/>
          </a:xfrm>
          <a:prstGeom prst="roundRect">
            <a:avLst>
              <a:gd name="adj" fmla="val 9231"/>
            </a:avLst>
          </a:prstGeom>
          <a:solidFill>
            <a:srgbClr val="161B27"/>
          </a:solidFill>
          <a:ln w="12700">
            <a:solidFill>
              <a:srgbClr val="2B3240"/>
            </a:solidFill>
            <a:prstDash val="solid"/>
          </a:ln>
        </p:spPr>
      </p:sp>
      <p:sp>
        <p:nvSpPr>
          <p:cNvPr id="72" name="Text 54"/>
          <p:cNvSpPr txBox="1"/>
          <p:nvPr/>
        </p:nvSpPr>
        <p:spPr>
          <a:xfrm>
            <a:off x="10424160" y="4224528"/>
            <a:ext cx="1188720" cy="228600"/>
          </a:xfrm>
          <a:prstGeom prst="rect">
            <a:avLst/>
          </a:prstGeom>
          <a:noFill/>
          <a:ln/>
        </p:spPr>
        <p:txBody>
          <a:bodyPr wrap="square" lIns="0" tIns="0" rIns="0" bIns="0" rtlCol="0" anchor="ctr"/>
          <a:lstStyle/>
          <a:p>
            <a:pPr algn="ctr" indent="0" marL="0">
              <a:buNone/>
            </a:pPr>
            <a:r>
              <a:rPr lang="en-US" sz="1100" b="1" dirty="0">
                <a:solidFill>
                  <a:srgbClr val="EC4899"/>
                </a:solidFill>
                <a:latin typeface="Calibri" pitchFamily="34" charset="0"/>
                <a:ea typeface="Calibri" pitchFamily="34" charset="-122"/>
                <a:cs typeface="Calibri" pitchFamily="34" charset="-120"/>
              </a:rPr>
              <a:t>8</a:t>
            </a:r>
            <a:endParaRPr lang="en-US" sz="1100" dirty="0"/>
          </a:p>
        </p:txBody>
      </p:sp>
      <p:sp>
        <p:nvSpPr>
          <p:cNvPr id="73" name="icon-circle"/>
          <p:cNvSpPr/>
          <p:nvPr/>
        </p:nvSpPr>
        <p:spPr>
          <a:xfrm>
            <a:off x="10744200" y="4526280"/>
            <a:ext cx="548640" cy="548640"/>
          </a:xfrm>
          <a:prstGeom prst="ellipse">
            <a:avLst/>
          </a:prstGeom>
          <a:solidFill>
            <a:srgbClr val="241C45"/>
          </a:solidFill>
          <a:ln w="12700">
            <a:solidFill>
              <a:srgbClr val="8B5CF6"/>
            </a:solidFill>
            <a:prstDash val="solid"/>
          </a:ln>
        </p:spPr>
      </p:sp>
      <p:pic>
        <p:nvPicPr>
          <p:cNvPr id="74" name="icon" descr="preencoded.png">    </p:cNvPr>
          <p:cNvPicPr>
            <a:picLocks noChangeAspect="1"/>
          </p:cNvPicPr>
          <p:nvPr/>
        </p:nvPicPr>
        <p:blipFill>
          <a:blip r:embed="rId16"/>
          <a:stretch>
            <a:fillRect/>
          </a:stretch>
        </p:blipFill>
        <p:spPr>
          <a:xfrm>
            <a:off x="10881360" y="4663440"/>
            <a:ext cx="274320" cy="274320"/>
          </a:xfrm>
          <a:prstGeom prst="rect">
            <a:avLst/>
          </a:prstGeom>
        </p:spPr>
      </p:pic>
      <p:sp>
        <p:nvSpPr>
          <p:cNvPr id="75" name="Text 56"/>
          <p:cNvSpPr txBox="1"/>
          <p:nvPr/>
        </p:nvSpPr>
        <p:spPr>
          <a:xfrm>
            <a:off x="10469880" y="5212080"/>
            <a:ext cx="1097280" cy="640080"/>
          </a:xfrm>
          <a:prstGeom prst="rect">
            <a:avLst/>
          </a:prstGeom>
          <a:noFill/>
          <a:ln/>
        </p:spPr>
        <p:txBody>
          <a:bodyPr wrap="square" lIns="0" tIns="0" rIns="0" bIns="0" rtlCol="0" anchor="t"/>
          <a:lstStyle/>
          <a:p>
            <a:pPr algn="ctr" indent="0" marL="0">
              <a:buNone/>
            </a:pPr>
            <a:r>
              <a:rPr lang="en-US" sz="1200" b="1" dirty="0">
                <a:solidFill>
                  <a:srgbClr val="F5F7FB"/>
                </a:solidFill>
                <a:latin typeface="Calibri" pitchFamily="34" charset="0"/>
                <a:ea typeface="Calibri" pitchFamily="34" charset="-122"/>
                <a:cs typeface="Calibri" pitchFamily="34" charset="-120"/>
              </a:rPr>
              <a:t>Sharing</a:t>
            </a:r>
            <a:endParaRPr lang="en-US" sz="12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899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rgbClr val="F5F7FB"/>
                </a:solidFill>
                <a:latin typeface="Calibri" pitchFamily="34" charset="0"/>
                <a:ea typeface="Calibri" pitchFamily="34" charset="-122"/>
                <a:cs typeface="Calibri" pitchFamily="34" charset="-120"/>
              </a:rPr>
              <a:t>System Workflow</a:t>
            </a:r>
            <a:endParaRPr lang="en-US" sz="3600" dirty="0"/>
          </a:p>
        </p:txBody>
      </p:sp>
      <p:sp>
        <p:nvSpPr>
          <p:cNvPr id="4" name="card"/>
          <p:cNvSpPr/>
          <p:nvPr/>
        </p:nvSpPr>
        <p:spPr>
          <a:xfrm>
            <a:off x="548640" y="1371600"/>
            <a:ext cx="2011680" cy="2148840"/>
          </a:xfrm>
          <a:prstGeom prst="roundRect">
            <a:avLst>
              <a:gd name="adj" fmla="val 5455"/>
            </a:avLst>
          </a:prstGeom>
          <a:solidFill>
            <a:srgbClr val="161B27"/>
          </a:solidFill>
          <a:ln w="12700">
            <a:solidFill>
              <a:srgbClr val="2B3240"/>
            </a:solidFill>
            <a:prstDash val="solid"/>
          </a:ln>
        </p:spPr>
      </p:sp>
      <p:sp>
        <p:nvSpPr>
          <p:cNvPr id="5" name="Text 2"/>
          <p:cNvSpPr txBox="1"/>
          <p:nvPr/>
        </p:nvSpPr>
        <p:spPr>
          <a:xfrm>
            <a:off x="685800" y="1481328"/>
            <a:ext cx="365760" cy="274320"/>
          </a:xfrm>
          <a:prstGeom prst="rect">
            <a:avLst/>
          </a:prstGeom>
          <a:noFill/>
          <a:ln/>
        </p:spPr>
        <p:txBody>
          <a:bodyPr wrap="square" lIns="0" tIns="0" rIns="0" bIns="0" rtlCol="0" anchor="ctr"/>
          <a:lstStyle/>
          <a:p>
            <a:pPr indent="0" marL="0">
              <a:buNone/>
            </a:pPr>
            <a:r>
              <a:rPr lang="en-US" sz="1200" b="1" dirty="0">
                <a:solidFill>
                  <a:srgbClr val="EC4899"/>
                </a:solidFill>
                <a:latin typeface="Calibri" pitchFamily="34" charset="0"/>
                <a:ea typeface="Calibri" pitchFamily="34" charset="-122"/>
                <a:cs typeface="Calibri" pitchFamily="34" charset="-120"/>
              </a:rPr>
              <a:t>1</a:t>
            </a:r>
            <a:endParaRPr lang="en-US" sz="1200" dirty="0"/>
          </a:p>
        </p:txBody>
      </p:sp>
      <p:sp>
        <p:nvSpPr>
          <p:cNvPr id="6" name="icon-circle"/>
          <p:cNvSpPr/>
          <p:nvPr/>
        </p:nvSpPr>
        <p:spPr>
          <a:xfrm>
            <a:off x="1234440" y="1828800"/>
            <a:ext cx="640080" cy="640080"/>
          </a:xfrm>
          <a:prstGeom prst="ellipse">
            <a:avLst/>
          </a:prstGeom>
          <a:solidFill>
            <a:srgbClr val="241C45"/>
          </a:solidFill>
          <a:ln w="12700">
            <a:solidFill>
              <a:srgbClr val="8B5CF6"/>
            </a:solidFill>
            <a:prstDash val="solid"/>
          </a:ln>
        </p:spPr>
      </p:sp>
      <p:pic>
        <p:nvPicPr>
          <p:cNvPr id="7" name="icon" descr="preencoded.png">    </p:cNvPr>
          <p:cNvPicPr>
            <a:picLocks noChangeAspect="1"/>
          </p:cNvPicPr>
          <p:nvPr/>
        </p:nvPicPr>
        <p:blipFill>
          <a:blip r:embed="rId1"/>
          <a:stretch>
            <a:fillRect/>
          </a:stretch>
        </p:blipFill>
        <p:spPr>
          <a:xfrm>
            <a:off x="1394460" y="1988820"/>
            <a:ext cx="320040" cy="320040"/>
          </a:xfrm>
          <a:prstGeom prst="rect">
            <a:avLst/>
          </a:prstGeom>
        </p:spPr>
      </p:pic>
      <p:sp>
        <p:nvSpPr>
          <p:cNvPr id="8" name="Text 4"/>
          <p:cNvSpPr txBox="1"/>
          <p:nvPr/>
        </p:nvSpPr>
        <p:spPr>
          <a:xfrm>
            <a:off x="640080" y="2560320"/>
            <a:ext cx="1828800" cy="365760"/>
          </a:xfrm>
          <a:prstGeom prst="rect">
            <a:avLst/>
          </a:prstGeom>
          <a:noFill/>
          <a:ln/>
        </p:spPr>
        <p:txBody>
          <a:bodyPr wrap="square" lIns="0" tIns="0" rIns="0" bIns="0" rtlCol="0" anchor="ctr"/>
          <a:lstStyle/>
          <a:p>
            <a:pPr algn="ctr" indent="0" marL="0">
              <a:buNone/>
            </a:pPr>
            <a:r>
              <a:rPr lang="en-US" sz="1500" b="1" dirty="0">
                <a:solidFill>
                  <a:srgbClr val="F5F7FB"/>
                </a:solidFill>
                <a:latin typeface="Calibri" pitchFamily="34" charset="0"/>
                <a:ea typeface="Calibri" pitchFamily="34" charset="-122"/>
                <a:cs typeface="Calibri" pitchFamily="34" charset="-120"/>
              </a:rPr>
              <a:t>User</a:t>
            </a:r>
            <a:endParaRPr lang="en-US" sz="1500" dirty="0"/>
          </a:p>
        </p:txBody>
      </p:sp>
      <p:sp>
        <p:nvSpPr>
          <p:cNvPr id="9" name="Text 5"/>
          <p:cNvSpPr txBox="1"/>
          <p:nvPr/>
        </p:nvSpPr>
        <p:spPr>
          <a:xfrm>
            <a:off x="685800" y="2926080"/>
            <a:ext cx="1737360" cy="502920"/>
          </a:xfrm>
          <a:prstGeom prst="rect">
            <a:avLst/>
          </a:prstGeom>
          <a:noFill/>
          <a:ln/>
        </p:spPr>
        <p:txBody>
          <a:bodyPr wrap="square" lIns="0" tIns="0" rIns="0" bIns="0" rtlCol="0" anchor="t"/>
          <a:lstStyle/>
          <a:p>
            <a:pPr algn="ctr" indent="0" marL="0">
              <a:buNone/>
            </a:pPr>
            <a:r>
              <a:rPr lang="en-US" sz="1200" dirty="0">
                <a:solidFill>
                  <a:srgbClr val="A3ABBC"/>
                </a:solidFill>
                <a:latin typeface="Calibri" pitchFamily="34" charset="0"/>
                <a:ea typeface="Calibri" pitchFamily="34" charset="-122"/>
                <a:cs typeface="Calibri" pitchFamily="34" charset="-120"/>
              </a:rPr>
              <a:t>Sets up profile in the app</a:t>
            </a:r>
            <a:endParaRPr lang="en-US" sz="1200" dirty="0"/>
          </a:p>
        </p:txBody>
      </p:sp>
      <p:sp>
        <p:nvSpPr>
          <p:cNvPr id="10" name="Text 6"/>
          <p:cNvSpPr txBox="1"/>
          <p:nvPr/>
        </p:nvSpPr>
        <p:spPr>
          <a:xfrm>
            <a:off x="2560320" y="2148840"/>
            <a:ext cx="251460" cy="365760"/>
          </a:xfrm>
          <a:prstGeom prst="rect">
            <a:avLst/>
          </a:prstGeom>
          <a:noFill/>
          <a:ln/>
        </p:spPr>
        <p:txBody>
          <a:bodyPr wrap="square" lIns="0" tIns="0" rIns="0" bIns="0" rtlCol="0" anchor="ctr"/>
          <a:lstStyle/>
          <a:p>
            <a:pPr algn="ctr" indent="0" marL="0">
              <a:buNone/>
            </a:pPr>
            <a:r>
              <a:rPr lang="en-US" sz="1800" b="1" dirty="0">
                <a:solidFill>
                  <a:srgbClr val="EC4899"/>
                </a:solidFill>
                <a:latin typeface="Calibri" pitchFamily="34" charset="0"/>
                <a:ea typeface="Calibri" pitchFamily="34" charset="-122"/>
                <a:cs typeface="Calibri" pitchFamily="34" charset="-120"/>
              </a:rPr>
              <a:t>→</a:t>
            </a:r>
            <a:endParaRPr lang="en-US" sz="1800" dirty="0"/>
          </a:p>
        </p:txBody>
      </p:sp>
      <p:sp>
        <p:nvSpPr>
          <p:cNvPr id="11" name="card"/>
          <p:cNvSpPr/>
          <p:nvPr/>
        </p:nvSpPr>
        <p:spPr>
          <a:xfrm>
            <a:off x="2811780" y="1371600"/>
            <a:ext cx="2011680" cy="2148840"/>
          </a:xfrm>
          <a:prstGeom prst="roundRect">
            <a:avLst>
              <a:gd name="adj" fmla="val 5455"/>
            </a:avLst>
          </a:prstGeom>
          <a:solidFill>
            <a:srgbClr val="161B27"/>
          </a:solidFill>
          <a:ln w="12700">
            <a:solidFill>
              <a:srgbClr val="2B3240"/>
            </a:solidFill>
            <a:prstDash val="solid"/>
          </a:ln>
        </p:spPr>
      </p:sp>
      <p:sp>
        <p:nvSpPr>
          <p:cNvPr id="12" name="Text 8"/>
          <p:cNvSpPr txBox="1"/>
          <p:nvPr/>
        </p:nvSpPr>
        <p:spPr>
          <a:xfrm>
            <a:off x="2948940" y="1481328"/>
            <a:ext cx="365760" cy="274320"/>
          </a:xfrm>
          <a:prstGeom prst="rect">
            <a:avLst/>
          </a:prstGeom>
          <a:noFill/>
          <a:ln/>
        </p:spPr>
        <p:txBody>
          <a:bodyPr wrap="square" lIns="0" tIns="0" rIns="0" bIns="0" rtlCol="0" anchor="ctr"/>
          <a:lstStyle/>
          <a:p>
            <a:pPr indent="0" marL="0">
              <a:buNone/>
            </a:pPr>
            <a:r>
              <a:rPr lang="en-US" sz="1200" b="1" dirty="0">
                <a:solidFill>
                  <a:srgbClr val="EC4899"/>
                </a:solidFill>
                <a:latin typeface="Calibri" pitchFamily="34" charset="0"/>
                <a:ea typeface="Calibri" pitchFamily="34" charset="-122"/>
                <a:cs typeface="Calibri" pitchFamily="34" charset="-120"/>
              </a:rPr>
              <a:t>2</a:t>
            </a:r>
            <a:endParaRPr lang="en-US" sz="1200" dirty="0"/>
          </a:p>
        </p:txBody>
      </p:sp>
      <p:sp>
        <p:nvSpPr>
          <p:cNvPr id="13" name="icon-circle"/>
          <p:cNvSpPr/>
          <p:nvPr/>
        </p:nvSpPr>
        <p:spPr>
          <a:xfrm>
            <a:off x="3497580" y="1828800"/>
            <a:ext cx="640080" cy="640080"/>
          </a:xfrm>
          <a:prstGeom prst="ellipse">
            <a:avLst/>
          </a:prstGeom>
          <a:solidFill>
            <a:srgbClr val="241C45"/>
          </a:solidFill>
          <a:ln w="12700">
            <a:solidFill>
              <a:srgbClr val="8B5CF6"/>
            </a:solidFill>
            <a:prstDash val="solid"/>
          </a:ln>
        </p:spPr>
      </p:sp>
      <p:pic>
        <p:nvPicPr>
          <p:cNvPr id="14" name="icon" descr="preencoded.png">    </p:cNvPr>
          <p:cNvPicPr>
            <a:picLocks noChangeAspect="1"/>
          </p:cNvPicPr>
          <p:nvPr/>
        </p:nvPicPr>
        <p:blipFill>
          <a:blip r:embed="rId2"/>
          <a:stretch>
            <a:fillRect/>
          </a:stretch>
        </p:blipFill>
        <p:spPr>
          <a:xfrm>
            <a:off x="3657600" y="1988820"/>
            <a:ext cx="320040" cy="320040"/>
          </a:xfrm>
          <a:prstGeom prst="rect">
            <a:avLst/>
          </a:prstGeom>
        </p:spPr>
      </p:pic>
      <p:sp>
        <p:nvSpPr>
          <p:cNvPr id="15" name="Text 10"/>
          <p:cNvSpPr txBox="1"/>
          <p:nvPr/>
        </p:nvSpPr>
        <p:spPr>
          <a:xfrm>
            <a:off x="2903220" y="2560320"/>
            <a:ext cx="1828800" cy="365760"/>
          </a:xfrm>
          <a:prstGeom prst="rect">
            <a:avLst/>
          </a:prstGeom>
          <a:noFill/>
          <a:ln/>
        </p:spPr>
        <p:txBody>
          <a:bodyPr wrap="square" lIns="0" tIns="0" rIns="0" bIns="0" rtlCol="0" anchor="ctr"/>
          <a:lstStyle/>
          <a:p>
            <a:pPr algn="ctr" indent="0" marL="0">
              <a:buNone/>
            </a:pPr>
            <a:r>
              <a:rPr lang="en-US" sz="1500" b="1" dirty="0">
                <a:solidFill>
                  <a:srgbClr val="F5F7FB"/>
                </a:solidFill>
                <a:latin typeface="Calibri" pitchFamily="34" charset="0"/>
                <a:ea typeface="Calibri" pitchFamily="34" charset="-122"/>
                <a:cs typeface="Calibri" pitchFamily="34" charset="-120"/>
              </a:rPr>
              <a:t>Upload Receipt</a:t>
            </a:r>
            <a:endParaRPr lang="en-US" sz="1500" dirty="0"/>
          </a:p>
        </p:txBody>
      </p:sp>
      <p:sp>
        <p:nvSpPr>
          <p:cNvPr id="16" name="Text 11"/>
          <p:cNvSpPr txBox="1"/>
          <p:nvPr/>
        </p:nvSpPr>
        <p:spPr>
          <a:xfrm>
            <a:off x="2948940" y="2926080"/>
            <a:ext cx="1737360" cy="502920"/>
          </a:xfrm>
          <a:prstGeom prst="rect">
            <a:avLst/>
          </a:prstGeom>
          <a:noFill/>
          <a:ln/>
        </p:spPr>
        <p:txBody>
          <a:bodyPr wrap="square" lIns="0" tIns="0" rIns="0" bIns="0" rtlCol="0" anchor="t"/>
          <a:lstStyle/>
          <a:p>
            <a:pPr algn="ctr" indent="0" marL="0">
              <a:buNone/>
            </a:pPr>
            <a:r>
              <a:rPr lang="en-US" sz="1200" dirty="0">
                <a:solidFill>
                  <a:srgbClr val="A3ABBC"/>
                </a:solidFill>
                <a:latin typeface="Calibri" pitchFamily="34" charset="0"/>
                <a:ea typeface="Calibri" pitchFamily="34" charset="-122"/>
                <a:cs typeface="Calibri" pitchFamily="34" charset="-120"/>
              </a:rPr>
              <a:t>Upload or capture a receipt image</a:t>
            </a:r>
            <a:endParaRPr lang="en-US" sz="1200" dirty="0"/>
          </a:p>
        </p:txBody>
      </p:sp>
      <p:sp>
        <p:nvSpPr>
          <p:cNvPr id="17" name="Text 12"/>
          <p:cNvSpPr txBox="1"/>
          <p:nvPr/>
        </p:nvSpPr>
        <p:spPr>
          <a:xfrm>
            <a:off x="4823460" y="2148840"/>
            <a:ext cx="251460" cy="365760"/>
          </a:xfrm>
          <a:prstGeom prst="rect">
            <a:avLst/>
          </a:prstGeom>
          <a:noFill/>
          <a:ln/>
        </p:spPr>
        <p:txBody>
          <a:bodyPr wrap="square" lIns="0" tIns="0" rIns="0" bIns="0" rtlCol="0" anchor="ctr"/>
          <a:lstStyle/>
          <a:p>
            <a:pPr algn="ctr" indent="0" marL="0">
              <a:buNone/>
            </a:pPr>
            <a:r>
              <a:rPr lang="en-US" sz="1800" b="1" dirty="0">
                <a:solidFill>
                  <a:srgbClr val="EC4899"/>
                </a:solidFill>
                <a:latin typeface="Calibri" pitchFamily="34" charset="0"/>
                <a:ea typeface="Calibri" pitchFamily="34" charset="-122"/>
                <a:cs typeface="Calibri" pitchFamily="34" charset="-120"/>
              </a:rPr>
              <a:t>→</a:t>
            </a:r>
            <a:endParaRPr lang="en-US" sz="1800" dirty="0"/>
          </a:p>
        </p:txBody>
      </p:sp>
      <p:sp>
        <p:nvSpPr>
          <p:cNvPr id="18" name="card"/>
          <p:cNvSpPr/>
          <p:nvPr/>
        </p:nvSpPr>
        <p:spPr>
          <a:xfrm>
            <a:off x="5074920" y="1371600"/>
            <a:ext cx="2011680" cy="2148840"/>
          </a:xfrm>
          <a:prstGeom prst="roundRect">
            <a:avLst>
              <a:gd name="adj" fmla="val 5455"/>
            </a:avLst>
          </a:prstGeom>
          <a:solidFill>
            <a:srgbClr val="161B27"/>
          </a:solidFill>
          <a:ln w="12700">
            <a:solidFill>
              <a:srgbClr val="2B3240"/>
            </a:solidFill>
            <a:prstDash val="solid"/>
          </a:ln>
          <a:effectLst>
            <a:outerShdw sx="100000" sy="100000" kx="0" ky="0" algn="bl" rotWithShape="0" blurRad="177800" dist="50800" dir="16200000">
              <a:srgbClr val="8B5CF6">
                <a:alpha val="28000"/>
              </a:srgbClr>
            </a:outerShdw>
          </a:effectLst>
        </p:spPr>
      </p:sp>
      <p:sp>
        <p:nvSpPr>
          <p:cNvPr id="19" name="Text 14"/>
          <p:cNvSpPr txBox="1"/>
          <p:nvPr/>
        </p:nvSpPr>
        <p:spPr>
          <a:xfrm>
            <a:off x="5212080" y="1481328"/>
            <a:ext cx="365760" cy="274320"/>
          </a:xfrm>
          <a:prstGeom prst="rect">
            <a:avLst/>
          </a:prstGeom>
          <a:noFill/>
          <a:ln/>
        </p:spPr>
        <p:txBody>
          <a:bodyPr wrap="square" lIns="0" tIns="0" rIns="0" bIns="0" rtlCol="0" anchor="ctr"/>
          <a:lstStyle/>
          <a:p>
            <a:pPr indent="0" marL="0">
              <a:buNone/>
            </a:pPr>
            <a:r>
              <a:rPr lang="en-US" sz="1200" b="1" dirty="0">
                <a:solidFill>
                  <a:srgbClr val="EC4899"/>
                </a:solidFill>
                <a:latin typeface="Calibri" pitchFamily="34" charset="0"/>
                <a:ea typeface="Calibri" pitchFamily="34" charset="-122"/>
                <a:cs typeface="Calibri" pitchFamily="34" charset="-120"/>
              </a:rPr>
              <a:t>3</a:t>
            </a:r>
            <a:endParaRPr lang="en-US" sz="1200" dirty="0"/>
          </a:p>
        </p:txBody>
      </p:sp>
      <p:sp>
        <p:nvSpPr>
          <p:cNvPr id="20" name="Shape 15"/>
          <p:cNvSpPr/>
          <p:nvPr/>
        </p:nvSpPr>
        <p:spPr>
          <a:xfrm>
            <a:off x="5989320" y="1499616"/>
            <a:ext cx="960120" cy="237744"/>
          </a:xfrm>
          <a:prstGeom prst="roundRect">
            <a:avLst>
              <a:gd name="adj" fmla="val 30769"/>
            </a:avLst>
          </a:prstGeom>
          <a:solidFill>
            <a:srgbClr val="241C45"/>
          </a:solidFill>
          <a:ln w="9525">
            <a:solidFill>
              <a:srgbClr val="C4B5FD"/>
            </a:solidFill>
            <a:prstDash val="solid"/>
          </a:ln>
        </p:spPr>
      </p:sp>
      <p:sp>
        <p:nvSpPr>
          <p:cNvPr id="21" name="Text 16"/>
          <p:cNvSpPr txBox="1"/>
          <p:nvPr/>
        </p:nvSpPr>
        <p:spPr>
          <a:xfrm>
            <a:off x="5989320" y="1499616"/>
            <a:ext cx="960120" cy="237744"/>
          </a:xfrm>
          <a:prstGeom prst="rect">
            <a:avLst/>
          </a:prstGeom>
          <a:noFill/>
          <a:ln/>
        </p:spPr>
        <p:txBody>
          <a:bodyPr wrap="square" lIns="0" tIns="0" rIns="0" bIns="0" rtlCol="0" anchor="ctr"/>
          <a:lstStyle/>
          <a:p>
            <a:pPr algn="ctr" indent="0" marL="0">
              <a:buNone/>
            </a:pPr>
            <a:r>
              <a:rPr lang="en-US" sz="1000" b="1" dirty="0">
                <a:solidFill>
                  <a:srgbClr val="C4B5FD"/>
                </a:solidFill>
                <a:latin typeface="Calibri" pitchFamily="34" charset="0"/>
                <a:ea typeface="Calibri" pitchFamily="34" charset="-122"/>
                <a:cs typeface="Calibri" pitchFamily="34" charset="-120"/>
              </a:rPr>
              <a:t>GEMINI AI</a:t>
            </a:r>
            <a:endParaRPr lang="en-US" sz="1000" dirty="0"/>
          </a:p>
        </p:txBody>
      </p:sp>
      <p:sp>
        <p:nvSpPr>
          <p:cNvPr id="22" name="icon-circle"/>
          <p:cNvSpPr/>
          <p:nvPr/>
        </p:nvSpPr>
        <p:spPr>
          <a:xfrm>
            <a:off x="5760720" y="1828800"/>
            <a:ext cx="640080" cy="640080"/>
          </a:xfrm>
          <a:prstGeom prst="ellipse">
            <a:avLst/>
          </a:prstGeom>
          <a:solidFill>
            <a:srgbClr val="241C45"/>
          </a:solidFill>
          <a:ln w="12700">
            <a:solidFill>
              <a:srgbClr val="8B5CF6"/>
            </a:solidFill>
            <a:prstDash val="solid"/>
          </a:ln>
        </p:spPr>
      </p:sp>
      <p:pic>
        <p:nvPicPr>
          <p:cNvPr id="23" name="icon" descr="preencoded.png">    </p:cNvPr>
          <p:cNvPicPr>
            <a:picLocks noChangeAspect="1"/>
          </p:cNvPicPr>
          <p:nvPr/>
        </p:nvPicPr>
        <p:blipFill>
          <a:blip r:embed="rId3"/>
          <a:stretch>
            <a:fillRect/>
          </a:stretch>
        </p:blipFill>
        <p:spPr>
          <a:xfrm>
            <a:off x="5920740" y="1988820"/>
            <a:ext cx="320040" cy="320040"/>
          </a:xfrm>
          <a:prstGeom prst="rect">
            <a:avLst/>
          </a:prstGeom>
        </p:spPr>
      </p:pic>
      <p:sp>
        <p:nvSpPr>
          <p:cNvPr id="24" name="Text 18"/>
          <p:cNvSpPr txBox="1"/>
          <p:nvPr/>
        </p:nvSpPr>
        <p:spPr>
          <a:xfrm>
            <a:off x="5166360" y="2560320"/>
            <a:ext cx="1828800" cy="365760"/>
          </a:xfrm>
          <a:prstGeom prst="rect">
            <a:avLst/>
          </a:prstGeom>
          <a:noFill/>
          <a:ln/>
        </p:spPr>
        <p:txBody>
          <a:bodyPr wrap="square" lIns="0" tIns="0" rIns="0" bIns="0" rtlCol="0" anchor="ctr"/>
          <a:lstStyle/>
          <a:p>
            <a:pPr algn="ctr" indent="0" marL="0">
              <a:buNone/>
            </a:pPr>
            <a:r>
              <a:rPr lang="en-US" sz="1500" b="1" dirty="0">
                <a:solidFill>
                  <a:srgbClr val="F5F7FB"/>
                </a:solidFill>
                <a:latin typeface="Calibri" pitchFamily="34" charset="0"/>
                <a:ea typeface="Calibri" pitchFamily="34" charset="-122"/>
                <a:cs typeface="Calibri" pitchFamily="34" charset="-120"/>
              </a:rPr>
              <a:t>AI Receipt Analysis</a:t>
            </a:r>
            <a:endParaRPr lang="en-US" sz="1500" dirty="0"/>
          </a:p>
        </p:txBody>
      </p:sp>
      <p:sp>
        <p:nvSpPr>
          <p:cNvPr id="25" name="Text 19"/>
          <p:cNvSpPr txBox="1"/>
          <p:nvPr/>
        </p:nvSpPr>
        <p:spPr>
          <a:xfrm>
            <a:off x="5212080" y="2926080"/>
            <a:ext cx="1737360" cy="502920"/>
          </a:xfrm>
          <a:prstGeom prst="rect">
            <a:avLst/>
          </a:prstGeom>
          <a:noFill/>
          <a:ln/>
        </p:spPr>
        <p:txBody>
          <a:bodyPr wrap="square" lIns="0" tIns="0" rIns="0" bIns="0" rtlCol="0" anchor="t"/>
          <a:lstStyle/>
          <a:p>
            <a:pPr algn="ctr" indent="0" marL="0">
              <a:buNone/>
            </a:pPr>
            <a:r>
              <a:rPr lang="en-US" sz="1200" dirty="0">
                <a:solidFill>
                  <a:srgbClr val="A3ABBC"/>
                </a:solidFill>
                <a:latin typeface="Calibri" pitchFamily="34" charset="0"/>
                <a:ea typeface="Calibri" pitchFamily="34" charset="-122"/>
                <a:cs typeface="Calibri" pitchFamily="34" charset="-120"/>
              </a:rPr>
              <a:t>Gemini reads the image</a:t>
            </a:r>
            <a:endParaRPr lang="en-US" sz="1200" dirty="0"/>
          </a:p>
        </p:txBody>
      </p:sp>
      <p:sp>
        <p:nvSpPr>
          <p:cNvPr id="26" name="Text 20"/>
          <p:cNvSpPr txBox="1"/>
          <p:nvPr/>
        </p:nvSpPr>
        <p:spPr>
          <a:xfrm>
            <a:off x="7086600" y="2148840"/>
            <a:ext cx="251460" cy="365760"/>
          </a:xfrm>
          <a:prstGeom prst="rect">
            <a:avLst/>
          </a:prstGeom>
          <a:noFill/>
          <a:ln/>
        </p:spPr>
        <p:txBody>
          <a:bodyPr wrap="square" lIns="0" tIns="0" rIns="0" bIns="0" rtlCol="0" anchor="ctr"/>
          <a:lstStyle/>
          <a:p>
            <a:pPr algn="ctr" indent="0" marL="0">
              <a:buNone/>
            </a:pPr>
            <a:r>
              <a:rPr lang="en-US" sz="1800" b="1" dirty="0">
                <a:solidFill>
                  <a:srgbClr val="EC4899"/>
                </a:solidFill>
                <a:latin typeface="Calibri" pitchFamily="34" charset="0"/>
                <a:ea typeface="Calibri" pitchFamily="34" charset="-122"/>
                <a:cs typeface="Calibri" pitchFamily="34" charset="-120"/>
              </a:rPr>
              <a:t>→</a:t>
            </a:r>
            <a:endParaRPr lang="en-US" sz="1800" dirty="0"/>
          </a:p>
        </p:txBody>
      </p:sp>
      <p:sp>
        <p:nvSpPr>
          <p:cNvPr id="27" name="card"/>
          <p:cNvSpPr/>
          <p:nvPr/>
        </p:nvSpPr>
        <p:spPr>
          <a:xfrm>
            <a:off x="7338060" y="1371600"/>
            <a:ext cx="2011680" cy="2148840"/>
          </a:xfrm>
          <a:prstGeom prst="roundRect">
            <a:avLst>
              <a:gd name="adj" fmla="val 5455"/>
            </a:avLst>
          </a:prstGeom>
          <a:solidFill>
            <a:srgbClr val="161B27"/>
          </a:solidFill>
          <a:ln w="12700">
            <a:solidFill>
              <a:srgbClr val="2B3240"/>
            </a:solidFill>
            <a:prstDash val="solid"/>
          </a:ln>
        </p:spPr>
      </p:sp>
      <p:sp>
        <p:nvSpPr>
          <p:cNvPr id="28" name="Text 22"/>
          <p:cNvSpPr txBox="1"/>
          <p:nvPr/>
        </p:nvSpPr>
        <p:spPr>
          <a:xfrm>
            <a:off x="7475220" y="1481328"/>
            <a:ext cx="365760" cy="274320"/>
          </a:xfrm>
          <a:prstGeom prst="rect">
            <a:avLst/>
          </a:prstGeom>
          <a:noFill/>
          <a:ln/>
        </p:spPr>
        <p:txBody>
          <a:bodyPr wrap="square" lIns="0" tIns="0" rIns="0" bIns="0" rtlCol="0" anchor="ctr"/>
          <a:lstStyle/>
          <a:p>
            <a:pPr indent="0" marL="0">
              <a:buNone/>
            </a:pPr>
            <a:r>
              <a:rPr lang="en-US" sz="1200" b="1" dirty="0">
                <a:solidFill>
                  <a:srgbClr val="EC4899"/>
                </a:solidFill>
                <a:latin typeface="Calibri" pitchFamily="34" charset="0"/>
                <a:ea typeface="Calibri" pitchFamily="34" charset="-122"/>
                <a:cs typeface="Calibri" pitchFamily="34" charset="-120"/>
              </a:rPr>
              <a:t>4</a:t>
            </a:r>
            <a:endParaRPr lang="en-US" sz="1200" dirty="0"/>
          </a:p>
        </p:txBody>
      </p:sp>
      <p:sp>
        <p:nvSpPr>
          <p:cNvPr id="29" name="icon-circle"/>
          <p:cNvSpPr/>
          <p:nvPr/>
        </p:nvSpPr>
        <p:spPr>
          <a:xfrm>
            <a:off x="8023860" y="1828800"/>
            <a:ext cx="640080" cy="640080"/>
          </a:xfrm>
          <a:prstGeom prst="ellipse">
            <a:avLst/>
          </a:prstGeom>
          <a:solidFill>
            <a:srgbClr val="241C45"/>
          </a:solidFill>
          <a:ln w="12700">
            <a:solidFill>
              <a:srgbClr val="8B5CF6"/>
            </a:solidFill>
            <a:prstDash val="solid"/>
          </a:ln>
        </p:spPr>
      </p:sp>
      <p:pic>
        <p:nvPicPr>
          <p:cNvPr id="30" name="icon" descr="preencoded.png">    </p:cNvPr>
          <p:cNvPicPr>
            <a:picLocks noChangeAspect="1"/>
          </p:cNvPicPr>
          <p:nvPr/>
        </p:nvPicPr>
        <p:blipFill>
          <a:blip r:embed="rId4"/>
          <a:stretch>
            <a:fillRect/>
          </a:stretch>
        </p:blipFill>
        <p:spPr>
          <a:xfrm>
            <a:off x="8183880" y="1988820"/>
            <a:ext cx="320040" cy="320040"/>
          </a:xfrm>
          <a:prstGeom prst="rect">
            <a:avLst/>
          </a:prstGeom>
        </p:spPr>
      </p:pic>
      <p:sp>
        <p:nvSpPr>
          <p:cNvPr id="31" name="Text 24"/>
          <p:cNvSpPr txBox="1"/>
          <p:nvPr/>
        </p:nvSpPr>
        <p:spPr>
          <a:xfrm>
            <a:off x="7429500" y="2560320"/>
            <a:ext cx="1828800" cy="365760"/>
          </a:xfrm>
          <a:prstGeom prst="rect">
            <a:avLst/>
          </a:prstGeom>
          <a:noFill/>
          <a:ln/>
        </p:spPr>
        <p:txBody>
          <a:bodyPr wrap="square" lIns="0" tIns="0" rIns="0" bIns="0" rtlCol="0" anchor="ctr"/>
          <a:lstStyle/>
          <a:p>
            <a:pPr algn="ctr" indent="0" marL="0">
              <a:buNone/>
            </a:pPr>
            <a:r>
              <a:rPr lang="en-US" sz="1500" b="1" dirty="0">
                <a:solidFill>
                  <a:srgbClr val="F5F7FB"/>
                </a:solidFill>
                <a:latin typeface="Calibri" pitchFamily="34" charset="0"/>
                <a:ea typeface="Calibri" pitchFamily="34" charset="-122"/>
                <a:cs typeface="Calibri" pitchFamily="34" charset="-120"/>
              </a:rPr>
              <a:t>Extract Bill Info</a:t>
            </a:r>
            <a:endParaRPr lang="en-US" sz="1500" dirty="0"/>
          </a:p>
        </p:txBody>
      </p:sp>
      <p:sp>
        <p:nvSpPr>
          <p:cNvPr id="32" name="Text 25"/>
          <p:cNvSpPr txBox="1"/>
          <p:nvPr/>
        </p:nvSpPr>
        <p:spPr>
          <a:xfrm>
            <a:off x="7475220" y="2926080"/>
            <a:ext cx="1737360" cy="502920"/>
          </a:xfrm>
          <a:prstGeom prst="rect">
            <a:avLst/>
          </a:prstGeom>
          <a:noFill/>
          <a:ln/>
        </p:spPr>
        <p:txBody>
          <a:bodyPr wrap="square" lIns="0" tIns="0" rIns="0" bIns="0" rtlCol="0" anchor="t"/>
          <a:lstStyle/>
          <a:p>
            <a:pPr algn="ctr" indent="0" marL="0">
              <a:buNone/>
            </a:pPr>
            <a:r>
              <a:rPr lang="en-US" sz="1200" dirty="0">
                <a:solidFill>
                  <a:srgbClr val="A3ABBC"/>
                </a:solidFill>
                <a:latin typeface="Calibri" pitchFamily="34" charset="0"/>
                <a:ea typeface="Calibri" pitchFamily="34" charset="-122"/>
                <a:cs typeface="Calibri" pitchFamily="34" charset="-120"/>
              </a:rPr>
              <a:t>Merchant, items, tax, total</a:t>
            </a:r>
            <a:endParaRPr lang="en-US" sz="1200" dirty="0"/>
          </a:p>
        </p:txBody>
      </p:sp>
      <p:sp>
        <p:nvSpPr>
          <p:cNvPr id="33" name="Text 26"/>
          <p:cNvSpPr txBox="1"/>
          <p:nvPr/>
        </p:nvSpPr>
        <p:spPr>
          <a:xfrm>
            <a:off x="9349740" y="2148840"/>
            <a:ext cx="251460" cy="365760"/>
          </a:xfrm>
          <a:prstGeom prst="rect">
            <a:avLst/>
          </a:prstGeom>
          <a:noFill/>
          <a:ln/>
        </p:spPr>
        <p:txBody>
          <a:bodyPr wrap="square" lIns="0" tIns="0" rIns="0" bIns="0" rtlCol="0" anchor="ctr"/>
          <a:lstStyle/>
          <a:p>
            <a:pPr algn="ctr" indent="0" marL="0">
              <a:buNone/>
            </a:pPr>
            <a:r>
              <a:rPr lang="en-US" sz="1800" b="1" dirty="0">
                <a:solidFill>
                  <a:srgbClr val="EC4899"/>
                </a:solidFill>
                <a:latin typeface="Calibri" pitchFamily="34" charset="0"/>
                <a:ea typeface="Calibri" pitchFamily="34" charset="-122"/>
                <a:cs typeface="Calibri" pitchFamily="34" charset="-120"/>
              </a:rPr>
              <a:t>→</a:t>
            </a:r>
            <a:endParaRPr lang="en-US" sz="1800" dirty="0"/>
          </a:p>
        </p:txBody>
      </p:sp>
      <p:sp>
        <p:nvSpPr>
          <p:cNvPr id="34" name="card"/>
          <p:cNvSpPr/>
          <p:nvPr/>
        </p:nvSpPr>
        <p:spPr>
          <a:xfrm>
            <a:off x="9601200" y="1371600"/>
            <a:ext cx="2011680" cy="2148840"/>
          </a:xfrm>
          <a:prstGeom prst="roundRect">
            <a:avLst>
              <a:gd name="adj" fmla="val 5455"/>
            </a:avLst>
          </a:prstGeom>
          <a:solidFill>
            <a:srgbClr val="161B27"/>
          </a:solidFill>
          <a:ln w="12700">
            <a:solidFill>
              <a:srgbClr val="2B3240"/>
            </a:solidFill>
            <a:prstDash val="solid"/>
          </a:ln>
          <a:effectLst>
            <a:outerShdw sx="100000" sy="100000" kx="0" ky="0" algn="bl" rotWithShape="0" blurRad="177800" dist="50800" dir="16200000">
              <a:srgbClr val="8B5CF6">
                <a:alpha val="28000"/>
              </a:srgbClr>
            </a:outerShdw>
          </a:effectLst>
        </p:spPr>
      </p:sp>
      <p:sp>
        <p:nvSpPr>
          <p:cNvPr id="35" name="Text 28"/>
          <p:cNvSpPr txBox="1"/>
          <p:nvPr/>
        </p:nvSpPr>
        <p:spPr>
          <a:xfrm>
            <a:off x="9738360" y="1481328"/>
            <a:ext cx="365760" cy="274320"/>
          </a:xfrm>
          <a:prstGeom prst="rect">
            <a:avLst/>
          </a:prstGeom>
          <a:noFill/>
          <a:ln/>
        </p:spPr>
        <p:txBody>
          <a:bodyPr wrap="square" lIns="0" tIns="0" rIns="0" bIns="0" rtlCol="0" anchor="ctr"/>
          <a:lstStyle/>
          <a:p>
            <a:pPr indent="0" marL="0">
              <a:buNone/>
            </a:pPr>
            <a:r>
              <a:rPr lang="en-US" sz="1200" b="1" dirty="0">
                <a:solidFill>
                  <a:srgbClr val="EC4899"/>
                </a:solidFill>
                <a:latin typeface="Calibri" pitchFamily="34" charset="0"/>
                <a:ea typeface="Calibri" pitchFamily="34" charset="-122"/>
                <a:cs typeface="Calibri" pitchFamily="34" charset="-120"/>
              </a:rPr>
              <a:t>5</a:t>
            </a:r>
            <a:endParaRPr lang="en-US" sz="1200" dirty="0"/>
          </a:p>
        </p:txBody>
      </p:sp>
      <p:sp>
        <p:nvSpPr>
          <p:cNvPr id="36" name="Shape 29"/>
          <p:cNvSpPr/>
          <p:nvPr/>
        </p:nvSpPr>
        <p:spPr>
          <a:xfrm>
            <a:off x="10515600" y="1499616"/>
            <a:ext cx="960120" cy="237744"/>
          </a:xfrm>
          <a:prstGeom prst="roundRect">
            <a:avLst>
              <a:gd name="adj" fmla="val 30769"/>
            </a:avLst>
          </a:prstGeom>
          <a:solidFill>
            <a:srgbClr val="241C45"/>
          </a:solidFill>
          <a:ln w="9525">
            <a:solidFill>
              <a:srgbClr val="38BDF8"/>
            </a:solidFill>
            <a:prstDash val="solid"/>
          </a:ln>
        </p:spPr>
      </p:sp>
      <p:sp>
        <p:nvSpPr>
          <p:cNvPr id="37" name="Text 30"/>
          <p:cNvSpPr txBox="1"/>
          <p:nvPr/>
        </p:nvSpPr>
        <p:spPr>
          <a:xfrm>
            <a:off x="10515600" y="1499616"/>
            <a:ext cx="960120" cy="237744"/>
          </a:xfrm>
          <a:prstGeom prst="rect">
            <a:avLst/>
          </a:prstGeom>
          <a:noFill/>
          <a:ln/>
        </p:spPr>
        <p:txBody>
          <a:bodyPr wrap="square" lIns="0" tIns="0" rIns="0" bIns="0" rtlCol="0" anchor="ctr"/>
          <a:lstStyle/>
          <a:p>
            <a:pPr algn="ctr" indent="0" marL="0">
              <a:buNone/>
            </a:pPr>
            <a:r>
              <a:rPr lang="en-US" sz="1000" b="1" dirty="0">
                <a:solidFill>
                  <a:srgbClr val="38BDF8"/>
                </a:solidFill>
                <a:latin typeface="Calibri" pitchFamily="34" charset="0"/>
                <a:ea typeface="Calibri" pitchFamily="34" charset="-122"/>
                <a:cs typeface="Calibri" pitchFamily="34" charset="-120"/>
              </a:rPr>
              <a:t>PYTHON</a:t>
            </a:r>
            <a:endParaRPr lang="en-US" sz="1000" dirty="0"/>
          </a:p>
        </p:txBody>
      </p:sp>
      <p:sp>
        <p:nvSpPr>
          <p:cNvPr id="38" name="icon-circle"/>
          <p:cNvSpPr/>
          <p:nvPr/>
        </p:nvSpPr>
        <p:spPr>
          <a:xfrm>
            <a:off x="10287000" y="1828800"/>
            <a:ext cx="640080" cy="640080"/>
          </a:xfrm>
          <a:prstGeom prst="ellipse">
            <a:avLst/>
          </a:prstGeom>
          <a:solidFill>
            <a:srgbClr val="241C45"/>
          </a:solidFill>
          <a:ln w="12700">
            <a:solidFill>
              <a:srgbClr val="8B5CF6"/>
            </a:solidFill>
            <a:prstDash val="solid"/>
          </a:ln>
        </p:spPr>
      </p:sp>
      <p:pic>
        <p:nvPicPr>
          <p:cNvPr id="39" name="icon" descr="preencoded.png">    </p:cNvPr>
          <p:cNvPicPr>
            <a:picLocks noChangeAspect="1"/>
          </p:cNvPicPr>
          <p:nvPr/>
        </p:nvPicPr>
        <p:blipFill>
          <a:blip r:embed="rId5"/>
          <a:stretch>
            <a:fillRect/>
          </a:stretch>
        </p:blipFill>
        <p:spPr>
          <a:xfrm>
            <a:off x="10447020" y="1988820"/>
            <a:ext cx="320040" cy="320040"/>
          </a:xfrm>
          <a:prstGeom prst="rect">
            <a:avLst/>
          </a:prstGeom>
        </p:spPr>
      </p:pic>
      <p:sp>
        <p:nvSpPr>
          <p:cNvPr id="40" name="Text 32"/>
          <p:cNvSpPr txBox="1"/>
          <p:nvPr/>
        </p:nvSpPr>
        <p:spPr>
          <a:xfrm>
            <a:off x="9692640" y="2560320"/>
            <a:ext cx="1828800" cy="365760"/>
          </a:xfrm>
          <a:prstGeom prst="rect">
            <a:avLst/>
          </a:prstGeom>
          <a:noFill/>
          <a:ln/>
        </p:spPr>
        <p:txBody>
          <a:bodyPr wrap="square" lIns="0" tIns="0" rIns="0" bIns="0" rtlCol="0" anchor="ctr"/>
          <a:lstStyle/>
          <a:p>
            <a:pPr algn="ctr" indent="0" marL="0">
              <a:buNone/>
            </a:pPr>
            <a:r>
              <a:rPr lang="en-US" sz="1500" b="1" dirty="0">
                <a:solidFill>
                  <a:srgbClr val="F5F7FB"/>
                </a:solidFill>
                <a:latin typeface="Calibri" pitchFamily="34" charset="0"/>
                <a:ea typeface="Calibri" pitchFamily="34" charset="-122"/>
                <a:cs typeface="Calibri" pitchFamily="34" charset="-120"/>
              </a:rPr>
              <a:t>Verify Bill</a:t>
            </a:r>
            <a:endParaRPr lang="en-US" sz="1500" dirty="0"/>
          </a:p>
        </p:txBody>
      </p:sp>
      <p:sp>
        <p:nvSpPr>
          <p:cNvPr id="41" name="Text 33"/>
          <p:cNvSpPr txBox="1"/>
          <p:nvPr/>
        </p:nvSpPr>
        <p:spPr>
          <a:xfrm>
            <a:off x="9738360" y="2926080"/>
            <a:ext cx="1737360" cy="502920"/>
          </a:xfrm>
          <a:prstGeom prst="rect">
            <a:avLst/>
          </a:prstGeom>
          <a:noFill/>
          <a:ln/>
        </p:spPr>
        <p:txBody>
          <a:bodyPr wrap="square" lIns="0" tIns="0" rIns="0" bIns="0" rtlCol="0" anchor="t"/>
          <a:lstStyle/>
          <a:p>
            <a:pPr algn="ctr" indent="0" marL="0">
              <a:buNone/>
            </a:pPr>
            <a:r>
              <a:rPr lang="en-US" sz="1200" dirty="0">
                <a:solidFill>
                  <a:srgbClr val="A3ABBC"/>
                </a:solidFill>
                <a:latin typeface="Calibri" pitchFamily="34" charset="0"/>
                <a:ea typeface="Calibri" pitchFamily="34" charset="-122"/>
                <a:cs typeface="Calibri" pitchFamily="34" charset="-120"/>
              </a:rPr>
              <a:t>Arithmetic checked in Python</a:t>
            </a:r>
            <a:endParaRPr lang="en-US" sz="1200" dirty="0"/>
          </a:p>
        </p:txBody>
      </p:sp>
      <p:sp>
        <p:nvSpPr>
          <p:cNvPr id="42" name="card"/>
          <p:cNvSpPr/>
          <p:nvPr/>
        </p:nvSpPr>
        <p:spPr>
          <a:xfrm>
            <a:off x="548640" y="3931920"/>
            <a:ext cx="2011680" cy="2148840"/>
          </a:xfrm>
          <a:prstGeom prst="roundRect">
            <a:avLst>
              <a:gd name="adj" fmla="val 5455"/>
            </a:avLst>
          </a:prstGeom>
          <a:solidFill>
            <a:srgbClr val="161B27"/>
          </a:solidFill>
          <a:ln w="12700">
            <a:solidFill>
              <a:srgbClr val="2B3240"/>
            </a:solidFill>
            <a:prstDash val="solid"/>
          </a:ln>
        </p:spPr>
      </p:sp>
      <p:sp>
        <p:nvSpPr>
          <p:cNvPr id="43" name="Text 35"/>
          <p:cNvSpPr txBox="1"/>
          <p:nvPr/>
        </p:nvSpPr>
        <p:spPr>
          <a:xfrm>
            <a:off x="685800" y="4041648"/>
            <a:ext cx="365760" cy="274320"/>
          </a:xfrm>
          <a:prstGeom prst="rect">
            <a:avLst/>
          </a:prstGeom>
          <a:noFill/>
          <a:ln/>
        </p:spPr>
        <p:txBody>
          <a:bodyPr wrap="square" lIns="0" tIns="0" rIns="0" bIns="0" rtlCol="0" anchor="ctr"/>
          <a:lstStyle/>
          <a:p>
            <a:pPr indent="0" marL="0">
              <a:buNone/>
            </a:pPr>
            <a:r>
              <a:rPr lang="en-US" sz="1200" b="1" dirty="0">
                <a:solidFill>
                  <a:srgbClr val="EC4899"/>
                </a:solidFill>
                <a:latin typeface="Calibri" pitchFamily="34" charset="0"/>
                <a:ea typeface="Calibri" pitchFamily="34" charset="-122"/>
                <a:cs typeface="Calibri" pitchFamily="34" charset="-120"/>
              </a:rPr>
              <a:t>6</a:t>
            </a:r>
            <a:endParaRPr lang="en-US" sz="1200" dirty="0"/>
          </a:p>
        </p:txBody>
      </p:sp>
      <p:sp>
        <p:nvSpPr>
          <p:cNvPr id="44" name="icon-circle"/>
          <p:cNvSpPr/>
          <p:nvPr/>
        </p:nvSpPr>
        <p:spPr>
          <a:xfrm>
            <a:off x="1234440" y="4389120"/>
            <a:ext cx="640080" cy="640080"/>
          </a:xfrm>
          <a:prstGeom prst="ellipse">
            <a:avLst/>
          </a:prstGeom>
          <a:solidFill>
            <a:srgbClr val="241C45"/>
          </a:solidFill>
          <a:ln w="12700">
            <a:solidFill>
              <a:srgbClr val="8B5CF6"/>
            </a:solidFill>
            <a:prstDash val="solid"/>
          </a:ln>
        </p:spPr>
      </p:sp>
      <p:pic>
        <p:nvPicPr>
          <p:cNvPr id="45" name="icon" descr="preencoded.png">    </p:cNvPr>
          <p:cNvPicPr>
            <a:picLocks noChangeAspect="1"/>
          </p:cNvPicPr>
          <p:nvPr/>
        </p:nvPicPr>
        <p:blipFill>
          <a:blip r:embed="rId6"/>
          <a:stretch>
            <a:fillRect/>
          </a:stretch>
        </p:blipFill>
        <p:spPr>
          <a:xfrm>
            <a:off x="1394460" y="4549140"/>
            <a:ext cx="320040" cy="320040"/>
          </a:xfrm>
          <a:prstGeom prst="rect">
            <a:avLst/>
          </a:prstGeom>
        </p:spPr>
      </p:pic>
      <p:sp>
        <p:nvSpPr>
          <p:cNvPr id="46" name="Text 37"/>
          <p:cNvSpPr txBox="1"/>
          <p:nvPr/>
        </p:nvSpPr>
        <p:spPr>
          <a:xfrm>
            <a:off x="640080" y="5120640"/>
            <a:ext cx="1828800" cy="365760"/>
          </a:xfrm>
          <a:prstGeom prst="rect">
            <a:avLst/>
          </a:prstGeom>
          <a:noFill/>
          <a:ln/>
        </p:spPr>
        <p:txBody>
          <a:bodyPr wrap="square" lIns="0" tIns="0" rIns="0" bIns="0" rtlCol="0" anchor="ctr"/>
          <a:lstStyle/>
          <a:p>
            <a:pPr algn="ctr" indent="0" marL="0">
              <a:buNone/>
            </a:pPr>
            <a:r>
              <a:rPr lang="en-US" sz="1500" b="1" dirty="0">
                <a:solidFill>
                  <a:srgbClr val="F5F7FB"/>
                </a:solidFill>
                <a:latin typeface="Calibri" pitchFamily="34" charset="0"/>
                <a:ea typeface="Calibri" pitchFamily="34" charset="-122"/>
                <a:cs typeface="Calibri" pitchFamily="34" charset="-120"/>
              </a:rPr>
              <a:t>Manage Participants</a:t>
            </a:r>
            <a:endParaRPr lang="en-US" sz="1500" dirty="0"/>
          </a:p>
        </p:txBody>
      </p:sp>
      <p:sp>
        <p:nvSpPr>
          <p:cNvPr id="47" name="Text 38"/>
          <p:cNvSpPr txBox="1"/>
          <p:nvPr/>
        </p:nvSpPr>
        <p:spPr>
          <a:xfrm>
            <a:off x="685800" y="5486400"/>
            <a:ext cx="1737360" cy="502920"/>
          </a:xfrm>
          <a:prstGeom prst="rect">
            <a:avLst/>
          </a:prstGeom>
          <a:noFill/>
          <a:ln/>
        </p:spPr>
        <p:txBody>
          <a:bodyPr wrap="square" lIns="0" tIns="0" rIns="0" bIns="0" rtlCol="0" anchor="t"/>
          <a:lstStyle/>
          <a:p>
            <a:pPr algn="ctr" indent="0" marL="0">
              <a:buNone/>
            </a:pPr>
            <a:r>
              <a:rPr lang="en-US" sz="1200" dirty="0">
                <a:solidFill>
                  <a:srgbClr val="A3ABBC"/>
                </a:solidFill>
                <a:latin typeface="Calibri" pitchFamily="34" charset="0"/>
                <a:ea typeface="Calibri" pitchFamily="34" charset="-122"/>
                <a:cs typeface="Calibri" pitchFamily="34" charset="-120"/>
              </a:rPr>
              <a:t>Add names, email, phone</a:t>
            </a:r>
            <a:endParaRPr lang="en-US" sz="1200" dirty="0"/>
          </a:p>
        </p:txBody>
      </p:sp>
      <p:sp>
        <p:nvSpPr>
          <p:cNvPr id="48" name="Text 39"/>
          <p:cNvSpPr txBox="1"/>
          <p:nvPr/>
        </p:nvSpPr>
        <p:spPr>
          <a:xfrm>
            <a:off x="2560320" y="4709160"/>
            <a:ext cx="251460" cy="365760"/>
          </a:xfrm>
          <a:prstGeom prst="rect">
            <a:avLst/>
          </a:prstGeom>
          <a:noFill/>
          <a:ln/>
        </p:spPr>
        <p:txBody>
          <a:bodyPr wrap="square" lIns="0" tIns="0" rIns="0" bIns="0" rtlCol="0" anchor="ctr"/>
          <a:lstStyle/>
          <a:p>
            <a:pPr algn="ctr" indent="0" marL="0">
              <a:buNone/>
            </a:pPr>
            <a:r>
              <a:rPr lang="en-US" sz="1800" b="1" dirty="0">
                <a:solidFill>
                  <a:srgbClr val="EC4899"/>
                </a:solidFill>
                <a:latin typeface="Calibri" pitchFamily="34" charset="0"/>
                <a:ea typeface="Calibri" pitchFamily="34" charset="-122"/>
                <a:cs typeface="Calibri" pitchFamily="34" charset="-120"/>
              </a:rPr>
              <a:t>→</a:t>
            </a:r>
            <a:endParaRPr lang="en-US" sz="1800" dirty="0"/>
          </a:p>
        </p:txBody>
      </p:sp>
      <p:sp>
        <p:nvSpPr>
          <p:cNvPr id="49" name="card"/>
          <p:cNvSpPr/>
          <p:nvPr/>
        </p:nvSpPr>
        <p:spPr>
          <a:xfrm>
            <a:off x="2811780" y="3931920"/>
            <a:ext cx="2011680" cy="2148840"/>
          </a:xfrm>
          <a:prstGeom prst="roundRect">
            <a:avLst>
              <a:gd name="adj" fmla="val 5455"/>
            </a:avLst>
          </a:prstGeom>
          <a:solidFill>
            <a:srgbClr val="161B27"/>
          </a:solidFill>
          <a:ln w="12700">
            <a:solidFill>
              <a:srgbClr val="2B3240"/>
            </a:solidFill>
            <a:prstDash val="solid"/>
          </a:ln>
        </p:spPr>
      </p:sp>
      <p:sp>
        <p:nvSpPr>
          <p:cNvPr id="50" name="Text 41"/>
          <p:cNvSpPr txBox="1"/>
          <p:nvPr/>
        </p:nvSpPr>
        <p:spPr>
          <a:xfrm>
            <a:off x="2948940" y="4041648"/>
            <a:ext cx="365760" cy="274320"/>
          </a:xfrm>
          <a:prstGeom prst="rect">
            <a:avLst/>
          </a:prstGeom>
          <a:noFill/>
          <a:ln/>
        </p:spPr>
        <p:txBody>
          <a:bodyPr wrap="square" lIns="0" tIns="0" rIns="0" bIns="0" rtlCol="0" anchor="ctr"/>
          <a:lstStyle/>
          <a:p>
            <a:pPr indent="0" marL="0">
              <a:buNone/>
            </a:pPr>
            <a:r>
              <a:rPr lang="en-US" sz="1200" b="1" dirty="0">
                <a:solidFill>
                  <a:srgbClr val="EC4899"/>
                </a:solidFill>
                <a:latin typeface="Calibri" pitchFamily="34" charset="0"/>
                <a:ea typeface="Calibri" pitchFamily="34" charset="-122"/>
                <a:cs typeface="Calibri" pitchFamily="34" charset="-120"/>
              </a:rPr>
              <a:t>7</a:t>
            </a:r>
            <a:endParaRPr lang="en-US" sz="1200" dirty="0"/>
          </a:p>
        </p:txBody>
      </p:sp>
      <p:sp>
        <p:nvSpPr>
          <p:cNvPr id="51" name="icon-circle"/>
          <p:cNvSpPr/>
          <p:nvPr/>
        </p:nvSpPr>
        <p:spPr>
          <a:xfrm>
            <a:off x="3497580" y="4389120"/>
            <a:ext cx="640080" cy="640080"/>
          </a:xfrm>
          <a:prstGeom prst="ellipse">
            <a:avLst/>
          </a:prstGeom>
          <a:solidFill>
            <a:srgbClr val="241C45"/>
          </a:solidFill>
          <a:ln w="12700">
            <a:solidFill>
              <a:srgbClr val="8B5CF6"/>
            </a:solidFill>
            <a:prstDash val="solid"/>
          </a:ln>
        </p:spPr>
      </p:sp>
      <p:pic>
        <p:nvPicPr>
          <p:cNvPr id="52" name="icon" descr="preencoded.png">    </p:cNvPr>
          <p:cNvPicPr>
            <a:picLocks noChangeAspect="1"/>
          </p:cNvPicPr>
          <p:nvPr/>
        </p:nvPicPr>
        <p:blipFill>
          <a:blip r:embed="rId7"/>
          <a:stretch>
            <a:fillRect/>
          </a:stretch>
        </p:blipFill>
        <p:spPr>
          <a:xfrm>
            <a:off x="3657600" y="4549140"/>
            <a:ext cx="320040" cy="320040"/>
          </a:xfrm>
          <a:prstGeom prst="rect">
            <a:avLst/>
          </a:prstGeom>
        </p:spPr>
      </p:pic>
      <p:sp>
        <p:nvSpPr>
          <p:cNvPr id="53" name="Text 43"/>
          <p:cNvSpPr txBox="1"/>
          <p:nvPr/>
        </p:nvSpPr>
        <p:spPr>
          <a:xfrm>
            <a:off x="2903220" y="5120640"/>
            <a:ext cx="1828800" cy="365760"/>
          </a:xfrm>
          <a:prstGeom prst="rect">
            <a:avLst/>
          </a:prstGeom>
          <a:noFill/>
          <a:ln/>
        </p:spPr>
        <p:txBody>
          <a:bodyPr wrap="square" lIns="0" tIns="0" rIns="0" bIns="0" rtlCol="0" anchor="ctr"/>
          <a:lstStyle/>
          <a:p>
            <a:pPr algn="ctr" indent="0" marL="0">
              <a:buNone/>
            </a:pPr>
            <a:r>
              <a:rPr lang="en-US" sz="1500" b="1" dirty="0">
                <a:solidFill>
                  <a:srgbClr val="F5F7FB"/>
                </a:solidFill>
                <a:latin typeface="Calibri" pitchFamily="34" charset="0"/>
                <a:ea typeface="Calibri" pitchFamily="34" charset="-122"/>
                <a:cs typeface="Calibri" pitchFamily="34" charset="-120"/>
              </a:rPr>
              <a:t>Split Expenses</a:t>
            </a:r>
            <a:endParaRPr lang="en-US" sz="1500" dirty="0"/>
          </a:p>
        </p:txBody>
      </p:sp>
      <p:sp>
        <p:nvSpPr>
          <p:cNvPr id="54" name="Text 44"/>
          <p:cNvSpPr txBox="1"/>
          <p:nvPr/>
        </p:nvSpPr>
        <p:spPr>
          <a:xfrm>
            <a:off x="2948940" y="5486400"/>
            <a:ext cx="1737360" cy="502920"/>
          </a:xfrm>
          <a:prstGeom prst="rect">
            <a:avLst/>
          </a:prstGeom>
          <a:noFill/>
          <a:ln/>
        </p:spPr>
        <p:txBody>
          <a:bodyPr wrap="square" lIns="0" tIns="0" rIns="0" bIns="0" rtlCol="0" anchor="t"/>
          <a:lstStyle/>
          <a:p>
            <a:pPr algn="ctr" indent="0" marL="0">
              <a:buNone/>
            </a:pPr>
            <a:r>
              <a:rPr lang="en-US" sz="1200" dirty="0">
                <a:solidFill>
                  <a:srgbClr val="A3ABBC"/>
                </a:solidFill>
                <a:latin typeface="Calibri" pitchFamily="34" charset="0"/>
                <a:ea typeface="Calibri" pitchFamily="34" charset="-122"/>
                <a:cs typeface="Calibri" pitchFamily="34" charset="-120"/>
              </a:rPr>
              <a:t>Equal or item-based</a:t>
            </a:r>
            <a:endParaRPr lang="en-US" sz="1200" dirty="0"/>
          </a:p>
        </p:txBody>
      </p:sp>
      <p:sp>
        <p:nvSpPr>
          <p:cNvPr id="55" name="Text 45"/>
          <p:cNvSpPr txBox="1"/>
          <p:nvPr/>
        </p:nvSpPr>
        <p:spPr>
          <a:xfrm>
            <a:off x="4823460" y="4709160"/>
            <a:ext cx="251460" cy="365760"/>
          </a:xfrm>
          <a:prstGeom prst="rect">
            <a:avLst/>
          </a:prstGeom>
          <a:noFill/>
          <a:ln/>
        </p:spPr>
        <p:txBody>
          <a:bodyPr wrap="square" lIns="0" tIns="0" rIns="0" bIns="0" rtlCol="0" anchor="ctr"/>
          <a:lstStyle/>
          <a:p>
            <a:pPr algn="ctr" indent="0" marL="0">
              <a:buNone/>
            </a:pPr>
            <a:r>
              <a:rPr lang="en-US" sz="1800" b="1" dirty="0">
                <a:solidFill>
                  <a:srgbClr val="EC4899"/>
                </a:solidFill>
                <a:latin typeface="Calibri" pitchFamily="34" charset="0"/>
                <a:ea typeface="Calibri" pitchFamily="34" charset="-122"/>
                <a:cs typeface="Calibri" pitchFamily="34" charset="-120"/>
              </a:rPr>
              <a:t>→</a:t>
            </a:r>
            <a:endParaRPr lang="en-US" sz="1800" dirty="0"/>
          </a:p>
        </p:txBody>
      </p:sp>
      <p:sp>
        <p:nvSpPr>
          <p:cNvPr id="56" name="card"/>
          <p:cNvSpPr/>
          <p:nvPr/>
        </p:nvSpPr>
        <p:spPr>
          <a:xfrm>
            <a:off x="5074920" y="3931920"/>
            <a:ext cx="2011680" cy="2148840"/>
          </a:xfrm>
          <a:prstGeom prst="roundRect">
            <a:avLst>
              <a:gd name="adj" fmla="val 5455"/>
            </a:avLst>
          </a:prstGeom>
          <a:solidFill>
            <a:srgbClr val="161B27"/>
          </a:solidFill>
          <a:ln w="12700">
            <a:solidFill>
              <a:srgbClr val="2B3240"/>
            </a:solidFill>
            <a:prstDash val="solid"/>
          </a:ln>
          <a:effectLst>
            <a:outerShdw sx="100000" sy="100000" kx="0" ky="0" algn="bl" rotWithShape="0" blurRad="177800" dist="50800" dir="16200000">
              <a:srgbClr val="8B5CF6">
                <a:alpha val="28000"/>
              </a:srgbClr>
            </a:outerShdw>
          </a:effectLst>
        </p:spPr>
      </p:sp>
      <p:sp>
        <p:nvSpPr>
          <p:cNvPr id="57" name="Text 47"/>
          <p:cNvSpPr txBox="1"/>
          <p:nvPr/>
        </p:nvSpPr>
        <p:spPr>
          <a:xfrm>
            <a:off x="5212080" y="4041648"/>
            <a:ext cx="365760" cy="274320"/>
          </a:xfrm>
          <a:prstGeom prst="rect">
            <a:avLst/>
          </a:prstGeom>
          <a:noFill/>
          <a:ln/>
        </p:spPr>
        <p:txBody>
          <a:bodyPr wrap="square" lIns="0" tIns="0" rIns="0" bIns="0" rtlCol="0" anchor="ctr"/>
          <a:lstStyle/>
          <a:p>
            <a:pPr indent="0" marL="0">
              <a:buNone/>
            </a:pPr>
            <a:r>
              <a:rPr lang="en-US" sz="1200" b="1" dirty="0">
                <a:solidFill>
                  <a:srgbClr val="EC4899"/>
                </a:solidFill>
                <a:latin typeface="Calibri" pitchFamily="34" charset="0"/>
                <a:ea typeface="Calibri" pitchFamily="34" charset="-122"/>
                <a:cs typeface="Calibri" pitchFamily="34" charset="-120"/>
              </a:rPr>
              <a:t>8</a:t>
            </a:r>
            <a:endParaRPr lang="en-US" sz="1200" dirty="0"/>
          </a:p>
        </p:txBody>
      </p:sp>
      <p:sp>
        <p:nvSpPr>
          <p:cNvPr id="58" name="Shape 48"/>
          <p:cNvSpPr/>
          <p:nvPr/>
        </p:nvSpPr>
        <p:spPr>
          <a:xfrm>
            <a:off x="5989320" y="4059936"/>
            <a:ext cx="960120" cy="237744"/>
          </a:xfrm>
          <a:prstGeom prst="roundRect">
            <a:avLst>
              <a:gd name="adj" fmla="val 30769"/>
            </a:avLst>
          </a:prstGeom>
          <a:solidFill>
            <a:srgbClr val="241C45"/>
          </a:solidFill>
          <a:ln w="9525">
            <a:solidFill>
              <a:srgbClr val="38BDF8"/>
            </a:solidFill>
            <a:prstDash val="solid"/>
          </a:ln>
        </p:spPr>
      </p:sp>
      <p:sp>
        <p:nvSpPr>
          <p:cNvPr id="59" name="Text 49"/>
          <p:cNvSpPr txBox="1"/>
          <p:nvPr/>
        </p:nvSpPr>
        <p:spPr>
          <a:xfrm>
            <a:off x="5989320" y="4059936"/>
            <a:ext cx="960120" cy="237744"/>
          </a:xfrm>
          <a:prstGeom prst="rect">
            <a:avLst/>
          </a:prstGeom>
          <a:noFill/>
          <a:ln/>
        </p:spPr>
        <p:txBody>
          <a:bodyPr wrap="square" lIns="0" tIns="0" rIns="0" bIns="0" rtlCol="0" anchor="ctr"/>
          <a:lstStyle/>
          <a:p>
            <a:pPr algn="ctr" indent="0" marL="0">
              <a:buNone/>
            </a:pPr>
            <a:r>
              <a:rPr lang="en-US" sz="1000" b="1" dirty="0">
                <a:solidFill>
                  <a:srgbClr val="38BDF8"/>
                </a:solidFill>
                <a:latin typeface="Calibri" pitchFamily="34" charset="0"/>
                <a:ea typeface="Calibri" pitchFamily="34" charset="-122"/>
                <a:cs typeface="Calibri" pitchFamily="34" charset="-120"/>
              </a:rPr>
              <a:t>PYTHON</a:t>
            </a:r>
            <a:endParaRPr lang="en-US" sz="1000" dirty="0"/>
          </a:p>
        </p:txBody>
      </p:sp>
      <p:sp>
        <p:nvSpPr>
          <p:cNvPr id="60" name="icon-circle"/>
          <p:cNvSpPr/>
          <p:nvPr/>
        </p:nvSpPr>
        <p:spPr>
          <a:xfrm>
            <a:off x="5760720" y="4389120"/>
            <a:ext cx="640080" cy="640080"/>
          </a:xfrm>
          <a:prstGeom prst="ellipse">
            <a:avLst/>
          </a:prstGeom>
          <a:solidFill>
            <a:srgbClr val="241C45"/>
          </a:solidFill>
          <a:ln w="12700">
            <a:solidFill>
              <a:srgbClr val="8B5CF6"/>
            </a:solidFill>
            <a:prstDash val="solid"/>
          </a:ln>
        </p:spPr>
      </p:sp>
      <p:pic>
        <p:nvPicPr>
          <p:cNvPr id="61" name="icon" descr="preencoded.png">    </p:cNvPr>
          <p:cNvPicPr>
            <a:picLocks noChangeAspect="1"/>
          </p:cNvPicPr>
          <p:nvPr/>
        </p:nvPicPr>
        <p:blipFill>
          <a:blip r:embed="rId8"/>
          <a:stretch>
            <a:fillRect/>
          </a:stretch>
        </p:blipFill>
        <p:spPr>
          <a:xfrm>
            <a:off x="5920740" y="4549140"/>
            <a:ext cx="320040" cy="320040"/>
          </a:xfrm>
          <a:prstGeom prst="rect">
            <a:avLst/>
          </a:prstGeom>
        </p:spPr>
      </p:pic>
      <p:sp>
        <p:nvSpPr>
          <p:cNvPr id="62" name="Text 51"/>
          <p:cNvSpPr txBox="1"/>
          <p:nvPr/>
        </p:nvSpPr>
        <p:spPr>
          <a:xfrm>
            <a:off x="5166360" y="5120640"/>
            <a:ext cx="1828800" cy="365760"/>
          </a:xfrm>
          <a:prstGeom prst="rect">
            <a:avLst/>
          </a:prstGeom>
          <a:noFill/>
          <a:ln/>
        </p:spPr>
        <p:txBody>
          <a:bodyPr wrap="square" lIns="0" tIns="0" rIns="0" bIns="0" rtlCol="0" anchor="ctr"/>
          <a:lstStyle/>
          <a:p>
            <a:pPr algn="ctr" indent="0" marL="0">
              <a:buNone/>
            </a:pPr>
            <a:r>
              <a:rPr lang="en-US" sz="1500" b="1" dirty="0">
                <a:solidFill>
                  <a:srgbClr val="F5F7FB"/>
                </a:solidFill>
                <a:latin typeface="Calibri" pitchFamily="34" charset="0"/>
                <a:ea typeface="Calibri" pitchFamily="34" charset="-122"/>
                <a:cs typeface="Calibri" pitchFamily="34" charset="-120"/>
              </a:rPr>
              <a:t>Individual Shares</a:t>
            </a:r>
            <a:endParaRPr lang="en-US" sz="1500" dirty="0"/>
          </a:p>
        </p:txBody>
      </p:sp>
      <p:sp>
        <p:nvSpPr>
          <p:cNvPr id="63" name="Text 52"/>
          <p:cNvSpPr txBox="1"/>
          <p:nvPr/>
        </p:nvSpPr>
        <p:spPr>
          <a:xfrm>
            <a:off x="5212080" y="5486400"/>
            <a:ext cx="1737360" cy="502920"/>
          </a:xfrm>
          <a:prstGeom prst="rect">
            <a:avLst/>
          </a:prstGeom>
          <a:noFill/>
          <a:ln/>
        </p:spPr>
        <p:txBody>
          <a:bodyPr wrap="square" lIns="0" tIns="0" rIns="0" bIns="0" rtlCol="0" anchor="t"/>
          <a:lstStyle/>
          <a:p>
            <a:pPr algn="ctr" indent="0" marL="0">
              <a:buNone/>
            </a:pPr>
            <a:r>
              <a:rPr lang="en-US" sz="1200" dirty="0">
                <a:solidFill>
                  <a:srgbClr val="A3ABBC"/>
                </a:solidFill>
                <a:latin typeface="Calibri" pitchFamily="34" charset="0"/>
                <a:ea typeface="Calibri" pitchFamily="34" charset="-122"/>
                <a:cs typeface="Calibri" pitchFamily="34" charset="-120"/>
              </a:rPr>
              <a:t>Per-person totals, reconciled</a:t>
            </a:r>
            <a:endParaRPr lang="en-US" sz="1200" dirty="0"/>
          </a:p>
        </p:txBody>
      </p:sp>
      <p:sp>
        <p:nvSpPr>
          <p:cNvPr id="64" name="Text 53"/>
          <p:cNvSpPr txBox="1"/>
          <p:nvPr/>
        </p:nvSpPr>
        <p:spPr>
          <a:xfrm>
            <a:off x="7086600" y="4709160"/>
            <a:ext cx="251460" cy="365760"/>
          </a:xfrm>
          <a:prstGeom prst="rect">
            <a:avLst/>
          </a:prstGeom>
          <a:noFill/>
          <a:ln/>
        </p:spPr>
        <p:txBody>
          <a:bodyPr wrap="square" lIns="0" tIns="0" rIns="0" bIns="0" rtlCol="0" anchor="ctr"/>
          <a:lstStyle/>
          <a:p>
            <a:pPr algn="ctr" indent="0" marL="0">
              <a:buNone/>
            </a:pPr>
            <a:r>
              <a:rPr lang="en-US" sz="1800" b="1" dirty="0">
                <a:solidFill>
                  <a:srgbClr val="EC4899"/>
                </a:solidFill>
                <a:latin typeface="Calibri" pitchFamily="34" charset="0"/>
                <a:ea typeface="Calibri" pitchFamily="34" charset="-122"/>
                <a:cs typeface="Calibri" pitchFamily="34" charset="-120"/>
              </a:rPr>
              <a:t>→</a:t>
            </a:r>
            <a:endParaRPr lang="en-US" sz="1800" dirty="0"/>
          </a:p>
        </p:txBody>
      </p:sp>
      <p:sp>
        <p:nvSpPr>
          <p:cNvPr id="65" name="card"/>
          <p:cNvSpPr/>
          <p:nvPr/>
        </p:nvSpPr>
        <p:spPr>
          <a:xfrm>
            <a:off x="7338060" y="3931920"/>
            <a:ext cx="2011680" cy="2148840"/>
          </a:xfrm>
          <a:prstGeom prst="roundRect">
            <a:avLst>
              <a:gd name="adj" fmla="val 5455"/>
            </a:avLst>
          </a:prstGeom>
          <a:solidFill>
            <a:srgbClr val="161B27"/>
          </a:solidFill>
          <a:ln w="12700">
            <a:solidFill>
              <a:srgbClr val="2B3240"/>
            </a:solidFill>
            <a:prstDash val="solid"/>
          </a:ln>
          <a:effectLst>
            <a:outerShdw sx="100000" sy="100000" kx="0" ky="0" algn="bl" rotWithShape="0" blurRad="177800" dist="50800" dir="16200000">
              <a:srgbClr val="8B5CF6">
                <a:alpha val="28000"/>
              </a:srgbClr>
            </a:outerShdw>
          </a:effectLst>
        </p:spPr>
      </p:sp>
      <p:sp>
        <p:nvSpPr>
          <p:cNvPr id="66" name="Text 55"/>
          <p:cNvSpPr txBox="1"/>
          <p:nvPr/>
        </p:nvSpPr>
        <p:spPr>
          <a:xfrm>
            <a:off x="7475220" y="4041648"/>
            <a:ext cx="365760" cy="274320"/>
          </a:xfrm>
          <a:prstGeom prst="rect">
            <a:avLst/>
          </a:prstGeom>
          <a:noFill/>
          <a:ln/>
        </p:spPr>
        <p:txBody>
          <a:bodyPr wrap="square" lIns="0" tIns="0" rIns="0" bIns="0" rtlCol="0" anchor="ctr"/>
          <a:lstStyle/>
          <a:p>
            <a:pPr indent="0" marL="0">
              <a:buNone/>
            </a:pPr>
            <a:r>
              <a:rPr lang="en-US" sz="1200" b="1" dirty="0">
                <a:solidFill>
                  <a:srgbClr val="EC4899"/>
                </a:solidFill>
                <a:latin typeface="Calibri" pitchFamily="34" charset="0"/>
                <a:ea typeface="Calibri" pitchFamily="34" charset="-122"/>
                <a:cs typeface="Calibri" pitchFamily="34" charset="-120"/>
              </a:rPr>
              <a:t>9</a:t>
            </a:r>
            <a:endParaRPr lang="en-US" sz="1200" dirty="0"/>
          </a:p>
        </p:txBody>
      </p:sp>
      <p:sp>
        <p:nvSpPr>
          <p:cNvPr id="67" name="Shape 56"/>
          <p:cNvSpPr/>
          <p:nvPr/>
        </p:nvSpPr>
        <p:spPr>
          <a:xfrm>
            <a:off x="8252460" y="4059936"/>
            <a:ext cx="960120" cy="237744"/>
          </a:xfrm>
          <a:prstGeom prst="roundRect">
            <a:avLst>
              <a:gd name="adj" fmla="val 30769"/>
            </a:avLst>
          </a:prstGeom>
          <a:solidFill>
            <a:srgbClr val="241C45"/>
          </a:solidFill>
          <a:ln w="9525">
            <a:solidFill>
              <a:srgbClr val="C4B5FD"/>
            </a:solidFill>
            <a:prstDash val="solid"/>
          </a:ln>
        </p:spPr>
      </p:sp>
      <p:sp>
        <p:nvSpPr>
          <p:cNvPr id="68" name="Text 57"/>
          <p:cNvSpPr txBox="1"/>
          <p:nvPr/>
        </p:nvSpPr>
        <p:spPr>
          <a:xfrm>
            <a:off x="8252460" y="4059936"/>
            <a:ext cx="960120" cy="237744"/>
          </a:xfrm>
          <a:prstGeom prst="rect">
            <a:avLst/>
          </a:prstGeom>
          <a:noFill/>
          <a:ln/>
        </p:spPr>
        <p:txBody>
          <a:bodyPr wrap="square" lIns="0" tIns="0" rIns="0" bIns="0" rtlCol="0" anchor="ctr"/>
          <a:lstStyle/>
          <a:p>
            <a:pPr algn="ctr" indent="0" marL="0">
              <a:buNone/>
            </a:pPr>
            <a:r>
              <a:rPr lang="en-US" sz="1000" b="1" dirty="0">
                <a:solidFill>
                  <a:srgbClr val="C4B5FD"/>
                </a:solidFill>
                <a:latin typeface="Calibri" pitchFamily="34" charset="0"/>
                <a:ea typeface="Calibri" pitchFamily="34" charset="-122"/>
                <a:cs typeface="Calibri" pitchFamily="34" charset="-120"/>
              </a:rPr>
              <a:t>GEMINI AI</a:t>
            </a:r>
            <a:endParaRPr lang="en-US" sz="1000" dirty="0"/>
          </a:p>
        </p:txBody>
      </p:sp>
      <p:sp>
        <p:nvSpPr>
          <p:cNvPr id="69" name="icon-circle"/>
          <p:cNvSpPr/>
          <p:nvPr/>
        </p:nvSpPr>
        <p:spPr>
          <a:xfrm>
            <a:off x="8023860" y="4389120"/>
            <a:ext cx="640080" cy="640080"/>
          </a:xfrm>
          <a:prstGeom prst="ellipse">
            <a:avLst/>
          </a:prstGeom>
          <a:solidFill>
            <a:srgbClr val="241C45"/>
          </a:solidFill>
          <a:ln w="12700">
            <a:solidFill>
              <a:srgbClr val="8B5CF6"/>
            </a:solidFill>
            <a:prstDash val="solid"/>
          </a:ln>
        </p:spPr>
      </p:sp>
      <p:pic>
        <p:nvPicPr>
          <p:cNvPr id="70" name="icon" descr="preencoded.png">    </p:cNvPr>
          <p:cNvPicPr>
            <a:picLocks noChangeAspect="1"/>
          </p:cNvPicPr>
          <p:nvPr/>
        </p:nvPicPr>
        <p:blipFill>
          <a:blip r:embed="rId9"/>
          <a:stretch>
            <a:fillRect/>
          </a:stretch>
        </p:blipFill>
        <p:spPr>
          <a:xfrm>
            <a:off x="8183880" y="4549140"/>
            <a:ext cx="320040" cy="320040"/>
          </a:xfrm>
          <a:prstGeom prst="rect">
            <a:avLst/>
          </a:prstGeom>
        </p:spPr>
      </p:pic>
      <p:sp>
        <p:nvSpPr>
          <p:cNvPr id="71" name="Text 59"/>
          <p:cNvSpPr txBox="1"/>
          <p:nvPr/>
        </p:nvSpPr>
        <p:spPr>
          <a:xfrm>
            <a:off x="7429500" y="5120640"/>
            <a:ext cx="1828800" cy="365760"/>
          </a:xfrm>
          <a:prstGeom prst="rect">
            <a:avLst/>
          </a:prstGeom>
          <a:noFill/>
          <a:ln/>
        </p:spPr>
        <p:txBody>
          <a:bodyPr wrap="square" lIns="0" tIns="0" rIns="0" bIns="0" rtlCol="0" anchor="ctr"/>
          <a:lstStyle/>
          <a:p>
            <a:pPr algn="ctr" indent="0" marL="0">
              <a:buNone/>
            </a:pPr>
            <a:r>
              <a:rPr lang="en-US" sz="1500" b="1" dirty="0">
                <a:solidFill>
                  <a:srgbClr val="F5F7FB"/>
                </a:solidFill>
                <a:latin typeface="Calibri" pitchFamily="34" charset="0"/>
                <a:ea typeface="Calibri" pitchFamily="34" charset="-122"/>
                <a:cs typeface="Calibri" pitchFamily="34" charset="-120"/>
              </a:rPr>
              <a:t>AI Chat / Summary</a:t>
            </a:r>
            <a:endParaRPr lang="en-US" sz="1500" dirty="0"/>
          </a:p>
        </p:txBody>
      </p:sp>
      <p:sp>
        <p:nvSpPr>
          <p:cNvPr id="72" name="Text 60"/>
          <p:cNvSpPr txBox="1"/>
          <p:nvPr/>
        </p:nvSpPr>
        <p:spPr>
          <a:xfrm>
            <a:off x="7475220" y="5486400"/>
            <a:ext cx="1737360" cy="502920"/>
          </a:xfrm>
          <a:prstGeom prst="rect">
            <a:avLst/>
          </a:prstGeom>
          <a:noFill/>
          <a:ln/>
        </p:spPr>
        <p:txBody>
          <a:bodyPr wrap="square" lIns="0" tIns="0" rIns="0" bIns="0" rtlCol="0" anchor="t"/>
          <a:lstStyle/>
          <a:p>
            <a:pPr algn="ctr" indent="0" marL="0">
              <a:buNone/>
            </a:pPr>
            <a:r>
              <a:rPr lang="en-US" sz="1200" dirty="0">
                <a:solidFill>
                  <a:srgbClr val="A3ABBC"/>
                </a:solidFill>
                <a:latin typeface="Calibri" pitchFamily="34" charset="0"/>
                <a:ea typeface="Calibri" pitchFamily="34" charset="-122"/>
                <a:cs typeface="Calibri" pitchFamily="34" charset="-120"/>
              </a:rPr>
              <a:t>Ask questions, get a summary</a:t>
            </a:r>
            <a:endParaRPr lang="en-US" sz="1200" dirty="0"/>
          </a:p>
        </p:txBody>
      </p:sp>
      <p:sp>
        <p:nvSpPr>
          <p:cNvPr id="73" name="Text 61"/>
          <p:cNvSpPr txBox="1"/>
          <p:nvPr/>
        </p:nvSpPr>
        <p:spPr>
          <a:xfrm>
            <a:off x="9349740" y="4709160"/>
            <a:ext cx="251460" cy="365760"/>
          </a:xfrm>
          <a:prstGeom prst="rect">
            <a:avLst/>
          </a:prstGeom>
          <a:noFill/>
          <a:ln/>
        </p:spPr>
        <p:txBody>
          <a:bodyPr wrap="square" lIns="0" tIns="0" rIns="0" bIns="0" rtlCol="0" anchor="ctr"/>
          <a:lstStyle/>
          <a:p>
            <a:pPr algn="ctr" indent="0" marL="0">
              <a:buNone/>
            </a:pPr>
            <a:r>
              <a:rPr lang="en-US" sz="1800" b="1" dirty="0">
                <a:solidFill>
                  <a:srgbClr val="EC4899"/>
                </a:solidFill>
                <a:latin typeface="Calibri" pitchFamily="34" charset="0"/>
                <a:ea typeface="Calibri" pitchFamily="34" charset="-122"/>
                <a:cs typeface="Calibri" pitchFamily="34" charset="-120"/>
              </a:rPr>
              <a:t>→</a:t>
            </a:r>
            <a:endParaRPr lang="en-US" sz="1800" dirty="0"/>
          </a:p>
        </p:txBody>
      </p:sp>
      <p:sp>
        <p:nvSpPr>
          <p:cNvPr id="74" name="card"/>
          <p:cNvSpPr/>
          <p:nvPr/>
        </p:nvSpPr>
        <p:spPr>
          <a:xfrm>
            <a:off x="9601200" y="3931920"/>
            <a:ext cx="2011680" cy="2148840"/>
          </a:xfrm>
          <a:prstGeom prst="roundRect">
            <a:avLst>
              <a:gd name="adj" fmla="val 5455"/>
            </a:avLst>
          </a:prstGeom>
          <a:solidFill>
            <a:srgbClr val="161B27"/>
          </a:solidFill>
          <a:ln w="12700">
            <a:solidFill>
              <a:srgbClr val="2B3240"/>
            </a:solidFill>
            <a:prstDash val="solid"/>
          </a:ln>
        </p:spPr>
      </p:sp>
      <p:sp>
        <p:nvSpPr>
          <p:cNvPr id="75" name="Text 63"/>
          <p:cNvSpPr txBox="1"/>
          <p:nvPr/>
        </p:nvSpPr>
        <p:spPr>
          <a:xfrm>
            <a:off x="9738360" y="4041648"/>
            <a:ext cx="365760" cy="274320"/>
          </a:xfrm>
          <a:prstGeom prst="rect">
            <a:avLst/>
          </a:prstGeom>
          <a:noFill/>
          <a:ln/>
        </p:spPr>
        <p:txBody>
          <a:bodyPr wrap="square" lIns="0" tIns="0" rIns="0" bIns="0" rtlCol="0" anchor="ctr"/>
          <a:lstStyle/>
          <a:p>
            <a:pPr indent="0" marL="0">
              <a:buNone/>
            </a:pPr>
            <a:r>
              <a:rPr lang="en-US" sz="1200" b="1" dirty="0">
                <a:solidFill>
                  <a:srgbClr val="EC4899"/>
                </a:solidFill>
                <a:latin typeface="Calibri" pitchFamily="34" charset="0"/>
                <a:ea typeface="Calibri" pitchFamily="34" charset="-122"/>
                <a:cs typeface="Calibri" pitchFamily="34" charset="-120"/>
              </a:rPr>
              <a:t>10</a:t>
            </a:r>
            <a:endParaRPr lang="en-US" sz="1200" dirty="0"/>
          </a:p>
        </p:txBody>
      </p:sp>
      <p:sp>
        <p:nvSpPr>
          <p:cNvPr id="76" name="icon-circle"/>
          <p:cNvSpPr/>
          <p:nvPr/>
        </p:nvSpPr>
        <p:spPr>
          <a:xfrm>
            <a:off x="10287000" y="4389120"/>
            <a:ext cx="640080" cy="640080"/>
          </a:xfrm>
          <a:prstGeom prst="ellipse">
            <a:avLst/>
          </a:prstGeom>
          <a:solidFill>
            <a:srgbClr val="241C45"/>
          </a:solidFill>
          <a:ln w="12700">
            <a:solidFill>
              <a:srgbClr val="8B5CF6"/>
            </a:solidFill>
            <a:prstDash val="solid"/>
          </a:ln>
        </p:spPr>
      </p:sp>
      <p:pic>
        <p:nvPicPr>
          <p:cNvPr id="77" name="icon" descr="preencoded.png">    </p:cNvPr>
          <p:cNvPicPr>
            <a:picLocks noChangeAspect="1"/>
          </p:cNvPicPr>
          <p:nvPr/>
        </p:nvPicPr>
        <p:blipFill>
          <a:blip r:embed="rId10"/>
          <a:stretch>
            <a:fillRect/>
          </a:stretch>
        </p:blipFill>
        <p:spPr>
          <a:xfrm>
            <a:off x="10447020" y="4549140"/>
            <a:ext cx="320040" cy="320040"/>
          </a:xfrm>
          <a:prstGeom prst="rect">
            <a:avLst/>
          </a:prstGeom>
        </p:spPr>
      </p:pic>
      <p:sp>
        <p:nvSpPr>
          <p:cNvPr id="78" name="Text 65"/>
          <p:cNvSpPr txBox="1"/>
          <p:nvPr/>
        </p:nvSpPr>
        <p:spPr>
          <a:xfrm>
            <a:off x="9692640" y="5120640"/>
            <a:ext cx="1828800" cy="365760"/>
          </a:xfrm>
          <a:prstGeom prst="rect">
            <a:avLst/>
          </a:prstGeom>
          <a:noFill/>
          <a:ln/>
        </p:spPr>
        <p:txBody>
          <a:bodyPr wrap="square" lIns="0" tIns="0" rIns="0" bIns="0" rtlCol="0" anchor="ctr"/>
          <a:lstStyle/>
          <a:p>
            <a:pPr algn="ctr" indent="0" marL="0">
              <a:buNone/>
            </a:pPr>
            <a:r>
              <a:rPr lang="en-US" sz="1500" b="1" dirty="0">
                <a:solidFill>
                  <a:srgbClr val="F5F7FB"/>
                </a:solidFill>
                <a:latin typeface="Calibri" pitchFamily="34" charset="0"/>
                <a:ea typeface="Calibri" pitchFamily="34" charset="-122"/>
                <a:cs typeface="Calibri" pitchFamily="34" charset="-120"/>
              </a:rPr>
              <a:t>Share</a:t>
            </a:r>
            <a:endParaRPr lang="en-US" sz="1500" dirty="0"/>
          </a:p>
        </p:txBody>
      </p:sp>
      <p:sp>
        <p:nvSpPr>
          <p:cNvPr id="79" name="Text 66"/>
          <p:cNvSpPr txBox="1"/>
          <p:nvPr/>
        </p:nvSpPr>
        <p:spPr>
          <a:xfrm>
            <a:off x="9738360" y="5486400"/>
            <a:ext cx="1737360" cy="502920"/>
          </a:xfrm>
          <a:prstGeom prst="rect">
            <a:avLst/>
          </a:prstGeom>
          <a:noFill/>
          <a:ln/>
        </p:spPr>
        <p:txBody>
          <a:bodyPr wrap="square" lIns="0" tIns="0" rIns="0" bIns="0" rtlCol="0" anchor="t"/>
          <a:lstStyle/>
          <a:p>
            <a:pPr algn="ctr" indent="0" marL="0">
              <a:buNone/>
            </a:pPr>
            <a:r>
              <a:rPr lang="en-US" sz="1200" dirty="0">
                <a:solidFill>
                  <a:srgbClr val="A3ABBC"/>
                </a:solidFill>
                <a:latin typeface="Calibri" pitchFamily="34" charset="0"/>
                <a:ea typeface="Calibri" pitchFamily="34" charset="-122"/>
                <a:cs typeface="Calibri" pitchFamily="34" charset="-120"/>
              </a:rPr>
              <a:t>Email or WhatsApp</a:t>
            </a:r>
            <a:endParaRPr lang="en-US" sz="12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899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rgbClr val="F5F7FB"/>
                </a:solidFill>
                <a:latin typeface="Calibri" pitchFamily="34" charset="0"/>
                <a:ea typeface="Calibri" pitchFamily="34" charset="-122"/>
                <a:cs typeface="Calibri" pitchFamily="34" charset="-120"/>
              </a:rPr>
              <a:t>System Architecture &amp; Technologies</a:t>
            </a:r>
            <a:endParaRPr lang="en-US" sz="3600" dirty="0"/>
          </a:p>
        </p:txBody>
      </p:sp>
      <p:sp>
        <p:nvSpPr>
          <p:cNvPr id="4" name="card"/>
          <p:cNvSpPr/>
          <p:nvPr/>
        </p:nvSpPr>
        <p:spPr>
          <a:xfrm>
            <a:off x="548640" y="1325880"/>
            <a:ext cx="2377440" cy="1188720"/>
          </a:xfrm>
          <a:prstGeom prst="roundRect">
            <a:avLst>
              <a:gd name="adj" fmla="val 9231"/>
            </a:avLst>
          </a:prstGeom>
          <a:solidFill>
            <a:srgbClr val="161B27"/>
          </a:solidFill>
          <a:ln w="12700">
            <a:solidFill>
              <a:srgbClr val="2B3240"/>
            </a:solidFill>
            <a:prstDash val="solid"/>
          </a:ln>
        </p:spPr>
      </p:sp>
      <p:sp>
        <p:nvSpPr>
          <p:cNvPr id="5" name="icon-circle"/>
          <p:cNvSpPr/>
          <p:nvPr/>
        </p:nvSpPr>
        <p:spPr>
          <a:xfrm>
            <a:off x="685800" y="1600200"/>
            <a:ext cx="640080" cy="640080"/>
          </a:xfrm>
          <a:prstGeom prst="ellipse">
            <a:avLst/>
          </a:prstGeom>
          <a:solidFill>
            <a:srgbClr val="241C45"/>
          </a:solidFill>
          <a:ln w="12700">
            <a:solidFill>
              <a:srgbClr val="8B5CF6"/>
            </a:solidFill>
            <a:prstDash val="solid"/>
          </a:ln>
        </p:spPr>
      </p:sp>
      <p:pic>
        <p:nvPicPr>
          <p:cNvPr id="6" name="icon" descr="preencoded.png">    </p:cNvPr>
          <p:cNvPicPr>
            <a:picLocks noChangeAspect="1"/>
          </p:cNvPicPr>
          <p:nvPr/>
        </p:nvPicPr>
        <p:blipFill>
          <a:blip r:embed="rId1"/>
          <a:stretch>
            <a:fillRect/>
          </a:stretch>
        </p:blipFill>
        <p:spPr>
          <a:xfrm>
            <a:off x="845820" y="1760220"/>
            <a:ext cx="320040" cy="320040"/>
          </a:xfrm>
          <a:prstGeom prst="rect">
            <a:avLst/>
          </a:prstGeom>
        </p:spPr>
      </p:pic>
      <p:sp>
        <p:nvSpPr>
          <p:cNvPr id="7" name="Text 3"/>
          <p:cNvSpPr txBox="1"/>
          <p:nvPr/>
        </p:nvSpPr>
        <p:spPr>
          <a:xfrm>
            <a:off x="1417320" y="1508760"/>
            <a:ext cx="1417320" cy="457200"/>
          </a:xfrm>
          <a:prstGeom prst="rect">
            <a:avLst/>
          </a:prstGeom>
          <a:noFill/>
          <a:ln/>
        </p:spPr>
        <p:txBody>
          <a:bodyPr wrap="square" lIns="0" tIns="0" rIns="0" bIns="0" rtlCol="0" anchor="b"/>
          <a:lstStyle/>
          <a:p>
            <a:pPr indent="0" marL="0">
              <a:buNone/>
            </a:pPr>
            <a:r>
              <a:rPr lang="en-US" sz="1400" b="1" dirty="0">
                <a:solidFill>
                  <a:srgbClr val="F5F7FB"/>
                </a:solidFill>
                <a:latin typeface="Calibri" pitchFamily="34" charset="0"/>
                <a:ea typeface="Calibri" pitchFamily="34" charset="-122"/>
                <a:cs typeface="Calibri" pitchFamily="34" charset="-120"/>
              </a:rPr>
              <a:t>User</a:t>
            </a:r>
            <a:endParaRPr lang="en-US" sz="1400" dirty="0"/>
          </a:p>
        </p:txBody>
      </p:sp>
      <p:sp>
        <p:nvSpPr>
          <p:cNvPr id="8" name="Text 4"/>
          <p:cNvSpPr txBox="1"/>
          <p:nvPr/>
        </p:nvSpPr>
        <p:spPr>
          <a:xfrm>
            <a:off x="1417320" y="1984248"/>
            <a:ext cx="1417320" cy="411480"/>
          </a:xfrm>
          <a:prstGeom prst="rect">
            <a:avLst/>
          </a:prstGeom>
          <a:noFill/>
          <a:ln/>
        </p:spPr>
        <p:txBody>
          <a:bodyPr wrap="square" lIns="0" tIns="0" rIns="0" bIns="0" rtlCol="0" anchor="t"/>
          <a:lstStyle/>
          <a:p>
            <a:pPr indent="0" marL="0">
              <a:buNone/>
            </a:pPr>
            <a:r>
              <a:rPr lang="en-US" sz="1100" dirty="0">
                <a:solidFill>
                  <a:srgbClr val="A3ABBC"/>
                </a:solidFill>
                <a:latin typeface="Calibri" pitchFamily="34" charset="0"/>
                <a:ea typeface="Calibri" pitchFamily="34" charset="-122"/>
                <a:cs typeface="Calibri" pitchFamily="34" charset="-120"/>
              </a:rPr>
              <a:t>Browser</a:t>
            </a:r>
            <a:endParaRPr lang="en-US" sz="1100" dirty="0"/>
          </a:p>
        </p:txBody>
      </p:sp>
      <p:sp>
        <p:nvSpPr>
          <p:cNvPr id="9" name="card"/>
          <p:cNvSpPr/>
          <p:nvPr/>
        </p:nvSpPr>
        <p:spPr>
          <a:xfrm>
            <a:off x="3444240" y="1325880"/>
            <a:ext cx="2377440" cy="1188720"/>
          </a:xfrm>
          <a:prstGeom prst="roundRect">
            <a:avLst>
              <a:gd name="adj" fmla="val 9231"/>
            </a:avLst>
          </a:prstGeom>
          <a:solidFill>
            <a:srgbClr val="161B27"/>
          </a:solidFill>
          <a:ln w="12700">
            <a:solidFill>
              <a:srgbClr val="2B3240"/>
            </a:solidFill>
            <a:prstDash val="solid"/>
          </a:ln>
        </p:spPr>
      </p:sp>
      <p:sp>
        <p:nvSpPr>
          <p:cNvPr id="10" name="icon-circle"/>
          <p:cNvSpPr/>
          <p:nvPr/>
        </p:nvSpPr>
        <p:spPr>
          <a:xfrm>
            <a:off x="3581400" y="1600200"/>
            <a:ext cx="640080" cy="640080"/>
          </a:xfrm>
          <a:prstGeom prst="ellipse">
            <a:avLst/>
          </a:prstGeom>
          <a:solidFill>
            <a:srgbClr val="241C45"/>
          </a:solidFill>
          <a:ln w="12700">
            <a:solidFill>
              <a:srgbClr val="8B5CF6"/>
            </a:solidFill>
            <a:prstDash val="solid"/>
          </a:ln>
        </p:spPr>
      </p:sp>
      <p:pic>
        <p:nvPicPr>
          <p:cNvPr id="11" name="icon" descr="preencoded.png">    </p:cNvPr>
          <p:cNvPicPr>
            <a:picLocks noChangeAspect="1"/>
          </p:cNvPicPr>
          <p:nvPr/>
        </p:nvPicPr>
        <p:blipFill>
          <a:blip r:embed="rId2"/>
          <a:stretch>
            <a:fillRect/>
          </a:stretch>
        </p:blipFill>
        <p:spPr>
          <a:xfrm>
            <a:off x="3741420" y="1760220"/>
            <a:ext cx="320040" cy="320040"/>
          </a:xfrm>
          <a:prstGeom prst="rect">
            <a:avLst/>
          </a:prstGeom>
        </p:spPr>
      </p:pic>
      <p:sp>
        <p:nvSpPr>
          <p:cNvPr id="12" name="Text 7"/>
          <p:cNvSpPr txBox="1"/>
          <p:nvPr/>
        </p:nvSpPr>
        <p:spPr>
          <a:xfrm>
            <a:off x="4312920" y="1508760"/>
            <a:ext cx="1417320" cy="457200"/>
          </a:xfrm>
          <a:prstGeom prst="rect">
            <a:avLst/>
          </a:prstGeom>
          <a:noFill/>
          <a:ln/>
        </p:spPr>
        <p:txBody>
          <a:bodyPr wrap="square" lIns="0" tIns="0" rIns="0" bIns="0" rtlCol="0" anchor="b"/>
          <a:lstStyle/>
          <a:p>
            <a:pPr indent="0" marL="0">
              <a:buNone/>
            </a:pPr>
            <a:r>
              <a:rPr lang="en-US" sz="1400" b="1" dirty="0">
                <a:solidFill>
                  <a:srgbClr val="F5F7FB"/>
                </a:solidFill>
                <a:latin typeface="Calibri" pitchFamily="34" charset="0"/>
                <a:ea typeface="Calibri" pitchFamily="34" charset="-122"/>
                <a:cs typeface="Calibri" pitchFamily="34" charset="-120"/>
              </a:rPr>
              <a:t>Streamlit Interface</a:t>
            </a:r>
            <a:endParaRPr lang="en-US" sz="1400" dirty="0"/>
          </a:p>
        </p:txBody>
      </p:sp>
      <p:sp>
        <p:nvSpPr>
          <p:cNvPr id="13" name="Text 8"/>
          <p:cNvSpPr txBox="1"/>
          <p:nvPr/>
        </p:nvSpPr>
        <p:spPr>
          <a:xfrm>
            <a:off x="4312920" y="1984248"/>
            <a:ext cx="1417320" cy="411480"/>
          </a:xfrm>
          <a:prstGeom prst="rect">
            <a:avLst/>
          </a:prstGeom>
          <a:noFill/>
          <a:ln/>
        </p:spPr>
        <p:txBody>
          <a:bodyPr wrap="square" lIns="0" tIns="0" rIns="0" bIns="0" rtlCol="0" anchor="t"/>
          <a:lstStyle/>
          <a:p>
            <a:pPr indent="0" marL="0">
              <a:buNone/>
            </a:pPr>
            <a:r>
              <a:rPr lang="en-US" sz="1100" dirty="0">
                <a:solidFill>
                  <a:srgbClr val="A3ABBC"/>
                </a:solidFill>
                <a:latin typeface="Calibri" pitchFamily="34" charset="0"/>
                <a:ea typeface="Calibri" pitchFamily="34" charset="-122"/>
                <a:cs typeface="Calibri" pitchFamily="34" charset="-120"/>
              </a:rPr>
              <a:t>app.py UI</a:t>
            </a:r>
            <a:endParaRPr lang="en-US" sz="1100" dirty="0"/>
          </a:p>
        </p:txBody>
      </p:sp>
      <p:sp>
        <p:nvSpPr>
          <p:cNvPr id="14" name="card"/>
          <p:cNvSpPr/>
          <p:nvPr/>
        </p:nvSpPr>
        <p:spPr>
          <a:xfrm>
            <a:off x="6339840" y="1325880"/>
            <a:ext cx="2377440" cy="1188720"/>
          </a:xfrm>
          <a:prstGeom prst="roundRect">
            <a:avLst>
              <a:gd name="adj" fmla="val 9231"/>
            </a:avLst>
          </a:prstGeom>
          <a:solidFill>
            <a:srgbClr val="161B27"/>
          </a:solidFill>
          <a:ln w="12700">
            <a:solidFill>
              <a:srgbClr val="2B3240"/>
            </a:solidFill>
            <a:prstDash val="solid"/>
          </a:ln>
        </p:spPr>
      </p:sp>
      <p:sp>
        <p:nvSpPr>
          <p:cNvPr id="15" name="icon-circle"/>
          <p:cNvSpPr/>
          <p:nvPr/>
        </p:nvSpPr>
        <p:spPr>
          <a:xfrm>
            <a:off x="6477000" y="1600200"/>
            <a:ext cx="640080" cy="640080"/>
          </a:xfrm>
          <a:prstGeom prst="ellipse">
            <a:avLst/>
          </a:prstGeom>
          <a:solidFill>
            <a:srgbClr val="241C45"/>
          </a:solidFill>
          <a:ln w="12700">
            <a:solidFill>
              <a:srgbClr val="8B5CF6"/>
            </a:solidFill>
            <a:prstDash val="solid"/>
          </a:ln>
        </p:spPr>
      </p:sp>
      <p:pic>
        <p:nvPicPr>
          <p:cNvPr id="16" name="icon" descr="preencoded.png">    </p:cNvPr>
          <p:cNvPicPr>
            <a:picLocks noChangeAspect="1"/>
          </p:cNvPicPr>
          <p:nvPr/>
        </p:nvPicPr>
        <p:blipFill>
          <a:blip r:embed="rId3"/>
          <a:stretch>
            <a:fillRect/>
          </a:stretch>
        </p:blipFill>
        <p:spPr>
          <a:xfrm>
            <a:off x="6637020" y="1760220"/>
            <a:ext cx="320040" cy="320040"/>
          </a:xfrm>
          <a:prstGeom prst="rect">
            <a:avLst/>
          </a:prstGeom>
        </p:spPr>
      </p:pic>
      <p:sp>
        <p:nvSpPr>
          <p:cNvPr id="17" name="Text 11"/>
          <p:cNvSpPr txBox="1"/>
          <p:nvPr/>
        </p:nvSpPr>
        <p:spPr>
          <a:xfrm>
            <a:off x="7208520" y="1508760"/>
            <a:ext cx="1417320" cy="457200"/>
          </a:xfrm>
          <a:prstGeom prst="rect">
            <a:avLst/>
          </a:prstGeom>
          <a:noFill/>
          <a:ln/>
        </p:spPr>
        <p:txBody>
          <a:bodyPr wrap="square" lIns="0" tIns="0" rIns="0" bIns="0" rtlCol="0" anchor="b"/>
          <a:lstStyle/>
          <a:p>
            <a:pPr indent="0" marL="0">
              <a:buNone/>
            </a:pPr>
            <a:r>
              <a:rPr lang="en-US" sz="1400" b="1" dirty="0">
                <a:solidFill>
                  <a:srgbClr val="F5F7FB"/>
                </a:solidFill>
                <a:latin typeface="Calibri" pitchFamily="34" charset="0"/>
                <a:ea typeface="Calibri" pitchFamily="34" charset="-122"/>
                <a:cs typeface="Calibri" pitchFamily="34" charset="-120"/>
              </a:rPr>
              <a:t>Image Preparation</a:t>
            </a:r>
            <a:endParaRPr lang="en-US" sz="1400" dirty="0"/>
          </a:p>
        </p:txBody>
      </p:sp>
      <p:sp>
        <p:nvSpPr>
          <p:cNvPr id="18" name="Text 12"/>
          <p:cNvSpPr txBox="1"/>
          <p:nvPr/>
        </p:nvSpPr>
        <p:spPr>
          <a:xfrm>
            <a:off x="7208520" y="1984248"/>
            <a:ext cx="1417320" cy="411480"/>
          </a:xfrm>
          <a:prstGeom prst="rect">
            <a:avLst/>
          </a:prstGeom>
          <a:noFill/>
          <a:ln/>
        </p:spPr>
        <p:txBody>
          <a:bodyPr wrap="square" lIns="0" tIns="0" rIns="0" bIns="0" rtlCol="0" anchor="t"/>
          <a:lstStyle/>
          <a:p>
            <a:pPr indent="0" marL="0">
              <a:buNone/>
            </a:pPr>
            <a:r>
              <a:rPr lang="en-US" sz="1100" dirty="0">
                <a:solidFill>
                  <a:srgbClr val="A3ABBC"/>
                </a:solidFill>
                <a:latin typeface="Calibri" pitchFamily="34" charset="0"/>
                <a:ea typeface="Calibri" pitchFamily="34" charset="-122"/>
                <a:cs typeface="Calibri" pitchFamily="34" charset="-120"/>
              </a:rPr>
              <a:t>Pillow</a:t>
            </a:r>
            <a:endParaRPr lang="en-US" sz="1100" dirty="0"/>
          </a:p>
        </p:txBody>
      </p:sp>
      <p:sp>
        <p:nvSpPr>
          <p:cNvPr id="19" name="card"/>
          <p:cNvSpPr/>
          <p:nvPr/>
        </p:nvSpPr>
        <p:spPr>
          <a:xfrm>
            <a:off x="9235440" y="1325880"/>
            <a:ext cx="2377440" cy="1188720"/>
          </a:xfrm>
          <a:prstGeom prst="roundRect">
            <a:avLst>
              <a:gd name="adj" fmla="val 9231"/>
            </a:avLst>
          </a:prstGeom>
          <a:solidFill>
            <a:srgbClr val="161B27"/>
          </a:solidFill>
          <a:ln w="12700">
            <a:solidFill>
              <a:srgbClr val="2B3240"/>
            </a:solidFill>
            <a:prstDash val="solid"/>
          </a:ln>
          <a:effectLst>
            <a:outerShdw sx="100000" sy="100000" kx="0" ky="0" algn="bl" rotWithShape="0" blurRad="177800" dist="50800" dir="16200000">
              <a:srgbClr val="8B5CF6">
                <a:alpha val="28000"/>
              </a:srgbClr>
            </a:outerShdw>
          </a:effectLst>
        </p:spPr>
      </p:sp>
      <p:sp>
        <p:nvSpPr>
          <p:cNvPr id="20" name="icon-circle"/>
          <p:cNvSpPr/>
          <p:nvPr/>
        </p:nvSpPr>
        <p:spPr>
          <a:xfrm>
            <a:off x="9372600" y="1600200"/>
            <a:ext cx="640080" cy="640080"/>
          </a:xfrm>
          <a:prstGeom prst="ellipse">
            <a:avLst/>
          </a:prstGeom>
          <a:solidFill>
            <a:srgbClr val="241C45"/>
          </a:solidFill>
          <a:ln w="12700">
            <a:solidFill>
              <a:srgbClr val="8B5CF6"/>
            </a:solidFill>
            <a:prstDash val="solid"/>
          </a:ln>
        </p:spPr>
      </p:sp>
      <p:pic>
        <p:nvPicPr>
          <p:cNvPr id="21" name="icon" descr="preencoded.png">    </p:cNvPr>
          <p:cNvPicPr>
            <a:picLocks noChangeAspect="1"/>
          </p:cNvPicPr>
          <p:nvPr/>
        </p:nvPicPr>
        <p:blipFill>
          <a:blip r:embed="rId4"/>
          <a:stretch>
            <a:fillRect/>
          </a:stretch>
        </p:blipFill>
        <p:spPr>
          <a:xfrm>
            <a:off x="9532620" y="1760220"/>
            <a:ext cx="320040" cy="320040"/>
          </a:xfrm>
          <a:prstGeom prst="rect">
            <a:avLst/>
          </a:prstGeom>
        </p:spPr>
      </p:pic>
      <p:sp>
        <p:nvSpPr>
          <p:cNvPr id="22" name="Text 15"/>
          <p:cNvSpPr txBox="1"/>
          <p:nvPr/>
        </p:nvSpPr>
        <p:spPr>
          <a:xfrm>
            <a:off x="10104120" y="1508760"/>
            <a:ext cx="1417320" cy="457200"/>
          </a:xfrm>
          <a:prstGeom prst="rect">
            <a:avLst/>
          </a:prstGeom>
          <a:noFill/>
          <a:ln/>
        </p:spPr>
        <p:txBody>
          <a:bodyPr wrap="square" lIns="0" tIns="0" rIns="0" bIns="0" rtlCol="0" anchor="b"/>
          <a:lstStyle/>
          <a:p>
            <a:pPr indent="0" marL="0">
              <a:buNone/>
            </a:pPr>
            <a:r>
              <a:rPr lang="en-US" sz="1400" b="1" dirty="0">
                <a:solidFill>
                  <a:srgbClr val="F5F7FB"/>
                </a:solidFill>
                <a:latin typeface="Calibri" pitchFamily="34" charset="0"/>
                <a:ea typeface="Calibri" pitchFamily="34" charset="-122"/>
                <a:cs typeface="Calibri" pitchFamily="34" charset="-120"/>
              </a:rPr>
              <a:t>Gemini Processing</a:t>
            </a:r>
            <a:endParaRPr lang="en-US" sz="1400" dirty="0"/>
          </a:p>
        </p:txBody>
      </p:sp>
      <p:sp>
        <p:nvSpPr>
          <p:cNvPr id="23" name="Text 16"/>
          <p:cNvSpPr txBox="1"/>
          <p:nvPr/>
        </p:nvSpPr>
        <p:spPr>
          <a:xfrm>
            <a:off x="10104120" y="1984248"/>
            <a:ext cx="1417320" cy="411480"/>
          </a:xfrm>
          <a:prstGeom prst="rect">
            <a:avLst/>
          </a:prstGeom>
          <a:noFill/>
          <a:ln/>
        </p:spPr>
        <p:txBody>
          <a:bodyPr wrap="square" lIns="0" tIns="0" rIns="0" bIns="0" rtlCol="0" anchor="t"/>
          <a:lstStyle/>
          <a:p>
            <a:pPr indent="0" marL="0">
              <a:buNone/>
            </a:pPr>
            <a:r>
              <a:rPr lang="en-US" sz="1100" dirty="0">
                <a:solidFill>
                  <a:srgbClr val="A3ABBC"/>
                </a:solidFill>
                <a:latin typeface="Calibri" pitchFamily="34" charset="0"/>
                <a:ea typeface="Calibri" pitchFamily="34" charset="-122"/>
                <a:cs typeface="Calibri" pitchFamily="34" charset="-120"/>
              </a:rPr>
              <a:t>google-genai + prompts</a:t>
            </a:r>
            <a:endParaRPr lang="en-US" sz="1100" dirty="0"/>
          </a:p>
        </p:txBody>
      </p:sp>
      <p:sp>
        <p:nvSpPr>
          <p:cNvPr id="24" name="Text 17"/>
          <p:cNvSpPr txBox="1"/>
          <p:nvPr/>
        </p:nvSpPr>
        <p:spPr>
          <a:xfrm>
            <a:off x="2926080" y="1691640"/>
            <a:ext cx="518160" cy="365760"/>
          </a:xfrm>
          <a:prstGeom prst="rect">
            <a:avLst/>
          </a:prstGeom>
          <a:noFill/>
          <a:ln/>
        </p:spPr>
        <p:txBody>
          <a:bodyPr wrap="square" lIns="0" tIns="0" rIns="0" bIns="0" rtlCol="0" anchor="ctr"/>
          <a:lstStyle/>
          <a:p>
            <a:pPr algn="ctr" indent="0" marL="0">
              <a:buNone/>
            </a:pPr>
            <a:r>
              <a:rPr lang="en-US" sz="2000" b="1" dirty="0">
                <a:solidFill>
                  <a:srgbClr val="EC4899"/>
                </a:solidFill>
                <a:latin typeface="Calibri" pitchFamily="34" charset="0"/>
                <a:ea typeface="Calibri" pitchFamily="34" charset="-122"/>
                <a:cs typeface="Calibri" pitchFamily="34" charset="-120"/>
              </a:rPr>
              <a:t>→</a:t>
            </a:r>
            <a:endParaRPr lang="en-US" sz="2000" dirty="0"/>
          </a:p>
        </p:txBody>
      </p:sp>
      <p:sp>
        <p:nvSpPr>
          <p:cNvPr id="25" name="Text 18"/>
          <p:cNvSpPr txBox="1"/>
          <p:nvPr/>
        </p:nvSpPr>
        <p:spPr>
          <a:xfrm>
            <a:off x="5821680" y="1691640"/>
            <a:ext cx="518160" cy="365760"/>
          </a:xfrm>
          <a:prstGeom prst="rect">
            <a:avLst/>
          </a:prstGeom>
          <a:noFill/>
          <a:ln/>
        </p:spPr>
        <p:txBody>
          <a:bodyPr wrap="square" lIns="0" tIns="0" rIns="0" bIns="0" rtlCol="0" anchor="ctr"/>
          <a:lstStyle/>
          <a:p>
            <a:pPr algn="ctr" indent="0" marL="0">
              <a:buNone/>
            </a:pPr>
            <a:r>
              <a:rPr lang="en-US" sz="2000" b="1" dirty="0">
                <a:solidFill>
                  <a:srgbClr val="EC4899"/>
                </a:solidFill>
                <a:latin typeface="Calibri" pitchFamily="34" charset="0"/>
                <a:ea typeface="Calibri" pitchFamily="34" charset="-122"/>
                <a:cs typeface="Calibri" pitchFamily="34" charset="-120"/>
              </a:rPr>
              <a:t>→</a:t>
            </a:r>
            <a:endParaRPr lang="en-US" sz="2000" dirty="0"/>
          </a:p>
        </p:txBody>
      </p:sp>
      <p:sp>
        <p:nvSpPr>
          <p:cNvPr id="26" name="Text 19"/>
          <p:cNvSpPr txBox="1"/>
          <p:nvPr/>
        </p:nvSpPr>
        <p:spPr>
          <a:xfrm>
            <a:off x="8717280" y="1691640"/>
            <a:ext cx="518160" cy="365760"/>
          </a:xfrm>
          <a:prstGeom prst="rect">
            <a:avLst/>
          </a:prstGeom>
          <a:noFill/>
          <a:ln/>
        </p:spPr>
        <p:txBody>
          <a:bodyPr wrap="square" lIns="0" tIns="0" rIns="0" bIns="0" rtlCol="0" anchor="ctr"/>
          <a:lstStyle/>
          <a:p>
            <a:pPr algn="ctr" indent="0" marL="0">
              <a:buNone/>
            </a:pPr>
            <a:r>
              <a:rPr lang="en-US" sz="2000" b="1" dirty="0">
                <a:solidFill>
                  <a:srgbClr val="EC4899"/>
                </a:solidFill>
                <a:latin typeface="Calibri" pitchFamily="34" charset="0"/>
                <a:ea typeface="Calibri" pitchFamily="34" charset="-122"/>
                <a:cs typeface="Calibri" pitchFamily="34" charset="-120"/>
              </a:rPr>
              <a:t>→</a:t>
            </a:r>
            <a:endParaRPr lang="en-US" sz="2000" dirty="0"/>
          </a:p>
        </p:txBody>
      </p:sp>
      <p:sp>
        <p:nvSpPr>
          <p:cNvPr id="27" name="Text 20"/>
          <p:cNvSpPr txBox="1"/>
          <p:nvPr/>
        </p:nvSpPr>
        <p:spPr>
          <a:xfrm>
            <a:off x="9235440" y="2514600"/>
            <a:ext cx="2377440" cy="320040"/>
          </a:xfrm>
          <a:prstGeom prst="rect">
            <a:avLst/>
          </a:prstGeom>
          <a:noFill/>
          <a:ln/>
        </p:spPr>
        <p:txBody>
          <a:bodyPr wrap="square" lIns="0" tIns="0" rIns="0" bIns="0" rtlCol="0" anchor="ctr"/>
          <a:lstStyle/>
          <a:p>
            <a:pPr algn="ctr" indent="0" marL="0">
              <a:buNone/>
            </a:pPr>
            <a:r>
              <a:rPr lang="en-US" sz="2000" b="1" dirty="0">
                <a:solidFill>
                  <a:srgbClr val="EC4899"/>
                </a:solidFill>
                <a:latin typeface="Calibri" pitchFamily="34" charset="0"/>
                <a:ea typeface="Calibri" pitchFamily="34" charset="-122"/>
                <a:cs typeface="Calibri" pitchFamily="34" charset="-120"/>
              </a:rPr>
              <a:t>↓</a:t>
            </a:r>
            <a:endParaRPr lang="en-US" sz="2000" dirty="0"/>
          </a:p>
        </p:txBody>
      </p:sp>
      <p:sp>
        <p:nvSpPr>
          <p:cNvPr id="28" name="card"/>
          <p:cNvSpPr/>
          <p:nvPr/>
        </p:nvSpPr>
        <p:spPr>
          <a:xfrm>
            <a:off x="9235440" y="2834640"/>
            <a:ext cx="2377440" cy="1188720"/>
          </a:xfrm>
          <a:prstGeom prst="roundRect">
            <a:avLst>
              <a:gd name="adj" fmla="val 9231"/>
            </a:avLst>
          </a:prstGeom>
          <a:solidFill>
            <a:srgbClr val="161B27"/>
          </a:solidFill>
          <a:ln w="12700">
            <a:solidFill>
              <a:srgbClr val="2B3240"/>
            </a:solidFill>
            <a:prstDash val="solid"/>
          </a:ln>
        </p:spPr>
      </p:sp>
      <p:sp>
        <p:nvSpPr>
          <p:cNvPr id="29" name="icon-circle"/>
          <p:cNvSpPr/>
          <p:nvPr/>
        </p:nvSpPr>
        <p:spPr>
          <a:xfrm>
            <a:off x="9372600" y="3108960"/>
            <a:ext cx="640080" cy="640080"/>
          </a:xfrm>
          <a:prstGeom prst="ellipse">
            <a:avLst/>
          </a:prstGeom>
          <a:solidFill>
            <a:srgbClr val="241C45"/>
          </a:solidFill>
          <a:ln w="12700">
            <a:solidFill>
              <a:srgbClr val="8B5CF6"/>
            </a:solidFill>
            <a:prstDash val="solid"/>
          </a:ln>
        </p:spPr>
      </p:sp>
      <p:pic>
        <p:nvPicPr>
          <p:cNvPr id="30" name="icon" descr="preencoded.png">    </p:cNvPr>
          <p:cNvPicPr>
            <a:picLocks noChangeAspect="1"/>
          </p:cNvPicPr>
          <p:nvPr/>
        </p:nvPicPr>
        <p:blipFill>
          <a:blip r:embed="rId5"/>
          <a:stretch>
            <a:fillRect/>
          </a:stretch>
        </p:blipFill>
        <p:spPr>
          <a:xfrm>
            <a:off x="9532620" y="3268980"/>
            <a:ext cx="320040" cy="320040"/>
          </a:xfrm>
          <a:prstGeom prst="rect">
            <a:avLst/>
          </a:prstGeom>
        </p:spPr>
      </p:pic>
      <p:sp>
        <p:nvSpPr>
          <p:cNvPr id="31" name="Text 23"/>
          <p:cNvSpPr txBox="1"/>
          <p:nvPr/>
        </p:nvSpPr>
        <p:spPr>
          <a:xfrm>
            <a:off x="10104120" y="3017520"/>
            <a:ext cx="1417320" cy="457200"/>
          </a:xfrm>
          <a:prstGeom prst="rect">
            <a:avLst/>
          </a:prstGeom>
          <a:noFill/>
          <a:ln/>
        </p:spPr>
        <p:txBody>
          <a:bodyPr wrap="square" lIns="0" tIns="0" rIns="0" bIns="0" rtlCol="0" anchor="b"/>
          <a:lstStyle/>
          <a:p>
            <a:pPr indent="0" marL="0">
              <a:buNone/>
            </a:pPr>
            <a:r>
              <a:rPr lang="en-US" sz="1400" b="1" dirty="0">
                <a:solidFill>
                  <a:srgbClr val="F5F7FB"/>
                </a:solidFill>
                <a:latin typeface="Calibri" pitchFamily="34" charset="0"/>
                <a:ea typeface="Calibri" pitchFamily="34" charset="-122"/>
                <a:cs typeface="Calibri" pitchFamily="34" charset="-120"/>
              </a:rPr>
              <a:t>Structured Bill Data</a:t>
            </a:r>
            <a:endParaRPr lang="en-US" sz="1400" dirty="0"/>
          </a:p>
        </p:txBody>
      </p:sp>
      <p:sp>
        <p:nvSpPr>
          <p:cNvPr id="32" name="Text 24"/>
          <p:cNvSpPr txBox="1"/>
          <p:nvPr/>
        </p:nvSpPr>
        <p:spPr>
          <a:xfrm>
            <a:off x="10104120" y="3493008"/>
            <a:ext cx="1417320" cy="411480"/>
          </a:xfrm>
          <a:prstGeom prst="rect">
            <a:avLst/>
          </a:prstGeom>
          <a:noFill/>
          <a:ln/>
        </p:spPr>
        <p:txBody>
          <a:bodyPr wrap="square" lIns="0" tIns="0" rIns="0" bIns="0" rtlCol="0" anchor="t"/>
          <a:lstStyle/>
          <a:p>
            <a:pPr indent="0" marL="0">
              <a:buNone/>
            </a:pPr>
            <a:r>
              <a:rPr lang="en-US" sz="1100" dirty="0">
                <a:solidFill>
                  <a:srgbClr val="A3ABBC"/>
                </a:solidFill>
                <a:latin typeface="Calibri" pitchFamily="34" charset="0"/>
                <a:ea typeface="Calibri" pitchFamily="34" charset="-122"/>
                <a:cs typeface="Calibri" pitchFamily="34" charset="-120"/>
              </a:rPr>
              <a:t>Pydantic schema</a:t>
            </a:r>
            <a:endParaRPr lang="en-US" sz="1100" dirty="0"/>
          </a:p>
        </p:txBody>
      </p:sp>
      <p:sp>
        <p:nvSpPr>
          <p:cNvPr id="33" name="card"/>
          <p:cNvSpPr/>
          <p:nvPr/>
        </p:nvSpPr>
        <p:spPr>
          <a:xfrm>
            <a:off x="6339840" y="2834640"/>
            <a:ext cx="2377440" cy="1188720"/>
          </a:xfrm>
          <a:prstGeom prst="roundRect">
            <a:avLst>
              <a:gd name="adj" fmla="val 9231"/>
            </a:avLst>
          </a:prstGeom>
          <a:solidFill>
            <a:srgbClr val="161B27"/>
          </a:solidFill>
          <a:ln w="12700">
            <a:solidFill>
              <a:srgbClr val="2B3240"/>
            </a:solidFill>
            <a:prstDash val="solid"/>
          </a:ln>
          <a:effectLst>
            <a:outerShdw sx="100000" sy="100000" kx="0" ky="0" algn="bl" rotWithShape="0" blurRad="177800" dist="50800" dir="16200000">
              <a:srgbClr val="8B5CF6">
                <a:alpha val="28000"/>
              </a:srgbClr>
            </a:outerShdw>
          </a:effectLst>
        </p:spPr>
      </p:sp>
      <p:sp>
        <p:nvSpPr>
          <p:cNvPr id="34" name="icon-circle"/>
          <p:cNvSpPr/>
          <p:nvPr/>
        </p:nvSpPr>
        <p:spPr>
          <a:xfrm>
            <a:off x="6477000" y="3108960"/>
            <a:ext cx="640080" cy="640080"/>
          </a:xfrm>
          <a:prstGeom prst="ellipse">
            <a:avLst/>
          </a:prstGeom>
          <a:solidFill>
            <a:srgbClr val="241C45"/>
          </a:solidFill>
          <a:ln w="12700">
            <a:solidFill>
              <a:srgbClr val="8B5CF6"/>
            </a:solidFill>
            <a:prstDash val="solid"/>
          </a:ln>
        </p:spPr>
      </p:sp>
      <p:pic>
        <p:nvPicPr>
          <p:cNvPr id="35" name="icon" descr="preencoded.png">    </p:cNvPr>
          <p:cNvPicPr>
            <a:picLocks noChangeAspect="1"/>
          </p:cNvPicPr>
          <p:nvPr/>
        </p:nvPicPr>
        <p:blipFill>
          <a:blip r:embed="rId6"/>
          <a:stretch>
            <a:fillRect/>
          </a:stretch>
        </p:blipFill>
        <p:spPr>
          <a:xfrm>
            <a:off x="6637020" y="3268980"/>
            <a:ext cx="320040" cy="320040"/>
          </a:xfrm>
          <a:prstGeom prst="rect">
            <a:avLst/>
          </a:prstGeom>
        </p:spPr>
      </p:pic>
      <p:sp>
        <p:nvSpPr>
          <p:cNvPr id="36" name="Text 27"/>
          <p:cNvSpPr txBox="1"/>
          <p:nvPr/>
        </p:nvSpPr>
        <p:spPr>
          <a:xfrm>
            <a:off x="7208520" y="3017520"/>
            <a:ext cx="1417320" cy="457200"/>
          </a:xfrm>
          <a:prstGeom prst="rect">
            <a:avLst/>
          </a:prstGeom>
          <a:noFill/>
          <a:ln/>
        </p:spPr>
        <p:txBody>
          <a:bodyPr wrap="square" lIns="0" tIns="0" rIns="0" bIns="0" rtlCol="0" anchor="b"/>
          <a:lstStyle/>
          <a:p>
            <a:pPr indent="0" marL="0">
              <a:buNone/>
            </a:pPr>
            <a:r>
              <a:rPr lang="en-US" sz="1400" b="1" dirty="0">
                <a:solidFill>
                  <a:srgbClr val="F5F7FB"/>
                </a:solidFill>
                <a:latin typeface="Calibri" pitchFamily="34" charset="0"/>
                <a:ea typeface="Calibri" pitchFamily="34" charset="-122"/>
                <a:cs typeface="Calibri" pitchFamily="34" charset="-120"/>
              </a:rPr>
              <a:t>Verification &amp; Splitting</a:t>
            </a:r>
            <a:endParaRPr lang="en-US" sz="1400" dirty="0"/>
          </a:p>
        </p:txBody>
      </p:sp>
      <p:sp>
        <p:nvSpPr>
          <p:cNvPr id="37" name="Text 28"/>
          <p:cNvSpPr txBox="1"/>
          <p:nvPr/>
        </p:nvSpPr>
        <p:spPr>
          <a:xfrm>
            <a:off x="7208520" y="3493008"/>
            <a:ext cx="1417320" cy="411480"/>
          </a:xfrm>
          <a:prstGeom prst="rect">
            <a:avLst/>
          </a:prstGeom>
          <a:noFill/>
          <a:ln/>
        </p:spPr>
        <p:txBody>
          <a:bodyPr wrap="square" lIns="0" tIns="0" rIns="0" bIns="0" rtlCol="0" anchor="t"/>
          <a:lstStyle/>
          <a:p>
            <a:pPr indent="0" marL="0">
              <a:buNone/>
            </a:pPr>
            <a:r>
              <a:rPr lang="en-US" sz="1100" dirty="0">
                <a:solidFill>
                  <a:srgbClr val="A3ABBC"/>
                </a:solidFill>
                <a:latin typeface="Calibri" pitchFamily="34" charset="0"/>
                <a:ea typeface="Calibri" pitchFamily="34" charset="-122"/>
                <a:cs typeface="Calibri" pitchFamily="34" charset="-120"/>
              </a:rPr>
              <a:t>Python logic</a:t>
            </a:r>
            <a:endParaRPr lang="en-US" sz="1100" dirty="0"/>
          </a:p>
        </p:txBody>
      </p:sp>
      <p:sp>
        <p:nvSpPr>
          <p:cNvPr id="38" name="card"/>
          <p:cNvSpPr/>
          <p:nvPr/>
        </p:nvSpPr>
        <p:spPr>
          <a:xfrm>
            <a:off x="3444240" y="2834640"/>
            <a:ext cx="2377440" cy="1188720"/>
          </a:xfrm>
          <a:prstGeom prst="roundRect">
            <a:avLst>
              <a:gd name="adj" fmla="val 9231"/>
            </a:avLst>
          </a:prstGeom>
          <a:solidFill>
            <a:srgbClr val="161B27"/>
          </a:solidFill>
          <a:ln w="12700">
            <a:solidFill>
              <a:srgbClr val="2B3240"/>
            </a:solidFill>
            <a:prstDash val="solid"/>
          </a:ln>
        </p:spPr>
      </p:sp>
      <p:sp>
        <p:nvSpPr>
          <p:cNvPr id="39" name="icon-circle"/>
          <p:cNvSpPr/>
          <p:nvPr/>
        </p:nvSpPr>
        <p:spPr>
          <a:xfrm>
            <a:off x="3581400" y="3108960"/>
            <a:ext cx="640080" cy="640080"/>
          </a:xfrm>
          <a:prstGeom prst="ellipse">
            <a:avLst/>
          </a:prstGeom>
          <a:solidFill>
            <a:srgbClr val="241C45"/>
          </a:solidFill>
          <a:ln w="12700">
            <a:solidFill>
              <a:srgbClr val="8B5CF6"/>
            </a:solidFill>
            <a:prstDash val="solid"/>
          </a:ln>
        </p:spPr>
      </p:sp>
      <p:pic>
        <p:nvPicPr>
          <p:cNvPr id="40" name="icon" descr="preencoded.png">    </p:cNvPr>
          <p:cNvPicPr>
            <a:picLocks noChangeAspect="1"/>
          </p:cNvPicPr>
          <p:nvPr/>
        </p:nvPicPr>
        <p:blipFill>
          <a:blip r:embed="rId7"/>
          <a:stretch>
            <a:fillRect/>
          </a:stretch>
        </p:blipFill>
        <p:spPr>
          <a:xfrm>
            <a:off x="3741420" y="3268980"/>
            <a:ext cx="320040" cy="320040"/>
          </a:xfrm>
          <a:prstGeom prst="rect">
            <a:avLst/>
          </a:prstGeom>
        </p:spPr>
      </p:pic>
      <p:sp>
        <p:nvSpPr>
          <p:cNvPr id="41" name="Text 31"/>
          <p:cNvSpPr txBox="1"/>
          <p:nvPr/>
        </p:nvSpPr>
        <p:spPr>
          <a:xfrm>
            <a:off x="4312920" y="3017520"/>
            <a:ext cx="1417320" cy="457200"/>
          </a:xfrm>
          <a:prstGeom prst="rect">
            <a:avLst/>
          </a:prstGeom>
          <a:noFill/>
          <a:ln/>
        </p:spPr>
        <p:txBody>
          <a:bodyPr wrap="square" lIns="0" tIns="0" rIns="0" bIns="0" rtlCol="0" anchor="b"/>
          <a:lstStyle/>
          <a:p>
            <a:pPr indent="0" marL="0">
              <a:buNone/>
            </a:pPr>
            <a:r>
              <a:rPr lang="en-US" sz="1400" b="1" dirty="0">
                <a:solidFill>
                  <a:srgbClr val="F5F7FB"/>
                </a:solidFill>
                <a:latin typeface="Calibri" pitchFamily="34" charset="0"/>
                <a:ea typeface="Calibri" pitchFamily="34" charset="-122"/>
                <a:cs typeface="Calibri" pitchFamily="34" charset="-120"/>
              </a:rPr>
              <a:t>Sharing Layer</a:t>
            </a:r>
            <a:endParaRPr lang="en-US" sz="1400" dirty="0"/>
          </a:p>
        </p:txBody>
      </p:sp>
      <p:sp>
        <p:nvSpPr>
          <p:cNvPr id="42" name="Text 32"/>
          <p:cNvSpPr txBox="1"/>
          <p:nvPr/>
        </p:nvSpPr>
        <p:spPr>
          <a:xfrm>
            <a:off x="4312920" y="3493008"/>
            <a:ext cx="1417320" cy="411480"/>
          </a:xfrm>
          <a:prstGeom prst="rect">
            <a:avLst/>
          </a:prstGeom>
          <a:noFill/>
          <a:ln/>
        </p:spPr>
        <p:txBody>
          <a:bodyPr wrap="square" lIns="0" tIns="0" rIns="0" bIns="0" rtlCol="0" anchor="t"/>
          <a:lstStyle/>
          <a:p>
            <a:pPr indent="0" marL="0">
              <a:buNone/>
            </a:pPr>
            <a:r>
              <a:rPr lang="en-US" sz="1100" dirty="0">
                <a:solidFill>
                  <a:srgbClr val="A3ABBC"/>
                </a:solidFill>
                <a:latin typeface="Calibri" pitchFamily="34" charset="0"/>
                <a:ea typeface="Calibri" pitchFamily="34" charset="-122"/>
                <a:cs typeface="Calibri" pitchFamily="34" charset="-120"/>
              </a:rPr>
              <a:t>Summary + shares</a:t>
            </a:r>
            <a:endParaRPr lang="en-US" sz="1100" dirty="0"/>
          </a:p>
        </p:txBody>
      </p:sp>
      <p:sp>
        <p:nvSpPr>
          <p:cNvPr id="43" name="Text 33"/>
          <p:cNvSpPr txBox="1"/>
          <p:nvPr/>
        </p:nvSpPr>
        <p:spPr>
          <a:xfrm>
            <a:off x="8717280" y="3200400"/>
            <a:ext cx="518160" cy="365760"/>
          </a:xfrm>
          <a:prstGeom prst="rect">
            <a:avLst/>
          </a:prstGeom>
          <a:noFill/>
          <a:ln/>
        </p:spPr>
        <p:txBody>
          <a:bodyPr wrap="square" lIns="0" tIns="0" rIns="0" bIns="0" rtlCol="0" anchor="ctr"/>
          <a:lstStyle/>
          <a:p>
            <a:pPr algn="ctr" indent="0" marL="0">
              <a:buNone/>
            </a:pPr>
            <a:r>
              <a:rPr lang="en-US" sz="2000" b="1" dirty="0">
                <a:solidFill>
                  <a:srgbClr val="EC4899"/>
                </a:solidFill>
                <a:latin typeface="Calibri" pitchFamily="34" charset="0"/>
                <a:ea typeface="Calibri" pitchFamily="34" charset="-122"/>
                <a:cs typeface="Calibri" pitchFamily="34" charset="-120"/>
              </a:rPr>
              <a:t>←</a:t>
            </a:r>
            <a:endParaRPr lang="en-US" sz="2000" dirty="0"/>
          </a:p>
        </p:txBody>
      </p:sp>
      <p:sp>
        <p:nvSpPr>
          <p:cNvPr id="44" name="Text 34"/>
          <p:cNvSpPr txBox="1"/>
          <p:nvPr/>
        </p:nvSpPr>
        <p:spPr>
          <a:xfrm>
            <a:off x="5821680" y="3200400"/>
            <a:ext cx="518160" cy="365760"/>
          </a:xfrm>
          <a:prstGeom prst="rect">
            <a:avLst/>
          </a:prstGeom>
          <a:noFill/>
          <a:ln/>
        </p:spPr>
        <p:txBody>
          <a:bodyPr wrap="square" lIns="0" tIns="0" rIns="0" bIns="0" rtlCol="0" anchor="ctr"/>
          <a:lstStyle/>
          <a:p>
            <a:pPr algn="ctr" indent="0" marL="0">
              <a:buNone/>
            </a:pPr>
            <a:r>
              <a:rPr lang="en-US" sz="2000" b="1" dirty="0">
                <a:solidFill>
                  <a:srgbClr val="EC4899"/>
                </a:solidFill>
                <a:latin typeface="Calibri" pitchFamily="34" charset="0"/>
                <a:ea typeface="Calibri" pitchFamily="34" charset="-122"/>
                <a:cs typeface="Calibri" pitchFamily="34" charset="-120"/>
              </a:rPr>
              <a:t>←</a:t>
            </a:r>
            <a:endParaRPr lang="en-US" sz="2000" dirty="0"/>
          </a:p>
        </p:txBody>
      </p:sp>
      <p:sp>
        <p:nvSpPr>
          <p:cNvPr id="45" name="Text 35"/>
          <p:cNvSpPr txBox="1"/>
          <p:nvPr/>
        </p:nvSpPr>
        <p:spPr>
          <a:xfrm>
            <a:off x="2926080" y="3200400"/>
            <a:ext cx="518160" cy="365760"/>
          </a:xfrm>
          <a:prstGeom prst="rect">
            <a:avLst/>
          </a:prstGeom>
          <a:noFill/>
          <a:ln/>
        </p:spPr>
        <p:txBody>
          <a:bodyPr wrap="square" lIns="0" tIns="0" rIns="0" bIns="0" rtlCol="0" anchor="ctr"/>
          <a:lstStyle/>
          <a:p>
            <a:pPr algn="ctr" indent="0" marL="0">
              <a:buNone/>
            </a:pPr>
            <a:r>
              <a:rPr lang="en-US" sz="2000" b="1" dirty="0">
                <a:solidFill>
                  <a:srgbClr val="EC4899"/>
                </a:solidFill>
                <a:latin typeface="Calibri" pitchFamily="34" charset="0"/>
                <a:ea typeface="Calibri" pitchFamily="34" charset="-122"/>
                <a:cs typeface="Calibri" pitchFamily="34" charset="-120"/>
              </a:rPr>
              <a:t>←</a:t>
            </a:r>
            <a:endParaRPr lang="en-US" sz="2000" dirty="0"/>
          </a:p>
        </p:txBody>
      </p:sp>
      <p:sp>
        <p:nvSpPr>
          <p:cNvPr id="46" name="card"/>
          <p:cNvSpPr/>
          <p:nvPr/>
        </p:nvSpPr>
        <p:spPr>
          <a:xfrm>
            <a:off x="548640" y="2834640"/>
            <a:ext cx="2377440" cy="521208"/>
          </a:xfrm>
          <a:prstGeom prst="roundRect">
            <a:avLst>
              <a:gd name="adj" fmla="val 21053"/>
            </a:avLst>
          </a:prstGeom>
          <a:solidFill>
            <a:srgbClr val="18142B"/>
          </a:solidFill>
          <a:ln w="12700">
            <a:solidFill>
              <a:srgbClr val="8B5CF6"/>
            </a:solidFill>
            <a:prstDash val="solid"/>
          </a:ln>
        </p:spPr>
      </p:sp>
      <p:pic>
        <p:nvPicPr>
          <p:cNvPr id="47" name="Image 7" descr="preencoded.png">    </p:cNvPr>
          <p:cNvPicPr>
            <a:picLocks noChangeAspect="1"/>
          </p:cNvPicPr>
          <p:nvPr/>
        </p:nvPicPr>
        <p:blipFill>
          <a:blip r:embed="rId8"/>
          <a:stretch>
            <a:fillRect/>
          </a:stretch>
        </p:blipFill>
        <p:spPr>
          <a:xfrm>
            <a:off x="685800" y="2971800"/>
            <a:ext cx="246888" cy="246888"/>
          </a:xfrm>
          <a:prstGeom prst="rect">
            <a:avLst/>
          </a:prstGeom>
        </p:spPr>
      </p:pic>
      <p:sp>
        <p:nvSpPr>
          <p:cNvPr id="48" name="Text 37"/>
          <p:cNvSpPr txBox="1"/>
          <p:nvPr/>
        </p:nvSpPr>
        <p:spPr>
          <a:xfrm>
            <a:off x="1051560" y="2834640"/>
            <a:ext cx="1828800" cy="521208"/>
          </a:xfrm>
          <a:prstGeom prst="rect">
            <a:avLst/>
          </a:prstGeom>
          <a:noFill/>
          <a:ln/>
        </p:spPr>
        <p:txBody>
          <a:bodyPr wrap="square" lIns="0" tIns="0" rIns="0" bIns="0" rtlCol="0" anchor="ctr"/>
          <a:lstStyle/>
          <a:p>
            <a:pPr indent="0" marL="0">
              <a:buNone/>
            </a:pPr>
            <a:r>
              <a:rPr lang="en-US" sz="1300" b="1" dirty="0">
                <a:solidFill>
                  <a:srgbClr val="F5F7FB"/>
                </a:solidFill>
                <a:latin typeface="Calibri" pitchFamily="34" charset="0"/>
                <a:ea typeface="Calibri" pitchFamily="34" charset="-122"/>
                <a:cs typeface="Calibri" pitchFamily="34" charset="-120"/>
              </a:rPr>
              <a:t>Email  </a:t>
            </a:r>
            <a:pPr indent="0" marL="0">
              <a:buNone/>
            </a:pPr>
            <a:r>
              <a:rPr lang="en-US" sz="1000" dirty="0">
                <a:solidFill>
                  <a:srgbClr val="A3ABBC"/>
                </a:solidFill>
                <a:latin typeface="Calibri" pitchFamily="34" charset="0"/>
                <a:ea typeface="Calibri" pitchFamily="34" charset="-122"/>
                <a:cs typeface="Calibri" pitchFamily="34" charset="-120"/>
              </a:rPr>
              <a:t>SMTP</a:t>
            </a:r>
            <a:endParaRPr lang="en-US" sz="1400" dirty="0"/>
          </a:p>
        </p:txBody>
      </p:sp>
      <p:sp>
        <p:nvSpPr>
          <p:cNvPr id="49" name="card"/>
          <p:cNvSpPr/>
          <p:nvPr/>
        </p:nvSpPr>
        <p:spPr>
          <a:xfrm>
            <a:off x="548640" y="3502152"/>
            <a:ext cx="2377440" cy="521208"/>
          </a:xfrm>
          <a:prstGeom prst="roundRect">
            <a:avLst>
              <a:gd name="adj" fmla="val 21053"/>
            </a:avLst>
          </a:prstGeom>
          <a:solidFill>
            <a:srgbClr val="18142B"/>
          </a:solidFill>
          <a:ln w="12700">
            <a:solidFill>
              <a:srgbClr val="8B5CF6"/>
            </a:solidFill>
            <a:prstDash val="solid"/>
          </a:ln>
        </p:spPr>
      </p:sp>
      <p:pic>
        <p:nvPicPr>
          <p:cNvPr id="50" name="Image 8" descr="preencoded.png">    </p:cNvPr>
          <p:cNvPicPr>
            <a:picLocks noChangeAspect="1"/>
          </p:cNvPicPr>
          <p:nvPr/>
        </p:nvPicPr>
        <p:blipFill>
          <a:blip r:embed="rId9"/>
          <a:stretch>
            <a:fillRect/>
          </a:stretch>
        </p:blipFill>
        <p:spPr>
          <a:xfrm>
            <a:off x="685800" y="3639312"/>
            <a:ext cx="246888" cy="246888"/>
          </a:xfrm>
          <a:prstGeom prst="rect">
            <a:avLst/>
          </a:prstGeom>
        </p:spPr>
      </p:pic>
      <p:sp>
        <p:nvSpPr>
          <p:cNvPr id="51" name="Text 39"/>
          <p:cNvSpPr txBox="1"/>
          <p:nvPr/>
        </p:nvSpPr>
        <p:spPr>
          <a:xfrm>
            <a:off x="1051560" y="3502152"/>
            <a:ext cx="1828800" cy="521208"/>
          </a:xfrm>
          <a:prstGeom prst="rect">
            <a:avLst/>
          </a:prstGeom>
          <a:noFill/>
          <a:ln/>
        </p:spPr>
        <p:txBody>
          <a:bodyPr wrap="square" lIns="0" tIns="0" rIns="0" bIns="0" rtlCol="0" anchor="ctr"/>
          <a:lstStyle/>
          <a:p>
            <a:pPr indent="0" marL="0">
              <a:buNone/>
            </a:pPr>
            <a:r>
              <a:rPr lang="en-US" sz="1300" b="1" dirty="0">
                <a:solidFill>
                  <a:srgbClr val="F5F7FB"/>
                </a:solidFill>
                <a:latin typeface="Calibri" pitchFamily="34" charset="0"/>
                <a:ea typeface="Calibri" pitchFamily="34" charset="-122"/>
                <a:cs typeface="Calibri" pitchFamily="34" charset="-120"/>
              </a:rPr>
              <a:t>WhatsApp  </a:t>
            </a:r>
            <a:pPr indent="0" marL="0">
              <a:buNone/>
            </a:pPr>
            <a:r>
              <a:rPr lang="en-US" sz="1000" dirty="0">
                <a:solidFill>
                  <a:srgbClr val="A3ABBC"/>
                </a:solidFill>
                <a:latin typeface="Calibri" pitchFamily="34" charset="0"/>
                <a:ea typeface="Calibri" pitchFamily="34" charset="-122"/>
                <a:cs typeface="Calibri" pitchFamily="34" charset="-120"/>
              </a:rPr>
              <a:t>Message / Twilio</a:t>
            </a:r>
            <a:endParaRPr lang="en-US" sz="1400" dirty="0"/>
          </a:p>
        </p:txBody>
      </p:sp>
      <p:sp>
        <p:nvSpPr>
          <p:cNvPr id="52" name="Text 40"/>
          <p:cNvSpPr txBox="1"/>
          <p:nvPr/>
        </p:nvSpPr>
        <p:spPr>
          <a:xfrm>
            <a:off x="548640" y="4434840"/>
            <a:ext cx="5486400" cy="274320"/>
          </a:xfrm>
          <a:prstGeom prst="rect">
            <a:avLst/>
          </a:prstGeom>
          <a:noFill/>
          <a:ln/>
        </p:spPr>
        <p:txBody>
          <a:bodyPr wrap="square" lIns="0" tIns="0" rIns="0" bIns="0" rtlCol="0" anchor="ctr"/>
          <a:lstStyle/>
          <a:p>
            <a:pPr indent="0" marL="0">
              <a:buNone/>
            </a:pPr>
            <a:r>
              <a:rPr lang="en-US" sz="1200" b="1" dirty="0">
                <a:solidFill>
                  <a:srgbClr val="EC4899"/>
                </a:solidFill>
                <a:latin typeface="Calibri" pitchFamily="34" charset="0"/>
                <a:ea typeface="Calibri" pitchFamily="34" charset="-122"/>
                <a:cs typeface="Calibri" pitchFamily="34" charset="-120"/>
              </a:rPr>
              <a:t>TECHNOLOGIES USED</a:t>
            </a:r>
            <a:endParaRPr lang="en-US" sz="1200" dirty="0"/>
          </a:p>
        </p:txBody>
      </p:sp>
      <p:sp>
        <p:nvSpPr>
          <p:cNvPr id="53" name="card"/>
          <p:cNvSpPr/>
          <p:nvPr/>
        </p:nvSpPr>
        <p:spPr>
          <a:xfrm>
            <a:off x="548640" y="4846320"/>
            <a:ext cx="2011680" cy="502920"/>
          </a:xfrm>
          <a:prstGeom prst="roundRect">
            <a:avLst>
              <a:gd name="adj" fmla="val 21818"/>
            </a:avLst>
          </a:prstGeom>
          <a:solidFill>
            <a:srgbClr val="241C45"/>
          </a:solidFill>
          <a:ln w="12700">
            <a:solidFill>
              <a:srgbClr val="8B5CF6"/>
            </a:solidFill>
            <a:prstDash val="solid"/>
          </a:ln>
        </p:spPr>
      </p:sp>
      <p:sp>
        <p:nvSpPr>
          <p:cNvPr id="54" name="Text 42"/>
          <p:cNvSpPr txBox="1"/>
          <p:nvPr/>
        </p:nvSpPr>
        <p:spPr>
          <a:xfrm>
            <a:off x="548640" y="4846320"/>
            <a:ext cx="2011680" cy="502920"/>
          </a:xfrm>
          <a:prstGeom prst="rect">
            <a:avLst/>
          </a:prstGeom>
          <a:noFill/>
          <a:ln/>
        </p:spPr>
        <p:txBody>
          <a:bodyPr wrap="square" lIns="0" tIns="0" rIns="0" bIns="0" rtlCol="0" anchor="ctr"/>
          <a:lstStyle/>
          <a:p>
            <a:pPr algn="ctr" indent="0" marL="0">
              <a:buNone/>
            </a:pPr>
            <a:r>
              <a:rPr lang="en-US" sz="1400" b="1" dirty="0">
                <a:solidFill>
                  <a:srgbClr val="F5F7FB"/>
                </a:solidFill>
                <a:latin typeface="Calibri" pitchFamily="34" charset="0"/>
                <a:ea typeface="Calibri" pitchFamily="34" charset="-122"/>
                <a:cs typeface="Calibri" pitchFamily="34" charset="-120"/>
              </a:rPr>
              <a:t>Python</a:t>
            </a:r>
            <a:endParaRPr lang="en-US" sz="1400" dirty="0"/>
          </a:p>
        </p:txBody>
      </p:sp>
      <p:sp>
        <p:nvSpPr>
          <p:cNvPr id="55" name="card"/>
          <p:cNvSpPr/>
          <p:nvPr/>
        </p:nvSpPr>
        <p:spPr>
          <a:xfrm>
            <a:off x="2811780" y="4846320"/>
            <a:ext cx="2011680" cy="502920"/>
          </a:xfrm>
          <a:prstGeom prst="roundRect">
            <a:avLst>
              <a:gd name="adj" fmla="val 21818"/>
            </a:avLst>
          </a:prstGeom>
          <a:solidFill>
            <a:srgbClr val="241C45"/>
          </a:solidFill>
          <a:ln w="12700">
            <a:solidFill>
              <a:srgbClr val="8B5CF6"/>
            </a:solidFill>
            <a:prstDash val="solid"/>
          </a:ln>
        </p:spPr>
      </p:sp>
      <p:sp>
        <p:nvSpPr>
          <p:cNvPr id="56" name="Text 44"/>
          <p:cNvSpPr txBox="1"/>
          <p:nvPr/>
        </p:nvSpPr>
        <p:spPr>
          <a:xfrm>
            <a:off x="2811780" y="4846320"/>
            <a:ext cx="2011680" cy="502920"/>
          </a:xfrm>
          <a:prstGeom prst="rect">
            <a:avLst/>
          </a:prstGeom>
          <a:noFill/>
          <a:ln/>
        </p:spPr>
        <p:txBody>
          <a:bodyPr wrap="square" lIns="0" tIns="0" rIns="0" bIns="0" rtlCol="0" anchor="ctr"/>
          <a:lstStyle/>
          <a:p>
            <a:pPr algn="ctr" indent="0" marL="0">
              <a:buNone/>
            </a:pPr>
            <a:r>
              <a:rPr lang="en-US" sz="1400" b="1" dirty="0">
                <a:solidFill>
                  <a:srgbClr val="F5F7FB"/>
                </a:solidFill>
                <a:latin typeface="Calibri" pitchFamily="34" charset="0"/>
                <a:ea typeface="Calibri" pitchFamily="34" charset="-122"/>
                <a:cs typeface="Calibri" pitchFamily="34" charset="-120"/>
              </a:rPr>
              <a:t>Streamlit</a:t>
            </a:r>
            <a:endParaRPr lang="en-US" sz="1400" dirty="0"/>
          </a:p>
        </p:txBody>
      </p:sp>
      <p:sp>
        <p:nvSpPr>
          <p:cNvPr id="57" name="card"/>
          <p:cNvSpPr/>
          <p:nvPr/>
        </p:nvSpPr>
        <p:spPr>
          <a:xfrm>
            <a:off x="5074920" y="4846320"/>
            <a:ext cx="2011680" cy="502920"/>
          </a:xfrm>
          <a:prstGeom prst="roundRect">
            <a:avLst>
              <a:gd name="adj" fmla="val 21818"/>
            </a:avLst>
          </a:prstGeom>
          <a:solidFill>
            <a:srgbClr val="241C45"/>
          </a:solidFill>
          <a:ln w="12700">
            <a:solidFill>
              <a:srgbClr val="8B5CF6"/>
            </a:solidFill>
            <a:prstDash val="solid"/>
          </a:ln>
        </p:spPr>
      </p:sp>
      <p:sp>
        <p:nvSpPr>
          <p:cNvPr id="58" name="Text 46"/>
          <p:cNvSpPr txBox="1"/>
          <p:nvPr/>
        </p:nvSpPr>
        <p:spPr>
          <a:xfrm>
            <a:off x="5074920" y="4846320"/>
            <a:ext cx="2011680" cy="502920"/>
          </a:xfrm>
          <a:prstGeom prst="rect">
            <a:avLst/>
          </a:prstGeom>
          <a:noFill/>
          <a:ln/>
        </p:spPr>
        <p:txBody>
          <a:bodyPr wrap="square" lIns="0" tIns="0" rIns="0" bIns="0" rtlCol="0" anchor="ctr"/>
          <a:lstStyle/>
          <a:p>
            <a:pPr algn="ctr" indent="0" marL="0">
              <a:buNone/>
            </a:pPr>
            <a:r>
              <a:rPr lang="en-US" sz="1400" b="1" dirty="0">
                <a:solidFill>
                  <a:srgbClr val="F5F7FB"/>
                </a:solidFill>
                <a:latin typeface="Calibri" pitchFamily="34" charset="0"/>
                <a:ea typeface="Calibri" pitchFamily="34" charset="-122"/>
                <a:cs typeface="Calibri" pitchFamily="34" charset="-120"/>
              </a:rPr>
              <a:t>Google Gemini API</a:t>
            </a:r>
            <a:endParaRPr lang="en-US" sz="1400" dirty="0"/>
          </a:p>
        </p:txBody>
      </p:sp>
      <p:sp>
        <p:nvSpPr>
          <p:cNvPr id="59" name="card"/>
          <p:cNvSpPr/>
          <p:nvPr/>
        </p:nvSpPr>
        <p:spPr>
          <a:xfrm>
            <a:off x="7338060" y="4846320"/>
            <a:ext cx="2011680" cy="502920"/>
          </a:xfrm>
          <a:prstGeom prst="roundRect">
            <a:avLst>
              <a:gd name="adj" fmla="val 21818"/>
            </a:avLst>
          </a:prstGeom>
          <a:solidFill>
            <a:srgbClr val="241C45"/>
          </a:solidFill>
          <a:ln w="12700">
            <a:solidFill>
              <a:srgbClr val="8B5CF6"/>
            </a:solidFill>
            <a:prstDash val="solid"/>
          </a:ln>
        </p:spPr>
      </p:sp>
      <p:sp>
        <p:nvSpPr>
          <p:cNvPr id="60" name="Text 48"/>
          <p:cNvSpPr txBox="1"/>
          <p:nvPr/>
        </p:nvSpPr>
        <p:spPr>
          <a:xfrm>
            <a:off x="7338060" y="4846320"/>
            <a:ext cx="2011680" cy="502920"/>
          </a:xfrm>
          <a:prstGeom prst="rect">
            <a:avLst/>
          </a:prstGeom>
          <a:noFill/>
          <a:ln/>
        </p:spPr>
        <p:txBody>
          <a:bodyPr wrap="square" lIns="0" tIns="0" rIns="0" bIns="0" rtlCol="0" anchor="ctr"/>
          <a:lstStyle/>
          <a:p>
            <a:pPr algn="ctr" indent="0" marL="0">
              <a:buNone/>
            </a:pPr>
            <a:r>
              <a:rPr lang="en-US" sz="1400" b="1" dirty="0">
                <a:solidFill>
                  <a:srgbClr val="F5F7FB"/>
                </a:solidFill>
                <a:latin typeface="Calibri" pitchFamily="34" charset="0"/>
                <a:ea typeface="Calibri" pitchFamily="34" charset="-122"/>
                <a:cs typeface="Calibri" pitchFamily="34" charset="-120"/>
              </a:rPr>
              <a:t>Pydantic</a:t>
            </a:r>
            <a:endParaRPr lang="en-US" sz="1400" dirty="0"/>
          </a:p>
        </p:txBody>
      </p:sp>
      <p:sp>
        <p:nvSpPr>
          <p:cNvPr id="61" name="card"/>
          <p:cNvSpPr/>
          <p:nvPr/>
        </p:nvSpPr>
        <p:spPr>
          <a:xfrm>
            <a:off x="9601200" y="4846320"/>
            <a:ext cx="2011680" cy="502920"/>
          </a:xfrm>
          <a:prstGeom prst="roundRect">
            <a:avLst>
              <a:gd name="adj" fmla="val 21818"/>
            </a:avLst>
          </a:prstGeom>
          <a:solidFill>
            <a:srgbClr val="241C45"/>
          </a:solidFill>
          <a:ln w="12700">
            <a:solidFill>
              <a:srgbClr val="8B5CF6"/>
            </a:solidFill>
            <a:prstDash val="solid"/>
          </a:ln>
        </p:spPr>
      </p:sp>
      <p:sp>
        <p:nvSpPr>
          <p:cNvPr id="62" name="Text 50"/>
          <p:cNvSpPr txBox="1"/>
          <p:nvPr/>
        </p:nvSpPr>
        <p:spPr>
          <a:xfrm>
            <a:off x="9601200" y="4846320"/>
            <a:ext cx="2011680" cy="502920"/>
          </a:xfrm>
          <a:prstGeom prst="rect">
            <a:avLst/>
          </a:prstGeom>
          <a:noFill/>
          <a:ln/>
        </p:spPr>
        <p:txBody>
          <a:bodyPr wrap="square" lIns="0" tIns="0" rIns="0" bIns="0" rtlCol="0" anchor="ctr"/>
          <a:lstStyle/>
          <a:p>
            <a:pPr algn="ctr" indent="0" marL="0">
              <a:buNone/>
            </a:pPr>
            <a:r>
              <a:rPr lang="en-US" sz="1400" b="1" dirty="0">
                <a:solidFill>
                  <a:srgbClr val="F5F7FB"/>
                </a:solidFill>
                <a:latin typeface="Calibri" pitchFamily="34" charset="0"/>
                <a:ea typeface="Calibri" pitchFamily="34" charset="-122"/>
                <a:cs typeface="Calibri" pitchFamily="34" charset="-120"/>
              </a:rPr>
              <a:t>Pandas</a:t>
            </a:r>
            <a:endParaRPr lang="en-US" sz="1400" dirty="0"/>
          </a:p>
        </p:txBody>
      </p:sp>
      <p:sp>
        <p:nvSpPr>
          <p:cNvPr id="63" name="card"/>
          <p:cNvSpPr/>
          <p:nvPr/>
        </p:nvSpPr>
        <p:spPr>
          <a:xfrm>
            <a:off x="548640" y="5486400"/>
            <a:ext cx="2011680" cy="502920"/>
          </a:xfrm>
          <a:prstGeom prst="roundRect">
            <a:avLst>
              <a:gd name="adj" fmla="val 21818"/>
            </a:avLst>
          </a:prstGeom>
          <a:solidFill>
            <a:srgbClr val="241C45"/>
          </a:solidFill>
          <a:ln w="12700">
            <a:solidFill>
              <a:srgbClr val="8B5CF6"/>
            </a:solidFill>
            <a:prstDash val="solid"/>
          </a:ln>
        </p:spPr>
      </p:sp>
      <p:sp>
        <p:nvSpPr>
          <p:cNvPr id="64" name="Text 52"/>
          <p:cNvSpPr txBox="1"/>
          <p:nvPr/>
        </p:nvSpPr>
        <p:spPr>
          <a:xfrm>
            <a:off x="548640" y="5486400"/>
            <a:ext cx="2011680" cy="502920"/>
          </a:xfrm>
          <a:prstGeom prst="rect">
            <a:avLst/>
          </a:prstGeom>
          <a:noFill/>
          <a:ln/>
        </p:spPr>
        <p:txBody>
          <a:bodyPr wrap="square" lIns="0" tIns="0" rIns="0" bIns="0" rtlCol="0" anchor="ctr"/>
          <a:lstStyle/>
          <a:p>
            <a:pPr algn="ctr" indent="0" marL="0">
              <a:buNone/>
            </a:pPr>
            <a:r>
              <a:rPr lang="en-US" sz="1400" b="1" dirty="0">
                <a:solidFill>
                  <a:srgbClr val="F5F7FB"/>
                </a:solidFill>
                <a:latin typeface="Calibri" pitchFamily="34" charset="0"/>
                <a:ea typeface="Calibri" pitchFamily="34" charset="-122"/>
                <a:cs typeface="Calibri" pitchFamily="34" charset="-120"/>
              </a:rPr>
              <a:t>Pillow</a:t>
            </a:r>
            <a:endParaRPr lang="en-US" sz="1400" dirty="0"/>
          </a:p>
        </p:txBody>
      </p:sp>
      <p:sp>
        <p:nvSpPr>
          <p:cNvPr id="65" name="card"/>
          <p:cNvSpPr/>
          <p:nvPr/>
        </p:nvSpPr>
        <p:spPr>
          <a:xfrm>
            <a:off x="2811780" y="5486400"/>
            <a:ext cx="2011680" cy="502920"/>
          </a:xfrm>
          <a:prstGeom prst="roundRect">
            <a:avLst>
              <a:gd name="adj" fmla="val 21818"/>
            </a:avLst>
          </a:prstGeom>
          <a:solidFill>
            <a:srgbClr val="241C45"/>
          </a:solidFill>
          <a:ln w="12700">
            <a:solidFill>
              <a:srgbClr val="8B5CF6"/>
            </a:solidFill>
            <a:prstDash val="solid"/>
          </a:ln>
        </p:spPr>
      </p:sp>
      <p:sp>
        <p:nvSpPr>
          <p:cNvPr id="66" name="Text 54"/>
          <p:cNvSpPr txBox="1"/>
          <p:nvPr/>
        </p:nvSpPr>
        <p:spPr>
          <a:xfrm>
            <a:off x="2811780" y="5486400"/>
            <a:ext cx="2011680" cy="502920"/>
          </a:xfrm>
          <a:prstGeom prst="rect">
            <a:avLst/>
          </a:prstGeom>
          <a:noFill/>
          <a:ln/>
        </p:spPr>
        <p:txBody>
          <a:bodyPr wrap="square" lIns="0" tIns="0" rIns="0" bIns="0" rtlCol="0" anchor="ctr"/>
          <a:lstStyle/>
          <a:p>
            <a:pPr algn="ctr" indent="0" marL="0">
              <a:buNone/>
            </a:pPr>
            <a:r>
              <a:rPr lang="en-US" sz="1400" b="1" dirty="0">
                <a:solidFill>
                  <a:srgbClr val="F5F7FB"/>
                </a:solidFill>
                <a:latin typeface="Calibri" pitchFamily="34" charset="0"/>
                <a:ea typeface="Calibri" pitchFamily="34" charset="-122"/>
                <a:cs typeface="Calibri" pitchFamily="34" charset="-120"/>
              </a:rPr>
              <a:t>Requests</a:t>
            </a:r>
            <a:endParaRPr lang="en-US" sz="1400" dirty="0"/>
          </a:p>
        </p:txBody>
      </p:sp>
      <p:sp>
        <p:nvSpPr>
          <p:cNvPr id="67" name="card"/>
          <p:cNvSpPr/>
          <p:nvPr/>
        </p:nvSpPr>
        <p:spPr>
          <a:xfrm>
            <a:off x="5074920" y="5486400"/>
            <a:ext cx="2011680" cy="502920"/>
          </a:xfrm>
          <a:prstGeom prst="roundRect">
            <a:avLst>
              <a:gd name="adj" fmla="val 21818"/>
            </a:avLst>
          </a:prstGeom>
          <a:solidFill>
            <a:srgbClr val="241C45"/>
          </a:solidFill>
          <a:ln w="12700">
            <a:solidFill>
              <a:srgbClr val="8B5CF6"/>
            </a:solidFill>
            <a:prstDash val="solid"/>
          </a:ln>
        </p:spPr>
      </p:sp>
      <p:sp>
        <p:nvSpPr>
          <p:cNvPr id="68" name="Text 56"/>
          <p:cNvSpPr txBox="1"/>
          <p:nvPr/>
        </p:nvSpPr>
        <p:spPr>
          <a:xfrm>
            <a:off x="5074920" y="5486400"/>
            <a:ext cx="2011680" cy="502920"/>
          </a:xfrm>
          <a:prstGeom prst="rect">
            <a:avLst/>
          </a:prstGeom>
          <a:noFill/>
          <a:ln/>
        </p:spPr>
        <p:txBody>
          <a:bodyPr wrap="square" lIns="0" tIns="0" rIns="0" bIns="0" rtlCol="0" anchor="ctr"/>
          <a:lstStyle/>
          <a:p>
            <a:pPr algn="ctr" indent="0" marL="0">
              <a:buNone/>
            </a:pPr>
            <a:r>
              <a:rPr lang="en-US" sz="1400" b="1" dirty="0">
                <a:solidFill>
                  <a:srgbClr val="F5F7FB"/>
                </a:solidFill>
                <a:latin typeface="Calibri" pitchFamily="34" charset="0"/>
                <a:ea typeface="Calibri" pitchFamily="34" charset="-122"/>
                <a:cs typeface="Calibri" pitchFamily="34" charset="-120"/>
              </a:rPr>
              <a:t>Twilio</a:t>
            </a:r>
            <a:endParaRPr lang="en-US" sz="1400" dirty="0"/>
          </a:p>
        </p:txBody>
      </p:sp>
      <p:sp>
        <p:nvSpPr>
          <p:cNvPr id="69" name="card"/>
          <p:cNvSpPr/>
          <p:nvPr/>
        </p:nvSpPr>
        <p:spPr>
          <a:xfrm>
            <a:off x="7338060" y="5486400"/>
            <a:ext cx="2011680" cy="502920"/>
          </a:xfrm>
          <a:prstGeom prst="roundRect">
            <a:avLst>
              <a:gd name="adj" fmla="val 21818"/>
            </a:avLst>
          </a:prstGeom>
          <a:solidFill>
            <a:srgbClr val="241C45"/>
          </a:solidFill>
          <a:ln w="12700">
            <a:solidFill>
              <a:srgbClr val="8B5CF6"/>
            </a:solidFill>
            <a:prstDash val="solid"/>
          </a:ln>
        </p:spPr>
      </p:sp>
      <p:sp>
        <p:nvSpPr>
          <p:cNvPr id="70" name="Text 58"/>
          <p:cNvSpPr txBox="1"/>
          <p:nvPr/>
        </p:nvSpPr>
        <p:spPr>
          <a:xfrm>
            <a:off x="7338060" y="5486400"/>
            <a:ext cx="2011680" cy="502920"/>
          </a:xfrm>
          <a:prstGeom prst="rect">
            <a:avLst/>
          </a:prstGeom>
          <a:noFill/>
          <a:ln/>
        </p:spPr>
        <p:txBody>
          <a:bodyPr wrap="square" lIns="0" tIns="0" rIns="0" bIns="0" rtlCol="0" anchor="ctr"/>
          <a:lstStyle/>
          <a:p>
            <a:pPr algn="ctr" indent="0" marL="0">
              <a:buNone/>
            </a:pPr>
            <a:r>
              <a:rPr lang="en-US" sz="1400" b="1" dirty="0">
                <a:solidFill>
                  <a:srgbClr val="F5F7FB"/>
                </a:solidFill>
                <a:latin typeface="Calibri" pitchFamily="34" charset="0"/>
                <a:ea typeface="Calibri" pitchFamily="34" charset="-122"/>
                <a:cs typeface="Calibri" pitchFamily="34" charset="-120"/>
              </a:rPr>
              <a:t>SMTP (Email)</a:t>
            </a:r>
            <a:endParaRPr lang="en-US" sz="14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899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rgbClr val="F5F7FB"/>
                </a:solidFill>
                <a:latin typeface="Calibri" pitchFamily="34" charset="0"/>
                <a:ea typeface="Calibri" pitchFamily="34" charset="-122"/>
                <a:cs typeface="Calibri" pitchFamily="34" charset="-120"/>
              </a:rPr>
              <a:t>Key Features</a:t>
            </a:r>
            <a:endParaRPr lang="en-US" sz="3600" dirty="0"/>
          </a:p>
        </p:txBody>
      </p:sp>
      <p:sp>
        <p:nvSpPr>
          <p:cNvPr id="4" name="card"/>
          <p:cNvSpPr/>
          <p:nvPr/>
        </p:nvSpPr>
        <p:spPr>
          <a:xfrm>
            <a:off x="548640" y="1325880"/>
            <a:ext cx="3520440" cy="1463040"/>
          </a:xfrm>
          <a:prstGeom prst="roundRect">
            <a:avLst>
              <a:gd name="adj" fmla="val 7500"/>
            </a:avLst>
          </a:prstGeom>
          <a:solidFill>
            <a:srgbClr val="161B27"/>
          </a:solidFill>
          <a:ln w="12700">
            <a:solidFill>
              <a:srgbClr val="2B3240"/>
            </a:solidFill>
            <a:prstDash val="solid"/>
          </a:ln>
          <a:effectLst>
            <a:outerShdw sx="100000" sy="100000" kx="0" ky="0" algn="bl" rotWithShape="0" blurRad="177800" dist="50800" dir="16200000">
              <a:srgbClr val="8B5CF6">
                <a:alpha val="28000"/>
              </a:srgbClr>
            </a:outerShdw>
          </a:effectLst>
        </p:spPr>
      </p:sp>
      <p:sp>
        <p:nvSpPr>
          <p:cNvPr id="5" name="icon-circle"/>
          <p:cNvSpPr/>
          <p:nvPr/>
        </p:nvSpPr>
        <p:spPr>
          <a:xfrm>
            <a:off x="777240" y="1737360"/>
            <a:ext cx="640080" cy="640080"/>
          </a:xfrm>
          <a:prstGeom prst="ellipse">
            <a:avLst/>
          </a:prstGeom>
          <a:solidFill>
            <a:srgbClr val="241C45"/>
          </a:solidFill>
          <a:ln w="12700">
            <a:solidFill>
              <a:srgbClr val="8B5CF6"/>
            </a:solidFill>
            <a:prstDash val="solid"/>
          </a:ln>
        </p:spPr>
      </p:sp>
      <p:pic>
        <p:nvPicPr>
          <p:cNvPr id="6" name="icon"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7" name="Text 3"/>
          <p:cNvSpPr txBox="1"/>
          <p:nvPr/>
        </p:nvSpPr>
        <p:spPr>
          <a:xfrm>
            <a:off x="1600200" y="1600200"/>
            <a:ext cx="2331720" cy="411480"/>
          </a:xfrm>
          <a:prstGeom prst="rect">
            <a:avLst/>
          </a:prstGeom>
          <a:noFill/>
          <a:ln/>
        </p:spPr>
        <p:txBody>
          <a:bodyPr wrap="square" lIns="0" tIns="0" rIns="0" bIns="0" rtlCol="0" anchor="b"/>
          <a:lstStyle/>
          <a:p>
            <a:pPr indent="0" marL="0">
              <a:buNone/>
            </a:pPr>
            <a:r>
              <a:rPr lang="en-US" sz="1700" b="1" dirty="0">
                <a:solidFill>
                  <a:srgbClr val="F5F7FB"/>
                </a:solidFill>
                <a:latin typeface="Calibri" pitchFamily="34" charset="0"/>
                <a:ea typeface="Calibri" pitchFamily="34" charset="-122"/>
                <a:cs typeface="Calibri" pitchFamily="34" charset="-120"/>
              </a:rPr>
              <a:t>AI Receipt Analysis</a:t>
            </a:r>
            <a:endParaRPr lang="en-US" sz="1700" dirty="0"/>
          </a:p>
        </p:txBody>
      </p:sp>
      <p:sp>
        <p:nvSpPr>
          <p:cNvPr id="8" name="Text 4"/>
          <p:cNvSpPr txBox="1"/>
          <p:nvPr/>
        </p:nvSpPr>
        <p:spPr>
          <a:xfrm>
            <a:off x="1600200" y="2057400"/>
            <a:ext cx="2331720" cy="548640"/>
          </a:xfrm>
          <a:prstGeom prst="rect">
            <a:avLst/>
          </a:prstGeom>
          <a:noFill/>
          <a:ln/>
        </p:spPr>
        <p:txBody>
          <a:bodyPr wrap="square" lIns="0" tIns="0" rIns="0" bIns="0" rtlCol="0" anchor="t"/>
          <a:lstStyle/>
          <a:p>
            <a:pPr indent="0" marL="0">
              <a:buNone/>
            </a:pPr>
            <a:r>
              <a:rPr lang="en-US" sz="1300" dirty="0">
                <a:solidFill>
                  <a:srgbClr val="A3ABBC"/>
                </a:solidFill>
                <a:latin typeface="Calibri" pitchFamily="34" charset="0"/>
                <a:ea typeface="Calibri" pitchFamily="34" charset="-122"/>
                <a:cs typeface="Calibri" pitchFamily="34" charset="-120"/>
              </a:rPr>
              <a:t>Gemini reads receipt images</a:t>
            </a:r>
            <a:endParaRPr lang="en-US" sz="1300" dirty="0"/>
          </a:p>
        </p:txBody>
      </p:sp>
      <p:sp>
        <p:nvSpPr>
          <p:cNvPr id="9" name="card"/>
          <p:cNvSpPr/>
          <p:nvPr/>
        </p:nvSpPr>
        <p:spPr>
          <a:xfrm>
            <a:off x="4320540" y="1325880"/>
            <a:ext cx="3520440" cy="1463040"/>
          </a:xfrm>
          <a:prstGeom prst="roundRect">
            <a:avLst>
              <a:gd name="adj" fmla="val 7500"/>
            </a:avLst>
          </a:prstGeom>
          <a:solidFill>
            <a:srgbClr val="161B27"/>
          </a:solidFill>
          <a:ln w="12700">
            <a:solidFill>
              <a:srgbClr val="2B3240"/>
            </a:solidFill>
            <a:prstDash val="solid"/>
          </a:ln>
          <a:effectLst>
            <a:outerShdw sx="100000" sy="100000" kx="0" ky="0" algn="bl" rotWithShape="0" blurRad="177800" dist="50800" dir="16200000">
              <a:srgbClr val="8B5CF6">
                <a:alpha val="28000"/>
              </a:srgbClr>
            </a:outerShdw>
          </a:effectLst>
        </p:spPr>
      </p:sp>
      <p:sp>
        <p:nvSpPr>
          <p:cNvPr id="10" name="icon-circle"/>
          <p:cNvSpPr/>
          <p:nvPr/>
        </p:nvSpPr>
        <p:spPr>
          <a:xfrm>
            <a:off x="4549140" y="1737360"/>
            <a:ext cx="640080" cy="640080"/>
          </a:xfrm>
          <a:prstGeom prst="ellipse">
            <a:avLst/>
          </a:prstGeom>
          <a:solidFill>
            <a:srgbClr val="241C45"/>
          </a:solidFill>
          <a:ln w="12700">
            <a:solidFill>
              <a:srgbClr val="8B5CF6"/>
            </a:solidFill>
            <a:prstDash val="solid"/>
          </a:ln>
        </p:spPr>
      </p:sp>
      <p:pic>
        <p:nvPicPr>
          <p:cNvPr id="11" name="icon" descr="preencoded.png">    </p:cNvPr>
          <p:cNvPicPr>
            <a:picLocks noChangeAspect="1"/>
          </p:cNvPicPr>
          <p:nvPr/>
        </p:nvPicPr>
        <p:blipFill>
          <a:blip r:embed="rId2"/>
          <a:stretch>
            <a:fillRect/>
          </a:stretch>
        </p:blipFill>
        <p:spPr>
          <a:xfrm>
            <a:off x="4709160" y="1897380"/>
            <a:ext cx="320040" cy="320040"/>
          </a:xfrm>
          <a:prstGeom prst="rect">
            <a:avLst/>
          </a:prstGeom>
        </p:spPr>
      </p:pic>
      <p:sp>
        <p:nvSpPr>
          <p:cNvPr id="12" name="Text 7"/>
          <p:cNvSpPr txBox="1"/>
          <p:nvPr/>
        </p:nvSpPr>
        <p:spPr>
          <a:xfrm>
            <a:off x="5372100" y="1600200"/>
            <a:ext cx="2331720" cy="411480"/>
          </a:xfrm>
          <a:prstGeom prst="rect">
            <a:avLst/>
          </a:prstGeom>
          <a:noFill/>
          <a:ln/>
        </p:spPr>
        <p:txBody>
          <a:bodyPr wrap="square" lIns="0" tIns="0" rIns="0" bIns="0" rtlCol="0" anchor="b"/>
          <a:lstStyle/>
          <a:p>
            <a:pPr indent="0" marL="0">
              <a:buNone/>
            </a:pPr>
            <a:r>
              <a:rPr lang="en-US" sz="1700" b="1" dirty="0">
                <a:solidFill>
                  <a:srgbClr val="F5F7FB"/>
                </a:solidFill>
                <a:latin typeface="Calibri" pitchFamily="34" charset="0"/>
                <a:ea typeface="Calibri" pitchFamily="34" charset="-122"/>
                <a:cs typeface="Calibri" pitchFamily="34" charset="-120"/>
              </a:rPr>
              <a:t>Information Extraction</a:t>
            </a:r>
            <a:endParaRPr lang="en-US" sz="1700" dirty="0"/>
          </a:p>
        </p:txBody>
      </p:sp>
      <p:sp>
        <p:nvSpPr>
          <p:cNvPr id="13" name="Text 8"/>
          <p:cNvSpPr txBox="1"/>
          <p:nvPr/>
        </p:nvSpPr>
        <p:spPr>
          <a:xfrm>
            <a:off x="5372100" y="2057400"/>
            <a:ext cx="2331720" cy="548640"/>
          </a:xfrm>
          <a:prstGeom prst="rect">
            <a:avLst/>
          </a:prstGeom>
          <a:noFill/>
          <a:ln/>
        </p:spPr>
        <p:txBody>
          <a:bodyPr wrap="square" lIns="0" tIns="0" rIns="0" bIns="0" rtlCol="0" anchor="t"/>
          <a:lstStyle/>
          <a:p>
            <a:pPr indent="0" marL="0">
              <a:buNone/>
            </a:pPr>
            <a:r>
              <a:rPr lang="en-US" sz="1300" dirty="0">
                <a:solidFill>
                  <a:srgbClr val="A3ABBC"/>
                </a:solidFill>
                <a:latin typeface="Calibri" pitchFamily="34" charset="0"/>
                <a:ea typeface="Calibri" pitchFamily="34" charset="-122"/>
                <a:cs typeface="Calibri" pitchFamily="34" charset="-120"/>
              </a:rPr>
              <a:t>Items, tax, discount, total, merchant</a:t>
            </a:r>
            <a:endParaRPr lang="en-US" sz="1300" dirty="0"/>
          </a:p>
        </p:txBody>
      </p:sp>
      <p:sp>
        <p:nvSpPr>
          <p:cNvPr id="14" name="card"/>
          <p:cNvSpPr/>
          <p:nvPr/>
        </p:nvSpPr>
        <p:spPr>
          <a:xfrm>
            <a:off x="8092440" y="1325880"/>
            <a:ext cx="3520440" cy="1463040"/>
          </a:xfrm>
          <a:prstGeom prst="roundRect">
            <a:avLst>
              <a:gd name="adj" fmla="val 7500"/>
            </a:avLst>
          </a:prstGeom>
          <a:solidFill>
            <a:srgbClr val="161B27"/>
          </a:solidFill>
          <a:ln w="12700">
            <a:solidFill>
              <a:srgbClr val="2B3240"/>
            </a:solidFill>
            <a:prstDash val="solid"/>
          </a:ln>
        </p:spPr>
      </p:sp>
      <p:sp>
        <p:nvSpPr>
          <p:cNvPr id="15" name="icon-circle"/>
          <p:cNvSpPr/>
          <p:nvPr/>
        </p:nvSpPr>
        <p:spPr>
          <a:xfrm>
            <a:off x="8321040" y="1737360"/>
            <a:ext cx="640080" cy="640080"/>
          </a:xfrm>
          <a:prstGeom prst="ellipse">
            <a:avLst/>
          </a:prstGeom>
          <a:solidFill>
            <a:srgbClr val="241C45"/>
          </a:solidFill>
          <a:ln w="12700">
            <a:solidFill>
              <a:srgbClr val="8B5CF6"/>
            </a:solidFill>
            <a:prstDash val="solid"/>
          </a:ln>
        </p:spPr>
      </p:sp>
      <p:pic>
        <p:nvPicPr>
          <p:cNvPr id="16" name="icon" descr="preencoded.png">    </p:cNvPr>
          <p:cNvPicPr>
            <a:picLocks noChangeAspect="1"/>
          </p:cNvPicPr>
          <p:nvPr/>
        </p:nvPicPr>
        <p:blipFill>
          <a:blip r:embed="rId3"/>
          <a:stretch>
            <a:fillRect/>
          </a:stretch>
        </p:blipFill>
        <p:spPr>
          <a:xfrm>
            <a:off x="8481060" y="1897380"/>
            <a:ext cx="320040" cy="320040"/>
          </a:xfrm>
          <a:prstGeom prst="rect">
            <a:avLst/>
          </a:prstGeom>
        </p:spPr>
      </p:pic>
      <p:sp>
        <p:nvSpPr>
          <p:cNvPr id="17" name="Text 11"/>
          <p:cNvSpPr txBox="1"/>
          <p:nvPr/>
        </p:nvSpPr>
        <p:spPr>
          <a:xfrm>
            <a:off x="9144000" y="1600200"/>
            <a:ext cx="2331720" cy="411480"/>
          </a:xfrm>
          <a:prstGeom prst="rect">
            <a:avLst/>
          </a:prstGeom>
          <a:noFill/>
          <a:ln/>
        </p:spPr>
        <p:txBody>
          <a:bodyPr wrap="square" lIns="0" tIns="0" rIns="0" bIns="0" rtlCol="0" anchor="b"/>
          <a:lstStyle/>
          <a:p>
            <a:pPr indent="0" marL="0">
              <a:buNone/>
            </a:pPr>
            <a:r>
              <a:rPr lang="en-US" sz="1700" b="1" dirty="0">
                <a:solidFill>
                  <a:srgbClr val="F5F7FB"/>
                </a:solidFill>
                <a:latin typeface="Calibri" pitchFamily="34" charset="0"/>
                <a:ea typeface="Calibri" pitchFamily="34" charset="-122"/>
                <a:cs typeface="Calibri" pitchFamily="34" charset="-120"/>
              </a:rPr>
              <a:t>Bill Verification</a:t>
            </a:r>
            <a:endParaRPr lang="en-US" sz="1700" dirty="0"/>
          </a:p>
        </p:txBody>
      </p:sp>
      <p:sp>
        <p:nvSpPr>
          <p:cNvPr id="18" name="Text 12"/>
          <p:cNvSpPr txBox="1"/>
          <p:nvPr/>
        </p:nvSpPr>
        <p:spPr>
          <a:xfrm>
            <a:off x="9144000" y="2057400"/>
            <a:ext cx="2331720" cy="548640"/>
          </a:xfrm>
          <a:prstGeom prst="rect">
            <a:avLst/>
          </a:prstGeom>
          <a:noFill/>
          <a:ln/>
        </p:spPr>
        <p:txBody>
          <a:bodyPr wrap="square" lIns="0" tIns="0" rIns="0" bIns="0" rtlCol="0" anchor="t"/>
          <a:lstStyle/>
          <a:p>
            <a:pPr indent="0" marL="0">
              <a:buNone/>
            </a:pPr>
            <a:r>
              <a:rPr lang="en-US" sz="1300" dirty="0">
                <a:solidFill>
                  <a:srgbClr val="A3ABBC"/>
                </a:solidFill>
                <a:latin typeface="Calibri" pitchFamily="34" charset="0"/>
                <a:ea typeface="Calibri" pitchFamily="34" charset="-122"/>
                <a:cs typeface="Calibri" pitchFamily="34" charset="-120"/>
              </a:rPr>
              <a:t>Python checks the arithmetic</a:t>
            </a:r>
            <a:endParaRPr lang="en-US" sz="1300" dirty="0"/>
          </a:p>
        </p:txBody>
      </p:sp>
      <p:sp>
        <p:nvSpPr>
          <p:cNvPr id="19" name="card"/>
          <p:cNvSpPr/>
          <p:nvPr/>
        </p:nvSpPr>
        <p:spPr>
          <a:xfrm>
            <a:off x="548640" y="3017520"/>
            <a:ext cx="3520440" cy="1463040"/>
          </a:xfrm>
          <a:prstGeom prst="roundRect">
            <a:avLst>
              <a:gd name="adj" fmla="val 7500"/>
            </a:avLst>
          </a:prstGeom>
          <a:solidFill>
            <a:srgbClr val="161B27"/>
          </a:solidFill>
          <a:ln w="12700">
            <a:solidFill>
              <a:srgbClr val="2B3240"/>
            </a:solidFill>
            <a:prstDash val="solid"/>
          </a:ln>
        </p:spPr>
      </p:sp>
      <p:sp>
        <p:nvSpPr>
          <p:cNvPr id="20" name="icon-circle"/>
          <p:cNvSpPr/>
          <p:nvPr/>
        </p:nvSpPr>
        <p:spPr>
          <a:xfrm>
            <a:off x="777240" y="3429000"/>
            <a:ext cx="640080" cy="640080"/>
          </a:xfrm>
          <a:prstGeom prst="ellipse">
            <a:avLst/>
          </a:prstGeom>
          <a:solidFill>
            <a:srgbClr val="241C45"/>
          </a:solidFill>
          <a:ln w="12700">
            <a:solidFill>
              <a:srgbClr val="8B5CF6"/>
            </a:solidFill>
            <a:prstDash val="solid"/>
          </a:ln>
        </p:spPr>
      </p:sp>
      <p:pic>
        <p:nvPicPr>
          <p:cNvPr id="21" name="icon" descr="preencoded.png">    </p:cNvPr>
          <p:cNvPicPr>
            <a:picLocks noChangeAspect="1"/>
          </p:cNvPicPr>
          <p:nvPr/>
        </p:nvPicPr>
        <p:blipFill>
          <a:blip r:embed="rId4"/>
          <a:stretch>
            <a:fillRect/>
          </a:stretch>
        </p:blipFill>
        <p:spPr>
          <a:xfrm>
            <a:off x="937260" y="3589020"/>
            <a:ext cx="320040" cy="320040"/>
          </a:xfrm>
          <a:prstGeom prst="rect">
            <a:avLst/>
          </a:prstGeom>
        </p:spPr>
      </p:pic>
      <p:sp>
        <p:nvSpPr>
          <p:cNvPr id="22" name="Text 15"/>
          <p:cNvSpPr txBox="1"/>
          <p:nvPr/>
        </p:nvSpPr>
        <p:spPr>
          <a:xfrm>
            <a:off x="1600200" y="3291840"/>
            <a:ext cx="2331720" cy="411480"/>
          </a:xfrm>
          <a:prstGeom prst="rect">
            <a:avLst/>
          </a:prstGeom>
          <a:noFill/>
          <a:ln/>
        </p:spPr>
        <p:txBody>
          <a:bodyPr wrap="square" lIns="0" tIns="0" rIns="0" bIns="0" rtlCol="0" anchor="b"/>
          <a:lstStyle/>
          <a:p>
            <a:pPr indent="0" marL="0">
              <a:buNone/>
            </a:pPr>
            <a:r>
              <a:rPr lang="en-US" sz="1700" b="1" dirty="0">
                <a:solidFill>
                  <a:srgbClr val="F5F7FB"/>
                </a:solidFill>
                <a:latin typeface="Calibri" pitchFamily="34" charset="0"/>
                <a:ea typeface="Calibri" pitchFamily="34" charset="-122"/>
                <a:cs typeface="Calibri" pitchFamily="34" charset="-120"/>
              </a:rPr>
              <a:t>Smart Bill Splitting</a:t>
            </a:r>
            <a:endParaRPr lang="en-US" sz="1700" dirty="0"/>
          </a:p>
        </p:txBody>
      </p:sp>
      <p:sp>
        <p:nvSpPr>
          <p:cNvPr id="23" name="Text 16"/>
          <p:cNvSpPr txBox="1"/>
          <p:nvPr/>
        </p:nvSpPr>
        <p:spPr>
          <a:xfrm>
            <a:off x="1600200" y="3749040"/>
            <a:ext cx="2331720" cy="548640"/>
          </a:xfrm>
          <a:prstGeom prst="rect">
            <a:avLst/>
          </a:prstGeom>
          <a:noFill/>
          <a:ln/>
        </p:spPr>
        <p:txBody>
          <a:bodyPr wrap="square" lIns="0" tIns="0" rIns="0" bIns="0" rtlCol="0" anchor="t"/>
          <a:lstStyle/>
          <a:p>
            <a:pPr indent="0" marL="0">
              <a:buNone/>
            </a:pPr>
            <a:r>
              <a:rPr lang="en-US" sz="1300" dirty="0">
                <a:solidFill>
                  <a:srgbClr val="A3ABBC"/>
                </a:solidFill>
                <a:latin typeface="Calibri" pitchFamily="34" charset="0"/>
                <a:ea typeface="Calibri" pitchFamily="34" charset="-122"/>
                <a:cs typeface="Calibri" pitchFamily="34" charset="-120"/>
              </a:rPr>
              <a:t>Equal or item-based split</a:t>
            </a:r>
            <a:endParaRPr lang="en-US" sz="1300" dirty="0"/>
          </a:p>
        </p:txBody>
      </p:sp>
      <p:sp>
        <p:nvSpPr>
          <p:cNvPr id="24" name="card"/>
          <p:cNvSpPr/>
          <p:nvPr/>
        </p:nvSpPr>
        <p:spPr>
          <a:xfrm>
            <a:off x="4320540" y="3017520"/>
            <a:ext cx="3520440" cy="1463040"/>
          </a:xfrm>
          <a:prstGeom prst="roundRect">
            <a:avLst>
              <a:gd name="adj" fmla="val 7500"/>
            </a:avLst>
          </a:prstGeom>
          <a:solidFill>
            <a:srgbClr val="161B27"/>
          </a:solidFill>
          <a:ln w="12700">
            <a:solidFill>
              <a:srgbClr val="2B3240"/>
            </a:solidFill>
            <a:prstDash val="solid"/>
          </a:ln>
        </p:spPr>
      </p:sp>
      <p:sp>
        <p:nvSpPr>
          <p:cNvPr id="25" name="icon-circle"/>
          <p:cNvSpPr/>
          <p:nvPr/>
        </p:nvSpPr>
        <p:spPr>
          <a:xfrm>
            <a:off x="4549140" y="3429000"/>
            <a:ext cx="640080" cy="640080"/>
          </a:xfrm>
          <a:prstGeom prst="ellipse">
            <a:avLst/>
          </a:prstGeom>
          <a:solidFill>
            <a:srgbClr val="241C45"/>
          </a:solidFill>
          <a:ln w="12700">
            <a:solidFill>
              <a:srgbClr val="8B5CF6"/>
            </a:solidFill>
            <a:prstDash val="solid"/>
          </a:ln>
        </p:spPr>
      </p:sp>
      <p:pic>
        <p:nvPicPr>
          <p:cNvPr id="26" name="icon" descr="preencoded.png">    </p:cNvPr>
          <p:cNvPicPr>
            <a:picLocks noChangeAspect="1"/>
          </p:cNvPicPr>
          <p:nvPr/>
        </p:nvPicPr>
        <p:blipFill>
          <a:blip r:embed="rId5"/>
          <a:stretch>
            <a:fillRect/>
          </a:stretch>
        </p:blipFill>
        <p:spPr>
          <a:xfrm>
            <a:off x="4709160" y="3589020"/>
            <a:ext cx="320040" cy="320040"/>
          </a:xfrm>
          <a:prstGeom prst="rect">
            <a:avLst/>
          </a:prstGeom>
        </p:spPr>
      </p:pic>
      <p:sp>
        <p:nvSpPr>
          <p:cNvPr id="27" name="Text 19"/>
          <p:cNvSpPr txBox="1"/>
          <p:nvPr/>
        </p:nvSpPr>
        <p:spPr>
          <a:xfrm>
            <a:off x="5372100" y="3291840"/>
            <a:ext cx="2331720" cy="411480"/>
          </a:xfrm>
          <a:prstGeom prst="rect">
            <a:avLst/>
          </a:prstGeom>
          <a:noFill/>
          <a:ln/>
        </p:spPr>
        <p:txBody>
          <a:bodyPr wrap="square" lIns="0" tIns="0" rIns="0" bIns="0" rtlCol="0" anchor="b"/>
          <a:lstStyle/>
          <a:p>
            <a:pPr indent="0" marL="0">
              <a:buNone/>
            </a:pPr>
            <a:r>
              <a:rPr lang="en-US" sz="1700" b="1" dirty="0">
                <a:solidFill>
                  <a:srgbClr val="F5F7FB"/>
                </a:solidFill>
                <a:latin typeface="Calibri" pitchFamily="34" charset="0"/>
                <a:ea typeface="Calibri" pitchFamily="34" charset="-122"/>
                <a:cs typeface="Calibri" pitchFamily="34" charset="-120"/>
              </a:rPr>
              <a:t>Participant Management</a:t>
            </a:r>
            <a:endParaRPr lang="en-US" sz="1700" dirty="0"/>
          </a:p>
        </p:txBody>
      </p:sp>
      <p:sp>
        <p:nvSpPr>
          <p:cNvPr id="28" name="Text 20"/>
          <p:cNvSpPr txBox="1"/>
          <p:nvPr/>
        </p:nvSpPr>
        <p:spPr>
          <a:xfrm>
            <a:off x="5372100" y="3749040"/>
            <a:ext cx="2331720" cy="548640"/>
          </a:xfrm>
          <a:prstGeom prst="rect">
            <a:avLst/>
          </a:prstGeom>
          <a:noFill/>
          <a:ln/>
        </p:spPr>
        <p:txBody>
          <a:bodyPr wrap="square" lIns="0" tIns="0" rIns="0" bIns="0" rtlCol="0" anchor="t"/>
          <a:lstStyle/>
          <a:p>
            <a:pPr indent="0" marL="0">
              <a:buNone/>
            </a:pPr>
            <a:r>
              <a:rPr lang="en-US" sz="1300" dirty="0">
                <a:solidFill>
                  <a:srgbClr val="A3ABBC"/>
                </a:solidFill>
                <a:latin typeface="Calibri" pitchFamily="34" charset="0"/>
                <a:ea typeface="Calibri" pitchFamily="34" charset="-122"/>
                <a:cs typeface="Calibri" pitchFamily="34" charset="-120"/>
              </a:rPr>
              <a:t>Name, email, phone and share</a:t>
            </a:r>
            <a:endParaRPr lang="en-US" sz="1300" dirty="0"/>
          </a:p>
        </p:txBody>
      </p:sp>
      <p:sp>
        <p:nvSpPr>
          <p:cNvPr id="29" name="card"/>
          <p:cNvSpPr/>
          <p:nvPr/>
        </p:nvSpPr>
        <p:spPr>
          <a:xfrm>
            <a:off x="8092440" y="3017520"/>
            <a:ext cx="3520440" cy="1463040"/>
          </a:xfrm>
          <a:prstGeom prst="roundRect">
            <a:avLst>
              <a:gd name="adj" fmla="val 7500"/>
            </a:avLst>
          </a:prstGeom>
          <a:solidFill>
            <a:srgbClr val="161B27"/>
          </a:solidFill>
          <a:ln w="12700">
            <a:solidFill>
              <a:srgbClr val="2B3240"/>
            </a:solidFill>
            <a:prstDash val="solid"/>
          </a:ln>
        </p:spPr>
      </p:sp>
      <p:sp>
        <p:nvSpPr>
          <p:cNvPr id="30" name="icon-circle"/>
          <p:cNvSpPr/>
          <p:nvPr/>
        </p:nvSpPr>
        <p:spPr>
          <a:xfrm>
            <a:off x="8321040" y="3429000"/>
            <a:ext cx="640080" cy="640080"/>
          </a:xfrm>
          <a:prstGeom prst="ellipse">
            <a:avLst/>
          </a:prstGeom>
          <a:solidFill>
            <a:srgbClr val="241C45"/>
          </a:solidFill>
          <a:ln w="12700">
            <a:solidFill>
              <a:srgbClr val="8B5CF6"/>
            </a:solidFill>
            <a:prstDash val="solid"/>
          </a:ln>
        </p:spPr>
      </p:sp>
      <p:pic>
        <p:nvPicPr>
          <p:cNvPr id="31" name="icon" descr="preencoded.png">    </p:cNvPr>
          <p:cNvPicPr>
            <a:picLocks noChangeAspect="1"/>
          </p:cNvPicPr>
          <p:nvPr/>
        </p:nvPicPr>
        <p:blipFill>
          <a:blip r:embed="rId6"/>
          <a:stretch>
            <a:fillRect/>
          </a:stretch>
        </p:blipFill>
        <p:spPr>
          <a:xfrm>
            <a:off x="8481060" y="3589020"/>
            <a:ext cx="320040" cy="320040"/>
          </a:xfrm>
          <a:prstGeom prst="rect">
            <a:avLst/>
          </a:prstGeom>
        </p:spPr>
      </p:pic>
      <p:sp>
        <p:nvSpPr>
          <p:cNvPr id="32" name="Text 23"/>
          <p:cNvSpPr txBox="1"/>
          <p:nvPr/>
        </p:nvSpPr>
        <p:spPr>
          <a:xfrm>
            <a:off x="9144000" y="3291840"/>
            <a:ext cx="2331720" cy="411480"/>
          </a:xfrm>
          <a:prstGeom prst="rect">
            <a:avLst/>
          </a:prstGeom>
          <a:noFill/>
          <a:ln/>
        </p:spPr>
        <p:txBody>
          <a:bodyPr wrap="square" lIns="0" tIns="0" rIns="0" bIns="0" rtlCol="0" anchor="b"/>
          <a:lstStyle/>
          <a:p>
            <a:pPr indent="0" marL="0">
              <a:buNone/>
            </a:pPr>
            <a:r>
              <a:rPr lang="en-US" sz="1700" b="1" dirty="0">
                <a:solidFill>
                  <a:srgbClr val="F5F7FB"/>
                </a:solidFill>
                <a:latin typeface="Calibri" pitchFamily="34" charset="0"/>
                <a:ea typeface="Calibri" pitchFamily="34" charset="-122"/>
                <a:cs typeface="Calibri" pitchFamily="34" charset="-120"/>
              </a:rPr>
              <a:t>AI Receipt Chat</a:t>
            </a:r>
            <a:endParaRPr lang="en-US" sz="1700" dirty="0"/>
          </a:p>
        </p:txBody>
      </p:sp>
      <p:sp>
        <p:nvSpPr>
          <p:cNvPr id="33" name="Text 24"/>
          <p:cNvSpPr txBox="1"/>
          <p:nvPr/>
        </p:nvSpPr>
        <p:spPr>
          <a:xfrm>
            <a:off x="9144000" y="3749040"/>
            <a:ext cx="2331720" cy="548640"/>
          </a:xfrm>
          <a:prstGeom prst="rect">
            <a:avLst/>
          </a:prstGeom>
          <a:noFill/>
          <a:ln/>
        </p:spPr>
        <p:txBody>
          <a:bodyPr wrap="square" lIns="0" tIns="0" rIns="0" bIns="0" rtlCol="0" anchor="t"/>
          <a:lstStyle/>
          <a:p>
            <a:pPr indent="0" marL="0">
              <a:buNone/>
            </a:pPr>
            <a:r>
              <a:rPr lang="en-US" sz="1300" dirty="0">
                <a:solidFill>
                  <a:srgbClr val="A3ABBC"/>
                </a:solidFill>
                <a:latin typeface="Calibri" pitchFamily="34" charset="0"/>
                <a:ea typeface="Calibri" pitchFamily="34" charset="-122"/>
                <a:cs typeface="Calibri" pitchFamily="34" charset="-120"/>
              </a:rPr>
              <a:t>Ask questions about the receipt</a:t>
            </a:r>
            <a:endParaRPr lang="en-US" sz="1300" dirty="0"/>
          </a:p>
        </p:txBody>
      </p:sp>
      <p:sp>
        <p:nvSpPr>
          <p:cNvPr id="34" name="card"/>
          <p:cNvSpPr/>
          <p:nvPr/>
        </p:nvSpPr>
        <p:spPr>
          <a:xfrm>
            <a:off x="548640" y="4709160"/>
            <a:ext cx="3520440" cy="1463040"/>
          </a:xfrm>
          <a:prstGeom prst="roundRect">
            <a:avLst>
              <a:gd name="adj" fmla="val 7500"/>
            </a:avLst>
          </a:prstGeom>
          <a:solidFill>
            <a:srgbClr val="161B27"/>
          </a:solidFill>
          <a:ln w="12700">
            <a:solidFill>
              <a:srgbClr val="2B3240"/>
            </a:solidFill>
            <a:prstDash val="solid"/>
          </a:ln>
        </p:spPr>
      </p:sp>
      <p:sp>
        <p:nvSpPr>
          <p:cNvPr id="35" name="icon-circle"/>
          <p:cNvSpPr/>
          <p:nvPr/>
        </p:nvSpPr>
        <p:spPr>
          <a:xfrm>
            <a:off x="777240" y="5120640"/>
            <a:ext cx="640080" cy="640080"/>
          </a:xfrm>
          <a:prstGeom prst="ellipse">
            <a:avLst/>
          </a:prstGeom>
          <a:solidFill>
            <a:srgbClr val="241C45"/>
          </a:solidFill>
          <a:ln w="12700">
            <a:solidFill>
              <a:srgbClr val="8B5CF6"/>
            </a:solidFill>
            <a:prstDash val="solid"/>
          </a:ln>
        </p:spPr>
      </p:sp>
      <p:pic>
        <p:nvPicPr>
          <p:cNvPr id="36" name="icon" descr="preencoded.png">    </p:cNvPr>
          <p:cNvPicPr>
            <a:picLocks noChangeAspect="1"/>
          </p:cNvPicPr>
          <p:nvPr/>
        </p:nvPicPr>
        <p:blipFill>
          <a:blip r:embed="rId7"/>
          <a:stretch>
            <a:fillRect/>
          </a:stretch>
        </p:blipFill>
        <p:spPr>
          <a:xfrm>
            <a:off x="937260" y="5280660"/>
            <a:ext cx="320040" cy="320040"/>
          </a:xfrm>
          <a:prstGeom prst="rect">
            <a:avLst/>
          </a:prstGeom>
        </p:spPr>
      </p:pic>
      <p:sp>
        <p:nvSpPr>
          <p:cNvPr id="37" name="Text 27"/>
          <p:cNvSpPr txBox="1"/>
          <p:nvPr/>
        </p:nvSpPr>
        <p:spPr>
          <a:xfrm>
            <a:off x="1600200" y="4983480"/>
            <a:ext cx="2331720" cy="411480"/>
          </a:xfrm>
          <a:prstGeom prst="rect">
            <a:avLst/>
          </a:prstGeom>
          <a:noFill/>
          <a:ln/>
        </p:spPr>
        <p:txBody>
          <a:bodyPr wrap="square" lIns="0" tIns="0" rIns="0" bIns="0" rtlCol="0" anchor="b"/>
          <a:lstStyle/>
          <a:p>
            <a:pPr indent="0" marL="0">
              <a:buNone/>
            </a:pPr>
            <a:r>
              <a:rPr lang="en-US" sz="1700" b="1" dirty="0">
                <a:solidFill>
                  <a:srgbClr val="F5F7FB"/>
                </a:solidFill>
                <a:latin typeface="Calibri" pitchFamily="34" charset="0"/>
                <a:ea typeface="Calibri" pitchFamily="34" charset="-122"/>
                <a:cs typeface="Calibri" pitchFamily="34" charset="-120"/>
              </a:rPr>
              <a:t>Expense Summary</a:t>
            </a:r>
            <a:endParaRPr lang="en-US" sz="1700" dirty="0"/>
          </a:p>
        </p:txBody>
      </p:sp>
      <p:sp>
        <p:nvSpPr>
          <p:cNvPr id="38" name="Text 28"/>
          <p:cNvSpPr txBox="1"/>
          <p:nvPr/>
        </p:nvSpPr>
        <p:spPr>
          <a:xfrm>
            <a:off x="1600200" y="5440680"/>
            <a:ext cx="2331720" cy="548640"/>
          </a:xfrm>
          <a:prstGeom prst="rect">
            <a:avLst/>
          </a:prstGeom>
          <a:noFill/>
          <a:ln/>
        </p:spPr>
        <p:txBody>
          <a:bodyPr wrap="square" lIns="0" tIns="0" rIns="0" bIns="0" rtlCol="0" anchor="t"/>
          <a:lstStyle/>
          <a:p>
            <a:pPr indent="0" marL="0">
              <a:buNone/>
            </a:pPr>
            <a:r>
              <a:rPr lang="en-US" sz="1300" dirty="0">
                <a:solidFill>
                  <a:srgbClr val="A3ABBC"/>
                </a:solidFill>
                <a:latin typeface="Calibri" pitchFamily="34" charset="0"/>
                <a:ea typeface="Calibri" pitchFamily="34" charset="-122"/>
                <a:cs typeface="Calibri" pitchFamily="34" charset="-120"/>
              </a:rPr>
              <a:t>Complete bill summary</a:t>
            </a:r>
            <a:endParaRPr lang="en-US" sz="1300" dirty="0"/>
          </a:p>
        </p:txBody>
      </p:sp>
      <p:sp>
        <p:nvSpPr>
          <p:cNvPr id="39" name="card"/>
          <p:cNvSpPr/>
          <p:nvPr/>
        </p:nvSpPr>
        <p:spPr>
          <a:xfrm>
            <a:off x="4320540" y="4709160"/>
            <a:ext cx="3520440" cy="1463040"/>
          </a:xfrm>
          <a:prstGeom prst="roundRect">
            <a:avLst>
              <a:gd name="adj" fmla="val 7500"/>
            </a:avLst>
          </a:prstGeom>
          <a:solidFill>
            <a:srgbClr val="161B27"/>
          </a:solidFill>
          <a:ln w="12700">
            <a:solidFill>
              <a:srgbClr val="2B3240"/>
            </a:solidFill>
            <a:prstDash val="solid"/>
          </a:ln>
        </p:spPr>
      </p:sp>
      <p:sp>
        <p:nvSpPr>
          <p:cNvPr id="40" name="icon-circle"/>
          <p:cNvSpPr/>
          <p:nvPr/>
        </p:nvSpPr>
        <p:spPr>
          <a:xfrm>
            <a:off x="4549140" y="5120640"/>
            <a:ext cx="640080" cy="640080"/>
          </a:xfrm>
          <a:prstGeom prst="ellipse">
            <a:avLst/>
          </a:prstGeom>
          <a:solidFill>
            <a:srgbClr val="241C45"/>
          </a:solidFill>
          <a:ln w="12700">
            <a:solidFill>
              <a:srgbClr val="8B5CF6"/>
            </a:solidFill>
            <a:prstDash val="solid"/>
          </a:ln>
        </p:spPr>
      </p:sp>
      <p:pic>
        <p:nvPicPr>
          <p:cNvPr id="41" name="icon" descr="preencoded.png">    </p:cNvPr>
          <p:cNvPicPr>
            <a:picLocks noChangeAspect="1"/>
          </p:cNvPicPr>
          <p:nvPr/>
        </p:nvPicPr>
        <p:blipFill>
          <a:blip r:embed="rId8"/>
          <a:stretch>
            <a:fillRect/>
          </a:stretch>
        </p:blipFill>
        <p:spPr>
          <a:xfrm>
            <a:off x="4709160" y="5280660"/>
            <a:ext cx="320040" cy="320040"/>
          </a:xfrm>
          <a:prstGeom prst="rect">
            <a:avLst/>
          </a:prstGeom>
        </p:spPr>
      </p:pic>
      <p:sp>
        <p:nvSpPr>
          <p:cNvPr id="42" name="Text 31"/>
          <p:cNvSpPr txBox="1"/>
          <p:nvPr/>
        </p:nvSpPr>
        <p:spPr>
          <a:xfrm>
            <a:off x="5372100" y="4983480"/>
            <a:ext cx="2331720" cy="411480"/>
          </a:xfrm>
          <a:prstGeom prst="rect">
            <a:avLst/>
          </a:prstGeom>
          <a:noFill/>
          <a:ln/>
        </p:spPr>
        <p:txBody>
          <a:bodyPr wrap="square" lIns="0" tIns="0" rIns="0" bIns="0" rtlCol="0" anchor="b"/>
          <a:lstStyle/>
          <a:p>
            <a:pPr indent="0" marL="0">
              <a:buNone/>
            </a:pPr>
            <a:r>
              <a:rPr lang="en-US" sz="1700" b="1" dirty="0">
                <a:solidFill>
                  <a:srgbClr val="F5F7FB"/>
                </a:solidFill>
                <a:latin typeface="Calibri" pitchFamily="34" charset="0"/>
                <a:ea typeface="Calibri" pitchFamily="34" charset="-122"/>
                <a:cs typeface="Calibri" pitchFamily="34" charset="-120"/>
              </a:rPr>
              <a:t>Email Sharing</a:t>
            </a:r>
            <a:endParaRPr lang="en-US" sz="1700" dirty="0"/>
          </a:p>
        </p:txBody>
      </p:sp>
      <p:sp>
        <p:nvSpPr>
          <p:cNvPr id="43" name="Text 32"/>
          <p:cNvSpPr txBox="1"/>
          <p:nvPr/>
        </p:nvSpPr>
        <p:spPr>
          <a:xfrm>
            <a:off x="5372100" y="5440680"/>
            <a:ext cx="2331720" cy="548640"/>
          </a:xfrm>
          <a:prstGeom prst="rect">
            <a:avLst/>
          </a:prstGeom>
          <a:noFill/>
          <a:ln/>
        </p:spPr>
        <p:txBody>
          <a:bodyPr wrap="square" lIns="0" tIns="0" rIns="0" bIns="0" rtlCol="0" anchor="t"/>
          <a:lstStyle/>
          <a:p>
            <a:pPr indent="0" marL="0">
              <a:buNone/>
            </a:pPr>
            <a:r>
              <a:rPr lang="en-US" sz="1300" dirty="0">
                <a:solidFill>
                  <a:srgbClr val="A3ABBC"/>
                </a:solidFill>
                <a:latin typeface="Calibri" pitchFamily="34" charset="0"/>
                <a:ea typeface="Calibri" pitchFamily="34" charset="-122"/>
                <a:cs typeface="Calibri" pitchFamily="34" charset="-120"/>
              </a:rPr>
              <a:t>Send individual shares by email</a:t>
            </a:r>
            <a:endParaRPr lang="en-US" sz="1300" dirty="0"/>
          </a:p>
        </p:txBody>
      </p:sp>
      <p:sp>
        <p:nvSpPr>
          <p:cNvPr id="44" name="card"/>
          <p:cNvSpPr/>
          <p:nvPr/>
        </p:nvSpPr>
        <p:spPr>
          <a:xfrm>
            <a:off x="8092440" y="4709160"/>
            <a:ext cx="3520440" cy="1463040"/>
          </a:xfrm>
          <a:prstGeom prst="roundRect">
            <a:avLst>
              <a:gd name="adj" fmla="val 7500"/>
            </a:avLst>
          </a:prstGeom>
          <a:solidFill>
            <a:srgbClr val="161B27"/>
          </a:solidFill>
          <a:ln w="12700">
            <a:solidFill>
              <a:srgbClr val="2B3240"/>
            </a:solidFill>
            <a:prstDash val="solid"/>
          </a:ln>
        </p:spPr>
      </p:sp>
      <p:sp>
        <p:nvSpPr>
          <p:cNvPr id="45" name="icon-circle"/>
          <p:cNvSpPr/>
          <p:nvPr/>
        </p:nvSpPr>
        <p:spPr>
          <a:xfrm>
            <a:off x="8321040" y="5120640"/>
            <a:ext cx="640080" cy="640080"/>
          </a:xfrm>
          <a:prstGeom prst="ellipse">
            <a:avLst/>
          </a:prstGeom>
          <a:solidFill>
            <a:srgbClr val="241C45"/>
          </a:solidFill>
          <a:ln w="12700">
            <a:solidFill>
              <a:srgbClr val="8B5CF6"/>
            </a:solidFill>
            <a:prstDash val="solid"/>
          </a:ln>
        </p:spPr>
      </p:sp>
      <p:pic>
        <p:nvPicPr>
          <p:cNvPr id="46" name="icon" descr="preencoded.png">    </p:cNvPr>
          <p:cNvPicPr>
            <a:picLocks noChangeAspect="1"/>
          </p:cNvPicPr>
          <p:nvPr/>
        </p:nvPicPr>
        <p:blipFill>
          <a:blip r:embed="rId9"/>
          <a:stretch>
            <a:fillRect/>
          </a:stretch>
        </p:blipFill>
        <p:spPr>
          <a:xfrm>
            <a:off x="8481060" y="5280660"/>
            <a:ext cx="320040" cy="320040"/>
          </a:xfrm>
          <a:prstGeom prst="rect">
            <a:avLst/>
          </a:prstGeom>
        </p:spPr>
      </p:pic>
      <p:sp>
        <p:nvSpPr>
          <p:cNvPr id="47" name="Text 35"/>
          <p:cNvSpPr txBox="1"/>
          <p:nvPr/>
        </p:nvSpPr>
        <p:spPr>
          <a:xfrm>
            <a:off x="9144000" y="4983480"/>
            <a:ext cx="2331720" cy="411480"/>
          </a:xfrm>
          <a:prstGeom prst="rect">
            <a:avLst/>
          </a:prstGeom>
          <a:noFill/>
          <a:ln/>
        </p:spPr>
        <p:txBody>
          <a:bodyPr wrap="square" lIns="0" tIns="0" rIns="0" bIns="0" rtlCol="0" anchor="b"/>
          <a:lstStyle/>
          <a:p>
            <a:pPr indent="0" marL="0">
              <a:buNone/>
            </a:pPr>
            <a:r>
              <a:rPr lang="en-US" sz="1700" b="1" dirty="0">
                <a:solidFill>
                  <a:srgbClr val="F5F7FB"/>
                </a:solidFill>
                <a:latin typeface="Calibri" pitchFamily="34" charset="0"/>
                <a:ea typeface="Calibri" pitchFamily="34" charset="-122"/>
                <a:cs typeface="Calibri" pitchFamily="34" charset="-120"/>
              </a:rPr>
              <a:t>WhatsApp Sharing</a:t>
            </a:r>
            <a:endParaRPr lang="en-US" sz="1700" dirty="0"/>
          </a:p>
        </p:txBody>
      </p:sp>
      <p:sp>
        <p:nvSpPr>
          <p:cNvPr id="48" name="Text 36"/>
          <p:cNvSpPr txBox="1"/>
          <p:nvPr/>
        </p:nvSpPr>
        <p:spPr>
          <a:xfrm>
            <a:off x="9144000" y="5440680"/>
            <a:ext cx="2331720" cy="548640"/>
          </a:xfrm>
          <a:prstGeom prst="rect">
            <a:avLst/>
          </a:prstGeom>
          <a:noFill/>
          <a:ln/>
        </p:spPr>
        <p:txBody>
          <a:bodyPr wrap="square" lIns="0" tIns="0" rIns="0" bIns="0" rtlCol="0" anchor="t"/>
          <a:lstStyle/>
          <a:p>
            <a:pPr indent="0" marL="0">
              <a:buNone/>
            </a:pPr>
            <a:r>
              <a:rPr lang="en-US" sz="1300" dirty="0">
                <a:solidFill>
                  <a:srgbClr val="A3ABBC"/>
                </a:solidFill>
                <a:latin typeface="Calibri" pitchFamily="34" charset="0"/>
                <a:ea typeface="Calibri" pitchFamily="34" charset="-122"/>
                <a:cs typeface="Calibri" pitchFamily="34" charset="-120"/>
              </a:rPr>
              <a:t>Prepare WhatsApp messages</a:t>
            </a:r>
            <a:endParaRPr lang="en-US" sz="13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899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rgbClr val="F5F7FB"/>
                </a:solidFill>
                <a:latin typeface="Calibri" pitchFamily="34" charset="0"/>
                <a:ea typeface="Calibri" pitchFamily="34" charset="-122"/>
                <a:cs typeface="Calibri" pitchFamily="34" charset="-120"/>
              </a:rPr>
              <a:t>Application UI &amp; Requirements</a:t>
            </a:r>
            <a:endParaRPr lang="en-US" sz="3600" dirty="0"/>
          </a:p>
        </p:txBody>
      </p:sp>
      <p:sp>
        <p:nvSpPr>
          <p:cNvPr id="4" name="Shape 1"/>
          <p:cNvSpPr/>
          <p:nvPr/>
        </p:nvSpPr>
        <p:spPr>
          <a:xfrm>
            <a:off x="493776" y="1316736"/>
            <a:ext cx="7059168" cy="3567840"/>
          </a:xfrm>
          <a:prstGeom prst="roundRect">
            <a:avLst>
              <a:gd name="adj" fmla="val 2563"/>
            </a:avLst>
          </a:prstGeom>
          <a:solidFill>
            <a:srgbClr val="11151F"/>
          </a:solidFill>
          <a:ln w="15875">
            <a:solidFill>
              <a:srgbClr val="8B5CF6"/>
            </a:solidFill>
            <a:prstDash val="solid"/>
          </a:ln>
          <a:effectLst>
            <a:outerShdw sx="100000" sy="100000" kx="0" ky="0" algn="bl" rotWithShape="0" blurRad="177800" dist="50800" dir="16200000">
              <a:srgbClr val="8B5CF6">
                <a:alpha val="28000"/>
              </a:srgbClr>
            </a:outerShdw>
          </a:effectLst>
        </p:spPr>
      </p:sp>
      <p:pic>
        <p:nvPicPr>
          <p:cNvPr id="5" name="app-screenshot" descr="BillWise AI onboarding screen">    </p:cNvPr>
          <p:cNvPicPr>
            <a:picLocks noChangeAspect="1"/>
          </p:cNvPicPr>
          <p:nvPr/>
        </p:nvPicPr>
        <p:blipFill>
          <a:blip r:embed="rId1"/>
          <a:stretch>
            <a:fillRect/>
          </a:stretch>
        </p:blipFill>
        <p:spPr>
          <a:xfrm>
            <a:off x="548640" y="1371600"/>
            <a:ext cx="6949440" cy="3458112"/>
          </a:xfrm>
          <a:prstGeom prst="rect">
            <a:avLst/>
          </a:prstGeom>
        </p:spPr>
      </p:pic>
      <p:sp>
        <p:nvSpPr>
          <p:cNvPr id="6" name="Shape 2"/>
          <p:cNvSpPr/>
          <p:nvPr/>
        </p:nvSpPr>
        <p:spPr>
          <a:xfrm>
            <a:off x="3262402" y="2184692"/>
            <a:ext cx="256032" cy="256032"/>
          </a:xfrm>
          <a:prstGeom prst="ellipse">
            <a:avLst/>
          </a:prstGeom>
          <a:solidFill>
            <a:srgbClr val="EC4899"/>
          </a:solidFill>
          <a:ln w="12700">
            <a:solidFill>
              <a:srgbClr val="FFFFFF"/>
            </a:solidFill>
            <a:prstDash val="solid"/>
          </a:ln>
        </p:spPr>
      </p:sp>
      <p:sp>
        <p:nvSpPr>
          <p:cNvPr id="7" name="Text 3"/>
          <p:cNvSpPr txBox="1"/>
          <p:nvPr/>
        </p:nvSpPr>
        <p:spPr>
          <a:xfrm>
            <a:off x="3262402" y="2184692"/>
            <a:ext cx="256032" cy="256032"/>
          </a:xfrm>
          <a:prstGeom prst="rect">
            <a:avLst/>
          </a:prstGeom>
          <a:noFill/>
          <a:ln/>
        </p:spPr>
        <p:txBody>
          <a:bodyPr wrap="square" lIns="0" tIns="0" rIns="0" bIns="0" rtlCol="0" anchor="ctr"/>
          <a:lstStyle/>
          <a:p>
            <a:pPr algn="ctr" indent="0" marL="0">
              <a:buNone/>
            </a:pPr>
            <a:r>
              <a:rPr lang="en-US" sz="1100" b="1" dirty="0">
                <a:solidFill>
                  <a:srgbClr val="F5F7FB"/>
                </a:solidFill>
                <a:latin typeface="Calibri" pitchFamily="34" charset="0"/>
                <a:ea typeface="Calibri" pitchFamily="34" charset="-122"/>
                <a:cs typeface="Calibri" pitchFamily="34" charset="-120"/>
              </a:rPr>
              <a:t>1</a:t>
            </a:r>
            <a:endParaRPr lang="en-US" sz="1100" dirty="0"/>
          </a:p>
        </p:txBody>
      </p:sp>
      <p:sp>
        <p:nvSpPr>
          <p:cNvPr id="8" name="Shape 4"/>
          <p:cNvSpPr/>
          <p:nvPr/>
        </p:nvSpPr>
        <p:spPr>
          <a:xfrm>
            <a:off x="3243949" y="2498395"/>
            <a:ext cx="256032" cy="256032"/>
          </a:xfrm>
          <a:prstGeom prst="ellipse">
            <a:avLst/>
          </a:prstGeom>
          <a:solidFill>
            <a:srgbClr val="EC4899"/>
          </a:solidFill>
          <a:ln w="12700">
            <a:solidFill>
              <a:srgbClr val="FFFFFF"/>
            </a:solidFill>
            <a:prstDash val="solid"/>
          </a:ln>
        </p:spPr>
      </p:sp>
      <p:sp>
        <p:nvSpPr>
          <p:cNvPr id="9" name="Text 5"/>
          <p:cNvSpPr txBox="1"/>
          <p:nvPr/>
        </p:nvSpPr>
        <p:spPr>
          <a:xfrm>
            <a:off x="3243949" y="2498395"/>
            <a:ext cx="256032" cy="256032"/>
          </a:xfrm>
          <a:prstGeom prst="rect">
            <a:avLst/>
          </a:prstGeom>
          <a:noFill/>
          <a:ln/>
        </p:spPr>
        <p:txBody>
          <a:bodyPr wrap="square" lIns="0" tIns="0" rIns="0" bIns="0" rtlCol="0" anchor="ctr"/>
          <a:lstStyle/>
          <a:p>
            <a:pPr algn="ctr" indent="0" marL="0">
              <a:buNone/>
            </a:pPr>
            <a:r>
              <a:rPr lang="en-US" sz="1100" b="1" dirty="0">
                <a:solidFill>
                  <a:srgbClr val="F5F7FB"/>
                </a:solidFill>
                <a:latin typeface="Calibri" pitchFamily="34" charset="0"/>
                <a:ea typeface="Calibri" pitchFamily="34" charset="-122"/>
                <a:cs typeface="Calibri" pitchFamily="34" charset="-120"/>
              </a:rPr>
              <a:t>2</a:t>
            </a:r>
            <a:endParaRPr lang="en-US" sz="1100" dirty="0"/>
          </a:p>
        </p:txBody>
      </p:sp>
      <p:sp>
        <p:nvSpPr>
          <p:cNvPr id="10" name="Shape 6"/>
          <p:cNvSpPr/>
          <p:nvPr/>
        </p:nvSpPr>
        <p:spPr>
          <a:xfrm>
            <a:off x="2959771" y="2697689"/>
            <a:ext cx="256032" cy="256032"/>
          </a:xfrm>
          <a:prstGeom prst="ellipse">
            <a:avLst/>
          </a:prstGeom>
          <a:solidFill>
            <a:srgbClr val="EC4899"/>
          </a:solidFill>
          <a:ln w="12700">
            <a:solidFill>
              <a:srgbClr val="FFFFFF"/>
            </a:solidFill>
            <a:prstDash val="solid"/>
          </a:ln>
        </p:spPr>
      </p:sp>
      <p:sp>
        <p:nvSpPr>
          <p:cNvPr id="11" name="Text 7"/>
          <p:cNvSpPr txBox="1"/>
          <p:nvPr/>
        </p:nvSpPr>
        <p:spPr>
          <a:xfrm>
            <a:off x="2959771" y="2697689"/>
            <a:ext cx="256032" cy="256032"/>
          </a:xfrm>
          <a:prstGeom prst="rect">
            <a:avLst/>
          </a:prstGeom>
          <a:noFill/>
          <a:ln/>
        </p:spPr>
        <p:txBody>
          <a:bodyPr wrap="square" lIns="0" tIns="0" rIns="0" bIns="0" rtlCol="0" anchor="ctr"/>
          <a:lstStyle/>
          <a:p>
            <a:pPr algn="ctr" indent="0" marL="0">
              <a:buNone/>
            </a:pPr>
            <a:r>
              <a:rPr lang="en-US" sz="1100" b="1" dirty="0">
                <a:solidFill>
                  <a:srgbClr val="F5F7FB"/>
                </a:solidFill>
                <a:latin typeface="Calibri" pitchFamily="34" charset="0"/>
                <a:ea typeface="Calibri" pitchFamily="34" charset="-122"/>
                <a:cs typeface="Calibri" pitchFamily="34" charset="-120"/>
              </a:rPr>
              <a:t>3</a:t>
            </a:r>
            <a:endParaRPr lang="en-US" sz="1100" dirty="0"/>
          </a:p>
        </p:txBody>
      </p:sp>
      <p:sp>
        <p:nvSpPr>
          <p:cNvPr id="12" name="Shape 8"/>
          <p:cNvSpPr/>
          <p:nvPr/>
        </p:nvSpPr>
        <p:spPr>
          <a:xfrm>
            <a:off x="3299309" y="3210685"/>
            <a:ext cx="256032" cy="256032"/>
          </a:xfrm>
          <a:prstGeom prst="ellipse">
            <a:avLst/>
          </a:prstGeom>
          <a:solidFill>
            <a:srgbClr val="EC4899"/>
          </a:solidFill>
          <a:ln w="12700">
            <a:solidFill>
              <a:srgbClr val="FFFFFF"/>
            </a:solidFill>
            <a:prstDash val="solid"/>
          </a:ln>
        </p:spPr>
      </p:sp>
      <p:sp>
        <p:nvSpPr>
          <p:cNvPr id="13" name="Text 9"/>
          <p:cNvSpPr txBox="1"/>
          <p:nvPr/>
        </p:nvSpPr>
        <p:spPr>
          <a:xfrm>
            <a:off x="3299309" y="3210685"/>
            <a:ext cx="256032" cy="256032"/>
          </a:xfrm>
          <a:prstGeom prst="rect">
            <a:avLst/>
          </a:prstGeom>
          <a:noFill/>
          <a:ln/>
        </p:spPr>
        <p:txBody>
          <a:bodyPr wrap="square" lIns="0" tIns="0" rIns="0" bIns="0" rtlCol="0" anchor="ctr"/>
          <a:lstStyle/>
          <a:p>
            <a:pPr algn="ctr" indent="0" marL="0">
              <a:buNone/>
            </a:pPr>
            <a:r>
              <a:rPr lang="en-US" sz="1100" b="1" dirty="0">
                <a:solidFill>
                  <a:srgbClr val="F5F7FB"/>
                </a:solidFill>
                <a:latin typeface="Calibri" pitchFamily="34" charset="0"/>
                <a:ea typeface="Calibri" pitchFamily="34" charset="-122"/>
                <a:cs typeface="Calibri" pitchFamily="34" charset="-120"/>
              </a:rPr>
              <a:t>4</a:t>
            </a:r>
            <a:endParaRPr lang="en-US" sz="1100" dirty="0"/>
          </a:p>
        </p:txBody>
      </p:sp>
      <p:sp>
        <p:nvSpPr>
          <p:cNvPr id="14" name="Shape 10"/>
          <p:cNvSpPr/>
          <p:nvPr/>
        </p:nvSpPr>
        <p:spPr>
          <a:xfrm>
            <a:off x="1557335" y="4148103"/>
            <a:ext cx="256032" cy="256032"/>
          </a:xfrm>
          <a:prstGeom prst="ellipse">
            <a:avLst/>
          </a:prstGeom>
          <a:solidFill>
            <a:srgbClr val="EC4899"/>
          </a:solidFill>
          <a:ln w="12700">
            <a:solidFill>
              <a:srgbClr val="FFFFFF"/>
            </a:solidFill>
            <a:prstDash val="solid"/>
          </a:ln>
        </p:spPr>
      </p:sp>
      <p:sp>
        <p:nvSpPr>
          <p:cNvPr id="15" name="Text 11"/>
          <p:cNvSpPr txBox="1"/>
          <p:nvPr/>
        </p:nvSpPr>
        <p:spPr>
          <a:xfrm>
            <a:off x="1557335" y="4148103"/>
            <a:ext cx="256032" cy="256032"/>
          </a:xfrm>
          <a:prstGeom prst="rect">
            <a:avLst/>
          </a:prstGeom>
          <a:noFill/>
          <a:ln/>
        </p:spPr>
        <p:txBody>
          <a:bodyPr wrap="square" lIns="0" tIns="0" rIns="0" bIns="0" rtlCol="0" anchor="ctr"/>
          <a:lstStyle/>
          <a:p>
            <a:pPr algn="ctr" indent="0" marL="0">
              <a:buNone/>
            </a:pPr>
            <a:r>
              <a:rPr lang="en-US" sz="1100" b="1" dirty="0">
                <a:solidFill>
                  <a:srgbClr val="F5F7FB"/>
                </a:solidFill>
                <a:latin typeface="Calibri" pitchFamily="34" charset="0"/>
                <a:ea typeface="Calibri" pitchFamily="34" charset="-122"/>
                <a:cs typeface="Calibri" pitchFamily="34" charset="-120"/>
              </a:rPr>
              <a:t>5</a:t>
            </a:r>
            <a:endParaRPr lang="en-US" sz="1100" dirty="0"/>
          </a:p>
        </p:txBody>
      </p:sp>
      <p:sp>
        <p:nvSpPr>
          <p:cNvPr id="16" name="Shape 12"/>
          <p:cNvSpPr/>
          <p:nvPr/>
        </p:nvSpPr>
        <p:spPr>
          <a:xfrm>
            <a:off x="6281331" y="4148103"/>
            <a:ext cx="256032" cy="256032"/>
          </a:xfrm>
          <a:prstGeom prst="ellipse">
            <a:avLst/>
          </a:prstGeom>
          <a:solidFill>
            <a:srgbClr val="EC4899"/>
          </a:solidFill>
          <a:ln w="12700">
            <a:solidFill>
              <a:srgbClr val="FFFFFF"/>
            </a:solidFill>
            <a:prstDash val="solid"/>
          </a:ln>
        </p:spPr>
      </p:sp>
      <p:sp>
        <p:nvSpPr>
          <p:cNvPr id="17" name="Text 13"/>
          <p:cNvSpPr txBox="1"/>
          <p:nvPr/>
        </p:nvSpPr>
        <p:spPr>
          <a:xfrm>
            <a:off x="6281331" y="4148103"/>
            <a:ext cx="256032" cy="256032"/>
          </a:xfrm>
          <a:prstGeom prst="rect">
            <a:avLst/>
          </a:prstGeom>
          <a:noFill/>
          <a:ln/>
        </p:spPr>
        <p:txBody>
          <a:bodyPr wrap="square" lIns="0" tIns="0" rIns="0" bIns="0" rtlCol="0" anchor="ctr"/>
          <a:lstStyle/>
          <a:p>
            <a:pPr algn="ctr" indent="0" marL="0">
              <a:buNone/>
            </a:pPr>
            <a:r>
              <a:rPr lang="en-US" sz="1100" b="1" dirty="0">
                <a:solidFill>
                  <a:srgbClr val="F5F7FB"/>
                </a:solidFill>
                <a:latin typeface="Calibri" pitchFamily="34" charset="0"/>
                <a:ea typeface="Calibri" pitchFamily="34" charset="-122"/>
                <a:cs typeface="Calibri" pitchFamily="34" charset="-120"/>
              </a:rPr>
              <a:t>6</a:t>
            </a:r>
            <a:endParaRPr lang="en-US" sz="1100" dirty="0"/>
          </a:p>
        </p:txBody>
      </p:sp>
      <p:sp>
        <p:nvSpPr>
          <p:cNvPr id="18" name="Shape 14"/>
          <p:cNvSpPr/>
          <p:nvPr/>
        </p:nvSpPr>
        <p:spPr>
          <a:xfrm>
            <a:off x="6281331" y="4480259"/>
            <a:ext cx="256032" cy="256032"/>
          </a:xfrm>
          <a:prstGeom prst="ellipse">
            <a:avLst/>
          </a:prstGeom>
          <a:solidFill>
            <a:srgbClr val="EC4899"/>
          </a:solidFill>
          <a:ln w="12700">
            <a:solidFill>
              <a:srgbClr val="FFFFFF"/>
            </a:solidFill>
            <a:prstDash val="solid"/>
          </a:ln>
        </p:spPr>
      </p:sp>
      <p:sp>
        <p:nvSpPr>
          <p:cNvPr id="19" name="Text 15"/>
          <p:cNvSpPr txBox="1"/>
          <p:nvPr/>
        </p:nvSpPr>
        <p:spPr>
          <a:xfrm>
            <a:off x="6281331" y="4480259"/>
            <a:ext cx="256032" cy="256032"/>
          </a:xfrm>
          <a:prstGeom prst="rect">
            <a:avLst/>
          </a:prstGeom>
          <a:noFill/>
          <a:ln/>
        </p:spPr>
        <p:txBody>
          <a:bodyPr wrap="square" lIns="0" tIns="0" rIns="0" bIns="0" rtlCol="0" anchor="ctr"/>
          <a:lstStyle/>
          <a:p>
            <a:pPr algn="ctr" indent="0" marL="0">
              <a:buNone/>
            </a:pPr>
            <a:r>
              <a:rPr lang="en-US" sz="1100" b="1" dirty="0">
                <a:solidFill>
                  <a:srgbClr val="F5F7FB"/>
                </a:solidFill>
                <a:latin typeface="Calibri" pitchFamily="34" charset="0"/>
                <a:ea typeface="Calibri" pitchFamily="34" charset="-122"/>
                <a:cs typeface="Calibri" pitchFamily="34" charset="-120"/>
              </a:rPr>
              <a:t>7</a:t>
            </a:r>
            <a:endParaRPr lang="en-US" sz="1100" dirty="0"/>
          </a:p>
        </p:txBody>
      </p:sp>
      <p:sp>
        <p:nvSpPr>
          <p:cNvPr id="20" name="Shape 16"/>
          <p:cNvSpPr/>
          <p:nvPr/>
        </p:nvSpPr>
        <p:spPr>
          <a:xfrm>
            <a:off x="548640" y="5074920"/>
            <a:ext cx="219456" cy="219456"/>
          </a:xfrm>
          <a:prstGeom prst="ellipse">
            <a:avLst/>
          </a:prstGeom>
          <a:solidFill>
            <a:srgbClr val="EC4899"/>
          </a:solidFill>
          <a:ln/>
        </p:spPr>
      </p:sp>
      <p:sp>
        <p:nvSpPr>
          <p:cNvPr id="21" name="Text 17"/>
          <p:cNvSpPr txBox="1"/>
          <p:nvPr/>
        </p:nvSpPr>
        <p:spPr>
          <a:xfrm>
            <a:off x="548640" y="5074920"/>
            <a:ext cx="219456" cy="219456"/>
          </a:xfrm>
          <a:prstGeom prst="rect">
            <a:avLst/>
          </a:prstGeom>
          <a:noFill/>
          <a:ln/>
        </p:spPr>
        <p:txBody>
          <a:bodyPr wrap="square" lIns="0" tIns="0" rIns="0" bIns="0" rtlCol="0" anchor="ctr"/>
          <a:lstStyle/>
          <a:p>
            <a:pPr algn="ctr" indent="0" marL="0">
              <a:buNone/>
            </a:pPr>
            <a:r>
              <a:rPr lang="en-US" sz="1000" b="1" dirty="0">
                <a:solidFill>
                  <a:srgbClr val="F5F7FB"/>
                </a:solidFill>
                <a:latin typeface="Calibri" pitchFamily="34" charset="0"/>
                <a:ea typeface="Calibri" pitchFamily="34" charset="-122"/>
                <a:cs typeface="Calibri" pitchFamily="34" charset="-120"/>
              </a:rPr>
              <a:t>1</a:t>
            </a:r>
            <a:endParaRPr lang="en-US" sz="1000" dirty="0"/>
          </a:p>
        </p:txBody>
      </p:sp>
      <p:sp>
        <p:nvSpPr>
          <p:cNvPr id="22" name="Text 18"/>
          <p:cNvSpPr txBox="1"/>
          <p:nvPr/>
        </p:nvSpPr>
        <p:spPr>
          <a:xfrm>
            <a:off x="850392" y="5029200"/>
            <a:ext cx="3429000" cy="310896"/>
          </a:xfrm>
          <a:prstGeom prst="rect">
            <a:avLst/>
          </a:prstGeom>
          <a:noFill/>
          <a:ln/>
        </p:spPr>
        <p:txBody>
          <a:bodyPr wrap="square" lIns="0" tIns="0" rIns="0" bIns="0" rtlCol="0" anchor="ctr"/>
          <a:lstStyle/>
          <a:p>
            <a:pPr indent="0" marL="0">
              <a:buNone/>
            </a:pPr>
            <a:r>
              <a:rPr lang="en-US" sz="1200" dirty="0">
                <a:solidFill>
                  <a:srgbClr val="D5D9E2"/>
                </a:solidFill>
                <a:latin typeface="Calibri" pitchFamily="34" charset="0"/>
                <a:ea typeface="Calibri" pitchFamily="34" charset="-122"/>
                <a:cs typeface="Calibri" pitchFamily="34" charset="-120"/>
              </a:rPr>
              <a:t>BillWise AI branding</a:t>
            </a:r>
            <a:endParaRPr lang="en-US" sz="1200" dirty="0"/>
          </a:p>
        </p:txBody>
      </p:sp>
      <p:sp>
        <p:nvSpPr>
          <p:cNvPr id="23" name="Shape 19"/>
          <p:cNvSpPr/>
          <p:nvPr/>
        </p:nvSpPr>
        <p:spPr>
          <a:xfrm>
            <a:off x="548640" y="5404104"/>
            <a:ext cx="219456" cy="219456"/>
          </a:xfrm>
          <a:prstGeom prst="ellipse">
            <a:avLst/>
          </a:prstGeom>
          <a:solidFill>
            <a:srgbClr val="EC4899"/>
          </a:solidFill>
          <a:ln/>
        </p:spPr>
      </p:sp>
      <p:sp>
        <p:nvSpPr>
          <p:cNvPr id="24" name="Text 20"/>
          <p:cNvSpPr txBox="1"/>
          <p:nvPr/>
        </p:nvSpPr>
        <p:spPr>
          <a:xfrm>
            <a:off x="548640" y="5404104"/>
            <a:ext cx="219456" cy="219456"/>
          </a:xfrm>
          <a:prstGeom prst="rect">
            <a:avLst/>
          </a:prstGeom>
          <a:noFill/>
          <a:ln/>
        </p:spPr>
        <p:txBody>
          <a:bodyPr wrap="square" lIns="0" tIns="0" rIns="0" bIns="0" rtlCol="0" anchor="ctr"/>
          <a:lstStyle/>
          <a:p>
            <a:pPr algn="ctr" indent="0" marL="0">
              <a:buNone/>
            </a:pPr>
            <a:r>
              <a:rPr lang="en-US" sz="1000" b="1" dirty="0">
                <a:solidFill>
                  <a:srgbClr val="F5F7FB"/>
                </a:solidFill>
                <a:latin typeface="Calibri" pitchFamily="34" charset="0"/>
                <a:ea typeface="Calibri" pitchFamily="34" charset="-122"/>
                <a:cs typeface="Calibri" pitchFamily="34" charset="-120"/>
              </a:rPr>
              <a:t>2</a:t>
            </a:r>
            <a:endParaRPr lang="en-US" sz="1000" dirty="0"/>
          </a:p>
        </p:txBody>
      </p:sp>
      <p:sp>
        <p:nvSpPr>
          <p:cNvPr id="25" name="Text 21"/>
          <p:cNvSpPr txBox="1"/>
          <p:nvPr/>
        </p:nvSpPr>
        <p:spPr>
          <a:xfrm>
            <a:off x="850392" y="5358384"/>
            <a:ext cx="3429000" cy="310896"/>
          </a:xfrm>
          <a:prstGeom prst="rect">
            <a:avLst/>
          </a:prstGeom>
          <a:noFill/>
          <a:ln/>
        </p:spPr>
        <p:txBody>
          <a:bodyPr wrap="square" lIns="0" tIns="0" rIns="0" bIns="0" rtlCol="0" anchor="ctr"/>
          <a:lstStyle/>
          <a:p>
            <a:pPr indent="0" marL="0">
              <a:buNone/>
            </a:pPr>
            <a:r>
              <a:rPr lang="en-US" sz="1200" dirty="0">
                <a:solidFill>
                  <a:srgbClr val="D5D9E2"/>
                </a:solidFill>
                <a:latin typeface="Calibri" pitchFamily="34" charset="0"/>
                <a:ea typeface="Calibri" pitchFamily="34" charset="-122"/>
                <a:cs typeface="Calibri" pitchFamily="34" charset="-120"/>
              </a:rPr>
              <a:t>Tagline: Snap it. Understand it. Split it. Share it.</a:t>
            </a:r>
            <a:endParaRPr lang="en-US" sz="1200" dirty="0"/>
          </a:p>
        </p:txBody>
      </p:sp>
      <p:sp>
        <p:nvSpPr>
          <p:cNvPr id="26" name="Shape 22"/>
          <p:cNvSpPr/>
          <p:nvPr/>
        </p:nvSpPr>
        <p:spPr>
          <a:xfrm>
            <a:off x="548640" y="5733288"/>
            <a:ext cx="219456" cy="219456"/>
          </a:xfrm>
          <a:prstGeom prst="ellipse">
            <a:avLst/>
          </a:prstGeom>
          <a:solidFill>
            <a:srgbClr val="EC4899"/>
          </a:solidFill>
          <a:ln/>
        </p:spPr>
      </p:sp>
      <p:sp>
        <p:nvSpPr>
          <p:cNvPr id="27" name="Text 23"/>
          <p:cNvSpPr txBox="1"/>
          <p:nvPr/>
        </p:nvSpPr>
        <p:spPr>
          <a:xfrm>
            <a:off x="548640" y="5733288"/>
            <a:ext cx="219456" cy="219456"/>
          </a:xfrm>
          <a:prstGeom prst="rect">
            <a:avLst/>
          </a:prstGeom>
          <a:noFill/>
          <a:ln/>
        </p:spPr>
        <p:txBody>
          <a:bodyPr wrap="square" lIns="0" tIns="0" rIns="0" bIns="0" rtlCol="0" anchor="ctr"/>
          <a:lstStyle/>
          <a:p>
            <a:pPr algn="ctr" indent="0" marL="0">
              <a:buNone/>
            </a:pPr>
            <a:r>
              <a:rPr lang="en-US" sz="1000" b="1" dirty="0">
                <a:solidFill>
                  <a:srgbClr val="F5F7FB"/>
                </a:solidFill>
                <a:latin typeface="Calibri" pitchFamily="34" charset="0"/>
                <a:ea typeface="Calibri" pitchFamily="34" charset="-122"/>
                <a:cs typeface="Calibri" pitchFamily="34" charset="-120"/>
              </a:rPr>
              <a:t>3</a:t>
            </a:r>
            <a:endParaRPr lang="en-US" sz="1000" dirty="0"/>
          </a:p>
        </p:txBody>
      </p:sp>
      <p:sp>
        <p:nvSpPr>
          <p:cNvPr id="28" name="Text 24"/>
          <p:cNvSpPr txBox="1"/>
          <p:nvPr/>
        </p:nvSpPr>
        <p:spPr>
          <a:xfrm>
            <a:off x="850392" y="5687568"/>
            <a:ext cx="3429000" cy="310896"/>
          </a:xfrm>
          <a:prstGeom prst="rect">
            <a:avLst/>
          </a:prstGeom>
          <a:noFill/>
          <a:ln/>
        </p:spPr>
        <p:txBody>
          <a:bodyPr wrap="square" lIns="0" tIns="0" rIns="0" bIns="0" rtlCol="0" anchor="ctr"/>
          <a:lstStyle/>
          <a:p>
            <a:pPr indent="0" marL="0">
              <a:buNone/>
            </a:pPr>
            <a:r>
              <a:rPr lang="en-US" sz="1200" dirty="0">
                <a:solidFill>
                  <a:srgbClr val="D5D9E2"/>
                </a:solidFill>
                <a:latin typeface="Calibri" pitchFamily="34" charset="0"/>
                <a:ea typeface="Calibri" pitchFamily="34" charset="-122"/>
                <a:cs typeface="Calibri" pitchFamily="34" charset="-120"/>
              </a:rPr>
              <a:t>Feature pills: Analysis, Splitting, Sharing</a:t>
            </a:r>
            <a:endParaRPr lang="en-US" sz="1200" dirty="0"/>
          </a:p>
        </p:txBody>
      </p:sp>
      <p:sp>
        <p:nvSpPr>
          <p:cNvPr id="29" name="Shape 25"/>
          <p:cNvSpPr/>
          <p:nvPr/>
        </p:nvSpPr>
        <p:spPr>
          <a:xfrm>
            <a:off x="548640" y="6062472"/>
            <a:ext cx="219456" cy="219456"/>
          </a:xfrm>
          <a:prstGeom prst="ellipse">
            <a:avLst/>
          </a:prstGeom>
          <a:solidFill>
            <a:srgbClr val="EC4899"/>
          </a:solidFill>
          <a:ln/>
        </p:spPr>
      </p:sp>
      <p:sp>
        <p:nvSpPr>
          <p:cNvPr id="30" name="Text 26"/>
          <p:cNvSpPr txBox="1"/>
          <p:nvPr/>
        </p:nvSpPr>
        <p:spPr>
          <a:xfrm>
            <a:off x="548640" y="6062472"/>
            <a:ext cx="219456" cy="219456"/>
          </a:xfrm>
          <a:prstGeom prst="rect">
            <a:avLst/>
          </a:prstGeom>
          <a:noFill/>
          <a:ln/>
        </p:spPr>
        <p:txBody>
          <a:bodyPr wrap="square" lIns="0" tIns="0" rIns="0" bIns="0" rtlCol="0" anchor="ctr"/>
          <a:lstStyle/>
          <a:p>
            <a:pPr algn="ctr" indent="0" marL="0">
              <a:buNone/>
            </a:pPr>
            <a:r>
              <a:rPr lang="en-US" sz="1000" b="1" dirty="0">
                <a:solidFill>
                  <a:srgbClr val="F5F7FB"/>
                </a:solidFill>
                <a:latin typeface="Calibri" pitchFamily="34" charset="0"/>
                <a:ea typeface="Calibri" pitchFamily="34" charset="-122"/>
                <a:cs typeface="Calibri" pitchFamily="34" charset="-120"/>
              </a:rPr>
              <a:t>4</a:t>
            </a:r>
            <a:endParaRPr lang="en-US" sz="1000" dirty="0"/>
          </a:p>
        </p:txBody>
      </p:sp>
      <p:sp>
        <p:nvSpPr>
          <p:cNvPr id="31" name="Text 27"/>
          <p:cNvSpPr txBox="1"/>
          <p:nvPr/>
        </p:nvSpPr>
        <p:spPr>
          <a:xfrm>
            <a:off x="850392" y="6016752"/>
            <a:ext cx="3429000" cy="310896"/>
          </a:xfrm>
          <a:prstGeom prst="rect">
            <a:avLst/>
          </a:prstGeom>
          <a:noFill/>
          <a:ln/>
        </p:spPr>
        <p:txBody>
          <a:bodyPr wrap="square" lIns="0" tIns="0" rIns="0" bIns="0" rtlCol="0" anchor="ctr"/>
          <a:lstStyle/>
          <a:p>
            <a:pPr indent="0" marL="0">
              <a:buNone/>
            </a:pPr>
            <a:r>
              <a:rPr lang="en-US" sz="1200" dirty="0">
                <a:solidFill>
                  <a:srgbClr val="D5D9E2"/>
                </a:solidFill>
                <a:latin typeface="Calibri" pitchFamily="34" charset="0"/>
                <a:ea typeface="Calibri" pitchFamily="34" charset="-122"/>
                <a:cs typeface="Calibri" pitchFamily="34" charset="-120"/>
              </a:rPr>
              <a:t>User profile setup</a:t>
            </a:r>
            <a:endParaRPr lang="en-US" sz="1200" dirty="0"/>
          </a:p>
        </p:txBody>
      </p:sp>
      <p:sp>
        <p:nvSpPr>
          <p:cNvPr id="32" name="Shape 28"/>
          <p:cNvSpPr/>
          <p:nvPr/>
        </p:nvSpPr>
        <p:spPr>
          <a:xfrm>
            <a:off x="4343400" y="5074920"/>
            <a:ext cx="219456" cy="219456"/>
          </a:xfrm>
          <a:prstGeom prst="ellipse">
            <a:avLst/>
          </a:prstGeom>
          <a:solidFill>
            <a:srgbClr val="EC4899"/>
          </a:solidFill>
          <a:ln/>
        </p:spPr>
      </p:sp>
      <p:sp>
        <p:nvSpPr>
          <p:cNvPr id="33" name="Text 29"/>
          <p:cNvSpPr txBox="1"/>
          <p:nvPr/>
        </p:nvSpPr>
        <p:spPr>
          <a:xfrm>
            <a:off x="4343400" y="5074920"/>
            <a:ext cx="219456" cy="219456"/>
          </a:xfrm>
          <a:prstGeom prst="rect">
            <a:avLst/>
          </a:prstGeom>
          <a:noFill/>
          <a:ln/>
        </p:spPr>
        <p:txBody>
          <a:bodyPr wrap="square" lIns="0" tIns="0" rIns="0" bIns="0" rtlCol="0" anchor="ctr"/>
          <a:lstStyle/>
          <a:p>
            <a:pPr algn="ctr" indent="0" marL="0">
              <a:buNone/>
            </a:pPr>
            <a:r>
              <a:rPr lang="en-US" sz="1000" b="1" dirty="0">
                <a:solidFill>
                  <a:srgbClr val="F5F7FB"/>
                </a:solidFill>
                <a:latin typeface="Calibri" pitchFamily="34" charset="0"/>
                <a:ea typeface="Calibri" pitchFamily="34" charset="-122"/>
                <a:cs typeface="Calibri" pitchFamily="34" charset="-120"/>
              </a:rPr>
              <a:t>5</a:t>
            </a:r>
            <a:endParaRPr lang="en-US" sz="1000" dirty="0"/>
          </a:p>
        </p:txBody>
      </p:sp>
      <p:sp>
        <p:nvSpPr>
          <p:cNvPr id="34" name="Text 30"/>
          <p:cNvSpPr txBox="1"/>
          <p:nvPr/>
        </p:nvSpPr>
        <p:spPr>
          <a:xfrm>
            <a:off x="4645152" y="5029200"/>
            <a:ext cx="2834640" cy="310896"/>
          </a:xfrm>
          <a:prstGeom prst="rect">
            <a:avLst/>
          </a:prstGeom>
          <a:noFill/>
          <a:ln/>
        </p:spPr>
        <p:txBody>
          <a:bodyPr wrap="square" lIns="0" tIns="0" rIns="0" bIns="0" rtlCol="0" anchor="ctr"/>
          <a:lstStyle/>
          <a:p>
            <a:pPr indent="0" marL="0">
              <a:buNone/>
            </a:pPr>
            <a:r>
              <a:rPr lang="en-US" sz="1200" dirty="0">
                <a:solidFill>
                  <a:srgbClr val="D5D9E2"/>
                </a:solidFill>
                <a:latin typeface="Calibri" pitchFamily="34" charset="0"/>
                <a:ea typeface="Calibri" pitchFamily="34" charset="-122"/>
                <a:cs typeface="Calibri" pitchFamily="34" charset="-120"/>
              </a:rPr>
              <a:t>Preferred Sharing Channel</a:t>
            </a:r>
            <a:endParaRPr lang="en-US" sz="1200" dirty="0"/>
          </a:p>
        </p:txBody>
      </p:sp>
      <p:sp>
        <p:nvSpPr>
          <p:cNvPr id="35" name="Shape 31"/>
          <p:cNvSpPr/>
          <p:nvPr/>
        </p:nvSpPr>
        <p:spPr>
          <a:xfrm>
            <a:off x="4343400" y="5404104"/>
            <a:ext cx="219456" cy="219456"/>
          </a:xfrm>
          <a:prstGeom prst="ellipse">
            <a:avLst/>
          </a:prstGeom>
          <a:solidFill>
            <a:srgbClr val="EC4899"/>
          </a:solidFill>
          <a:ln/>
        </p:spPr>
      </p:sp>
      <p:sp>
        <p:nvSpPr>
          <p:cNvPr id="36" name="Text 32"/>
          <p:cNvSpPr txBox="1"/>
          <p:nvPr/>
        </p:nvSpPr>
        <p:spPr>
          <a:xfrm>
            <a:off x="4343400" y="5404104"/>
            <a:ext cx="219456" cy="219456"/>
          </a:xfrm>
          <a:prstGeom prst="rect">
            <a:avLst/>
          </a:prstGeom>
          <a:noFill/>
          <a:ln/>
        </p:spPr>
        <p:txBody>
          <a:bodyPr wrap="square" lIns="0" tIns="0" rIns="0" bIns="0" rtlCol="0" anchor="ctr"/>
          <a:lstStyle/>
          <a:p>
            <a:pPr algn="ctr" indent="0" marL="0">
              <a:buNone/>
            </a:pPr>
            <a:r>
              <a:rPr lang="en-US" sz="1000" b="1" dirty="0">
                <a:solidFill>
                  <a:srgbClr val="F5F7FB"/>
                </a:solidFill>
                <a:latin typeface="Calibri" pitchFamily="34" charset="0"/>
                <a:ea typeface="Calibri" pitchFamily="34" charset="-122"/>
                <a:cs typeface="Calibri" pitchFamily="34" charset="-120"/>
              </a:rPr>
              <a:t>6</a:t>
            </a:r>
            <a:endParaRPr lang="en-US" sz="1000" dirty="0"/>
          </a:p>
        </p:txBody>
      </p:sp>
      <p:sp>
        <p:nvSpPr>
          <p:cNvPr id="37" name="Text 33"/>
          <p:cNvSpPr txBox="1"/>
          <p:nvPr/>
        </p:nvSpPr>
        <p:spPr>
          <a:xfrm>
            <a:off x="4645152" y="5358384"/>
            <a:ext cx="2834640" cy="310896"/>
          </a:xfrm>
          <a:prstGeom prst="rect">
            <a:avLst/>
          </a:prstGeom>
          <a:noFill/>
          <a:ln/>
        </p:spPr>
        <p:txBody>
          <a:bodyPr wrap="square" lIns="0" tIns="0" rIns="0" bIns="0" rtlCol="0" anchor="ctr"/>
          <a:lstStyle/>
          <a:p>
            <a:pPr indent="0" marL="0">
              <a:buNone/>
            </a:pPr>
            <a:r>
              <a:rPr lang="en-US" sz="1200" dirty="0">
                <a:solidFill>
                  <a:srgbClr val="D5D9E2"/>
                </a:solidFill>
                <a:latin typeface="Calibri" pitchFamily="34" charset="0"/>
                <a:ea typeface="Calibri" pitchFamily="34" charset="-122"/>
                <a:cs typeface="Calibri" pitchFamily="34" charset="-120"/>
              </a:rPr>
              <a:t>Recipient Phone Number</a:t>
            </a:r>
            <a:endParaRPr lang="en-US" sz="1200" dirty="0"/>
          </a:p>
        </p:txBody>
      </p:sp>
      <p:sp>
        <p:nvSpPr>
          <p:cNvPr id="38" name="Shape 34"/>
          <p:cNvSpPr/>
          <p:nvPr/>
        </p:nvSpPr>
        <p:spPr>
          <a:xfrm>
            <a:off x="4343400" y="5733288"/>
            <a:ext cx="219456" cy="219456"/>
          </a:xfrm>
          <a:prstGeom prst="ellipse">
            <a:avLst/>
          </a:prstGeom>
          <a:solidFill>
            <a:srgbClr val="EC4899"/>
          </a:solidFill>
          <a:ln/>
        </p:spPr>
      </p:sp>
      <p:sp>
        <p:nvSpPr>
          <p:cNvPr id="39" name="Text 35"/>
          <p:cNvSpPr txBox="1"/>
          <p:nvPr/>
        </p:nvSpPr>
        <p:spPr>
          <a:xfrm>
            <a:off x="4343400" y="5733288"/>
            <a:ext cx="219456" cy="219456"/>
          </a:xfrm>
          <a:prstGeom prst="rect">
            <a:avLst/>
          </a:prstGeom>
          <a:noFill/>
          <a:ln/>
        </p:spPr>
        <p:txBody>
          <a:bodyPr wrap="square" lIns="0" tIns="0" rIns="0" bIns="0" rtlCol="0" anchor="ctr"/>
          <a:lstStyle/>
          <a:p>
            <a:pPr algn="ctr" indent="0" marL="0">
              <a:buNone/>
            </a:pPr>
            <a:r>
              <a:rPr lang="en-US" sz="1000" b="1" dirty="0">
                <a:solidFill>
                  <a:srgbClr val="F5F7FB"/>
                </a:solidFill>
                <a:latin typeface="Calibri" pitchFamily="34" charset="0"/>
                <a:ea typeface="Calibri" pitchFamily="34" charset="-122"/>
                <a:cs typeface="Calibri" pitchFamily="34" charset="-120"/>
              </a:rPr>
              <a:t>7</a:t>
            </a:r>
            <a:endParaRPr lang="en-US" sz="1000" dirty="0"/>
          </a:p>
        </p:txBody>
      </p:sp>
      <p:sp>
        <p:nvSpPr>
          <p:cNvPr id="40" name="Text 36"/>
          <p:cNvSpPr txBox="1"/>
          <p:nvPr/>
        </p:nvSpPr>
        <p:spPr>
          <a:xfrm>
            <a:off x="4645152" y="5687568"/>
            <a:ext cx="2834640" cy="310896"/>
          </a:xfrm>
          <a:prstGeom prst="rect">
            <a:avLst/>
          </a:prstGeom>
          <a:noFill/>
          <a:ln/>
        </p:spPr>
        <p:txBody>
          <a:bodyPr wrap="square" lIns="0" tIns="0" rIns="0" bIns="0" rtlCol="0" anchor="ctr"/>
          <a:lstStyle/>
          <a:p>
            <a:pPr indent="0" marL="0">
              <a:buNone/>
            </a:pPr>
            <a:r>
              <a:rPr lang="en-US" sz="1200" dirty="0">
                <a:solidFill>
                  <a:srgbClr val="D5D9E2"/>
                </a:solidFill>
                <a:latin typeface="Calibri" pitchFamily="34" charset="0"/>
                <a:ea typeface="Calibri" pitchFamily="34" charset="-122"/>
                <a:cs typeface="Calibri" pitchFamily="34" charset="-120"/>
              </a:rPr>
              <a:t>Get Started button</a:t>
            </a:r>
            <a:endParaRPr lang="en-US" sz="1200" dirty="0"/>
          </a:p>
        </p:txBody>
      </p:sp>
      <p:sp>
        <p:nvSpPr>
          <p:cNvPr id="41" name="card"/>
          <p:cNvSpPr/>
          <p:nvPr/>
        </p:nvSpPr>
        <p:spPr>
          <a:xfrm>
            <a:off x="8001000" y="1325880"/>
            <a:ext cx="3611880" cy="2788920"/>
          </a:xfrm>
          <a:prstGeom prst="roundRect">
            <a:avLst>
              <a:gd name="adj" fmla="val 3934"/>
            </a:avLst>
          </a:prstGeom>
          <a:solidFill>
            <a:srgbClr val="161B27"/>
          </a:solidFill>
          <a:ln w="12700">
            <a:solidFill>
              <a:srgbClr val="2B3240"/>
            </a:solidFill>
            <a:prstDash val="solid"/>
          </a:ln>
          <a:effectLst>
            <a:outerShdw sx="100000" sy="100000" kx="0" ky="0" algn="bl" rotWithShape="0" blurRad="177800" dist="50800" dir="16200000">
              <a:srgbClr val="8B5CF6">
                <a:alpha val="28000"/>
              </a:srgbClr>
            </a:outerShdw>
          </a:effectLst>
        </p:spPr>
      </p:sp>
      <p:sp>
        <p:nvSpPr>
          <p:cNvPr id="42" name="Text 38"/>
          <p:cNvSpPr txBox="1"/>
          <p:nvPr/>
        </p:nvSpPr>
        <p:spPr>
          <a:xfrm>
            <a:off x="8229600" y="1417320"/>
            <a:ext cx="3246120" cy="365760"/>
          </a:xfrm>
          <a:prstGeom prst="rect">
            <a:avLst/>
          </a:prstGeom>
          <a:noFill/>
          <a:ln/>
        </p:spPr>
        <p:txBody>
          <a:bodyPr wrap="square" lIns="0" tIns="0" rIns="0" bIns="0" rtlCol="0" anchor="ctr"/>
          <a:lstStyle/>
          <a:p>
            <a:pPr indent="0" marL="0">
              <a:buNone/>
            </a:pPr>
            <a:r>
              <a:rPr lang="en-US" sz="1300" b="1" dirty="0">
                <a:solidFill>
                  <a:srgbClr val="EC4899"/>
                </a:solidFill>
                <a:latin typeface="Calibri" pitchFamily="34" charset="0"/>
                <a:ea typeface="Calibri" pitchFamily="34" charset="-122"/>
                <a:cs typeface="Calibri" pitchFamily="34" charset="-120"/>
              </a:rPr>
              <a:t>SOFTWARE REQUIREMENTS</a:t>
            </a:r>
            <a:endParaRPr lang="en-US" sz="1300" dirty="0"/>
          </a:p>
        </p:txBody>
      </p:sp>
      <p:sp>
        <p:nvSpPr>
          <p:cNvPr id="43" name="Text 39"/>
          <p:cNvSpPr txBox="1"/>
          <p:nvPr/>
        </p:nvSpPr>
        <p:spPr>
          <a:xfrm>
            <a:off x="8229600" y="1828800"/>
            <a:ext cx="3200400" cy="2194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5F7FB"/>
                </a:solidFill>
                <a:latin typeface="Calibri" pitchFamily="34" charset="0"/>
                <a:ea typeface="Calibri" pitchFamily="34" charset="-122"/>
                <a:cs typeface="Calibri" pitchFamily="34" charset="-120"/>
              </a:rPr>
              <a:t>Python 3.x</a:t>
            </a:r>
            <a:endParaRPr lang="en-US" sz="1400" dirty="0"/>
          </a:p>
          <a:p>
            <a:pPr marL="342900" indent="-342900">
              <a:spcAft>
                <a:spcPts val="400"/>
              </a:spcAft>
              <a:buSzPct val="100000"/>
              <a:buChar char="•"/>
            </a:pPr>
            <a:r>
              <a:rPr lang="en-US" sz="1400" dirty="0">
                <a:solidFill>
                  <a:srgbClr val="F5F7FB"/>
                </a:solidFill>
                <a:latin typeface="Calibri" pitchFamily="34" charset="0"/>
                <a:ea typeface="Calibri" pitchFamily="34" charset="-122"/>
                <a:cs typeface="Calibri" pitchFamily="34" charset="-120"/>
              </a:rPr>
              <a:t>Streamlit and packages from requirements.txt</a:t>
            </a:r>
            <a:endParaRPr lang="en-US" sz="1400" dirty="0"/>
          </a:p>
          <a:p>
            <a:pPr marL="342900" indent="-342900">
              <a:spcAft>
                <a:spcPts val="400"/>
              </a:spcAft>
              <a:buSzPct val="100000"/>
              <a:buChar char="•"/>
            </a:pPr>
            <a:r>
              <a:rPr lang="en-US" sz="1400" dirty="0">
                <a:solidFill>
                  <a:srgbClr val="F5F7FB"/>
                </a:solidFill>
                <a:latin typeface="Calibri" pitchFamily="34" charset="0"/>
                <a:ea typeface="Calibri" pitchFamily="34" charset="-122"/>
                <a:cs typeface="Calibri" pitchFamily="34" charset="-120"/>
              </a:rPr>
              <a:t>Google Gemini API access</a:t>
            </a:r>
            <a:endParaRPr lang="en-US" sz="1400" dirty="0"/>
          </a:p>
          <a:p>
            <a:pPr marL="342900" indent="-342900">
              <a:spcAft>
                <a:spcPts val="400"/>
              </a:spcAft>
              <a:buSzPct val="100000"/>
              <a:buChar char="•"/>
            </a:pPr>
            <a:r>
              <a:rPr lang="en-US" sz="1400" dirty="0">
                <a:solidFill>
                  <a:srgbClr val="F5F7FB"/>
                </a:solidFill>
                <a:latin typeface="Calibri" pitchFamily="34" charset="0"/>
                <a:ea typeface="Calibri" pitchFamily="34" charset="-122"/>
                <a:cs typeface="Calibri" pitchFamily="34" charset="-120"/>
              </a:rPr>
              <a:t>Internet connection and web browser</a:t>
            </a:r>
            <a:endParaRPr lang="en-US" sz="1400" dirty="0"/>
          </a:p>
          <a:p>
            <a:pPr marL="342900" indent="-342900">
              <a:spcAft>
                <a:spcPts val="400"/>
              </a:spcAft>
              <a:buSzPct val="100000"/>
              <a:buChar char="•"/>
            </a:pPr>
            <a:r>
              <a:rPr lang="en-US" sz="1400" dirty="0">
                <a:solidFill>
                  <a:srgbClr val="F5F7FB"/>
                </a:solidFill>
                <a:latin typeface="Calibri" pitchFamily="34" charset="0"/>
                <a:ea typeface="Calibri" pitchFamily="34" charset="-122"/>
                <a:cs typeface="Calibri" pitchFamily="34" charset="-120"/>
              </a:rPr>
              <a:t>API credentials / secrets (Gemini; Twilio and email for sharing)</a:t>
            </a:r>
            <a:endParaRPr lang="en-US" sz="1400" dirty="0"/>
          </a:p>
        </p:txBody>
      </p:sp>
      <p:sp>
        <p:nvSpPr>
          <p:cNvPr id="44" name="card"/>
          <p:cNvSpPr/>
          <p:nvPr/>
        </p:nvSpPr>
        <p:spPr>
          <a:xfrm>
            <a:off x="8001000" y="4297680"/>
            <a:ext cx="3611880" cy="1965960"/>
          </a:xfrm>
          <a:prstGeom prst="roundRect">
            <a:avLst>
              <a:gd name="adj" fmla="val 5581"/>
            </a:avLst>
          </a:prstGeom>
          <a:solidFill>
            <a:srgbClr val="161B27"/>
          </a:solidFill>
          <a:ln w="12700">
            <a:solidFill>
              <a:srgbClr val="2B3240"/>
            </a:solidFill>
            <a:prstDash val="solid"/>
          </a:ln>
          <a:effectLst>
            <a:outerShdw sx="100000" sy="100000" kx="0" ky="0" algn="bl" rotWithShape="0" blurRad="177800" dist="50800" dir="16200000">
              <a:srgbClr val="8B5CF6">
                <a:alpha val="28000"/>
              </a:srgbClr>
            </a:outerShdw>
          </a:effectLst>
        </p:spPr>
      </p:sp>
      <p:sp>
        <p:nvSpPr>
          <p:cNvPr id="45" name="Text 41"/>
          <p:cNvSpPr txBox="1"/>
          <p:nvPr/>
        </p:nvSpPr>
        <p:spPr>
          <a:xfrm>
            <a:off x="8229600" y="4389120"/>
            <a:ext cx="3246120" cy="365760"/>
          </a:xfrm>
          <a:prstGeom prst="rect">
            <a:avLst/>
          </a:prstGeom>
          <a:noFill/>
          <a:ln/>
        </p:spPr>
        <p:txBody>
          <a:bodyPr wrap="square" lIns="0" tIns="0" rIns="0" bIns="0" rtlCol="0" anchor="ctr"/>
          <a:lstStyle/>
          <a:p>
            <a:pPr indent="0" marL="0">
              <a:buNone/>
            </a:pPr>
            <a:r>
              <a:rPr lang="en-US" sz="1300" b="1" dirty="0">
                <a:solidFill>
                  <a:srgbClr val="EC4899"/>
                </a:solidFill>
                <a:latin typeface="Calibri" pitchFamily="34" charset="0"/>
                <a:ea typeface="Calibri" pitchFamily="34" charset="-122"/>
                <a:cs typeface="Calibri" pitchFamily="34" charset="-120"/>
              </a:rPr>
              <a:t>HARDWARE REQUIREMENTS</a:t>
            </a:r>
            <a:endParaRPr lang="en-US" sz="1300" dirty="0"/>
          </a:p>
        </p:txBody>
      </p:sp>
      <p:sp>
        <p:nvSpPr>
          <p:cNvPr id="46" name="Text 42"/>
          <p:cNvSpPr txBox="1"/>
          <p:nvPr/>
        </p:nvSpPr>
        <p:spPr>
          <a:xfrm>
            <a:off x="8229600" y="4800600"/>
            <a:ext cx="3200400" cy="1371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5F7FB"/>
                </a:solidFill>
                <a:latin typeface="Calibri" pitchFamily="34" charset="0"/>
                <a:ea typeface="Calibri" pitchFamily="34" charset="-122"/>
                <a:cs typeface="Calibri" pitchFamily="34" charset="-120"/>
              </a:rPr>
              <a:t>Laptop / desktop</a:t>
            </a:r>
            <a:endParaRPr lang="en-US" sz="1400" dirty="0"/>
          </a:p>
          <a:p>
            <a:pPr marL="342900" indent="-342900">
              <a:spcAft>
                <a:spcPts val="400"/>
              </a:spcAft>
              <a:buSzPct val="100000"/>
              <a:buChar char="•"/>
            </a:pPr>
            <a:r>
              <a:rPr lang="en-US" sz="1400" dirty="0">
                <a:solidFill>
                  <a:srgbClr val="F5F7FB"/>
                </a:solidFill>
                <a:latin typeface="Calibri" pitchFamily="34" charset="0"/>
                <a:ea typeface="Calibri" pitchFamily="34" charset="-122"/>
                <a:cs typeface="Calibri" pitchFamily="34" charset="-120"/>
              </a:rPr>
              <a:t>Minimum 4 GB RAM (suggested)</a:t>
            </a:r>
            <a:endParaRPr lang="en-US" sz="1400" dirty="0"/>
          </a:p>
          <a:p>
            <a:pPr marL="342900" indent="-342900">
              <a:spcAft>
                <a:spcPts val="400"/>
              </a:spcAft>
              <a:buSzPct val="100000"/>
              <a:buChar char="•"/>
            </a:pPr>
            <a:r>
              <a:rPr lang="en-US" sz="1400" dirty="0">
                <a:solidFill>
                  <a:srgbClr val="F5F7FB"/>
                </a:solidFill>
                <a:latin typeface="Calibri" pitchFamily="34" charset="0"/>
                <a:ea typeface="Calibri" pitchFamily="34" charset="-122"/>
                <a:cs typeface="Calibri" pitchFamily="34" charset="-120"/>
              </a:rPr>
              <a:t>Internet connectivity</a:t>
            </a:r>
            <a:endParaRPr lang="en-US" sz="14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899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rgbClr val="F5F7FB"/>
                </a:solidFill>
                <a:latin typeface="Calibri" pitchFamily="34" charset="0"/>
                <a:ea typeface="Calibri" pitchFamily="34" charset="-122"/>
                <a:cs typeface="Calibri" pitchFamily="34" charset="-120"/>
              </a:rPr>
              <a:t>Advantages &amp; Applications</a:t>
            </a:r>
            <a:endParaRPr lang="en-US" sz="3600" dirty="0"/>
          </a:p>
        </p:txBody>
      </p:sp>
      <p:sp>
        <p:nvSpPr>
          <p:cNvPr id="4" name="card"/>
          <p:cNvSpPr/>
          <p:nvPr/>
        </p:nvSpPr>
        <p:spPr>
          <a:xfrm>
            <a:off x="548640" y="1325880"/>
            <a:ext cx="5394960" cy="4937760"/>
          </a:xfrm>
          <a:prstGeom prst="roundRect">
            <a:avLst>
              <a:gd name="adj" fmla="val 2222"/>
            </a:avLst>
          </a:prstGeom>
          <a:solidFill>
            <a:srgbClr val="161B27"/>
          </a:solidFill>
          <a:ln w="12700">
            <a:solidFill>
              <a:srgbClr val="8B5CF6"/>
            </a:solidFill>
            <a:prstDash val="solid"/>
          </a:ln>
        </p:spPr>
      </p:sp>
      <p:sp>
        <p:nvSpPr>
          <p:cNvPr id="5" name="Text 2"/>
          <p:cNvSpPr txBox="1"/>
          <p:nvPr/>
        </p:nvSpPr>
        <p:spPr>
          <a:xfrm>
            <a:off x="868680" y="1463040"/>
            <a:ext cx="4572000" cy="411480"/>
          </a:xfrm>
          <a:prstGeom prst="rect">
            <a:avLst/>
          </a:prstGeom>
          <a:noFill/>
          <a:ln/>
        </p:spPr>
        <p:txBody>
          <a:bodyPr wrap="square" lIns="0" tIns="0" rIns="0" bIns="0" rtlCol="0" anchor="ctr"/>
          <a:lstStyle/>
          <a:p>
            <a:pPr indent="0" marL="0">
              <a:buNone/>
            </a:pPr>
            <a:r>
              <a:rPr lang="en-US" sz="1800" b="1" dirty="0">
                <a:solidFill>
                  <a:srgbClr val="C4B5FD"/>
                </a:solidFill>
                <a:latin typeface="Calibri" pitchFamily="34" charset="0"/>
                <a:ea typeface="Calibri" pitchFamily="34" charset="-122"/>
                <a:cs typeface="Calibri" pitchFamily="34" charset="-120"/>
              </a:rPr>
              <a:t>ADVANTAGES</a:t>
            </a:r>
            <a:endParaRPr lang="en-US" sz="1800" dirty="0"/>
          </a:p>
        </p:txBody>
      </p:sp>
      <p:sp>
        <p:nvSpPr>
          <p:cNvPr id="6" name="icon-circle"/>
          <p:cNvSpPr/>
          <p:nvPr/>
        </p:nvSpPr>
        <p:spPr>
          <a:xfrm>
            <a:off x="868680" y="2011680"/>
            <a:ext cx="438912" cy="438912"/>
          </a:xfrm>
          <a:prstGeom prst="ellipse">
            <a:avLst/>
          </a:prstGeom>
          <a:solidFill>
            <a:srgbClr val="241C45"/>
          </a:solidFill>
          <a:ln w="12700">
            <a:solidFill>
              <a:srgbClr val="8B5CF6"/>
            </a:solidFill>
            <a:prstDash val="solid"/>
          </a:ln>
        </p:spPr>
      </p:sp>
      <p:pic>
        <p:nvPicPr>
          <p:cNvPr id="7" name="icon" descr="preencoded.png">    </p:cNvPr>
          <p:cNvPicPr>
            <a:picLocks noChangeAspect="1"/>
          </p:cNvPicPr>
          <p:nvPr/>
        </p:nvPicPr>
        <p:blipFill>
          <a:blip r:embed="rId1"/>
          <a:stretch>
            <a:fillRect/>
          </a:stretch>
        </p:blipFill>
        <p:spPr>
          <a:xfrm>
            <a:off x="978408" y="2121408"/>
            <a:ext cx="219456" cy="219456"/>
          </a:xfrm>
          <a:prstGeom prst="rect">
            <a:avLst/>
          </a:prstGeom>
        </p:spPr>
      </p:pic>
      <p:sp>
        <p:nvSpPr>
          <p:cNvPr id="8" name="Text 4"/>
          <p:cNvSpPr txBox="1"/>
          <p:nvPr/>
        </p:nvSpPr>
        <p:spPr>
          <a:xfrm>
            <a:off x="1508760" y="2011680"/>
            <a:ext cx="4206240" cy="438912"/>
          </a:xfrm>
          <a:prstGeom prst="rect">
            <a:avLst/>
          </a:prstGeom>
          <a:noFill/>
          <a:ln/>
        </p:spPr>
        <p:txBody>
          <a:bodyPr wrap="square" lIns="0" tIns="0" rIns="0" bIns="0" rtlCol="0" anchor="ctr"/>
          <a:lstStyle/>
          <a:p>
            <a:pPr indent="0" marL="0">
              <a:buNone/>
            </a:pPr>
            <a:r>
              <a:rPr lang="en-US" sz="1600" dirty="0">
                <a:solidFill>
                  <a:srgbClr val="F5F7FB"/>
                </a:solidFill>
                <a:latin typeface="Calibri" pitchFamily="34" charset="0"/>
                <a:ea typeface="Calibri" pitchFamily="34" charset="-122"/>
                <a:cs typeface="Calibri" pitchFamily="34" charset="-120"/>
              </a:rPr>
              <a:t>Reduces manual effort</a:t>
            </a:r>
            <a:endParaRPr lang="en-US" sz="1600" dirty="0"/>
          </a:p>
        </p:txBody>
      </p:sp>
      <p:sp>
        <p:nvSpPr>
          <p:cNvPr id="9" name="icon-circle"/>
          <p:cNvSpPr/>
          <p:nvPr/>
        </p:nvSpPr>
        <p:spPr>
          <a:xfrm>
            <a:off x="868680" y="2596896"/>
            <a:ext cx="438912" cy="438912"/>
          </a:xfrm>
          <a:prstGeom prst="ellipse">
            <a:avLst/>
          </a:prstGeom>
          <a:solidFill>
            <a:srgbClr val="241C45"/>
          </a:solidFill>
          <a:ln w="12700">
            <a:solidFill>
              <a:srgbClr val="8B5CF6"/>
            </a:solidFill>
            <a:prstDash val="solid"/>
          </a:ln>
        </p:spPr>
      </p:sp>
      <p:pic>
        <p:nvPicPr>
          <p:cNvPr id="10" name="icon" descr="preencoded.png">    </p:cNvPr>
          <p:cNvPicPr>
            <a:picLocks noChangeAspect="1"/>
          </p:cNvPicPr>
          <p:nvPr/>
        </p:nvPicPr>
        <p:blipFill>
          <a:blip r:embed="rId2"/>
          <a:stretch>
            <a:fillRect/>
          </a:stretch>
        </p:blipFill>
        <p:spPr>
          <a:xfrm>
            <a:off x="978408" y="2706624"/>
            <a:ext cx="219456" cy="219456"/>
          </a:xfrm>
          <a:prstGeom prst="rect">
            <a:avLst/>
          </a:prstGeom>
        </p:spPr>
      </p:pic>
      <p:sp>
        <p:nvSpPr>
          <p:cNvPr id="11" name="Text 6"/>
          <p:cNvSpPr txBox="1"/>
          <p:nvPr/>
        </p:nvSpPr>
        <p:spPr>
          <a:xfrm>
            <a:off x="1508760" y="2596896"/>
            <a:ext cx="4206240" cy="438912"/>
          </a:xfrm>
          <a:prstGeom prst="rect">
            <a:avLst/>
          </a:prstGeom>
          <a:noFill/>
          <a:ln/>
        </p:spPr>
        <p:txBody>
          <a:bodyPr wrap="square" lIns="0" tIns="0" rIns="0" bIns="0" rtlCol="0" anchor="ctr"/>
          <a:lstStyle/>
          <a:p>
            <a:pPr indent="0" marL="0">
              <a:buNone/>
            </a:pPr>
            <a:r>
              <a:rPr lang="en-US" sz="1600" dirty="0">
                <a:solidFill>
                  <a:srgbClr val="F5F7FB"/>
                </a:solidFill>
                <a:latin typeface="Calibri" pitchFamily="34" charset="0"/>
                <a:ea typeface="Calibri" pitchFamily="34" charset="-122"/>
                <a:cs typeface="Calibri" pitchFamily="34" charset="-120"/>
              </a:rPr>
              <a:t>Faster receipt processing</a:t>
            </a:r>
            <a:endParaRPr lang="en-US" sz="1600" dirty="0"/>
          </a:p>
        </p:txBody>
      </p:sp>
      <p:sp>
        <p:nvSpPr>
          <p:cNvPr id="12" name="icon-circle"/>
          <p:cNvSpPr/>
          <p:nvPr/>
        </p:nvSpPr>
        <p:spPr>
          <a:xfrm>
            <a:off x="868680" y="3182112"/>
            <a:ext cx="438912" cy="438912"/>
          </a:xfrm>
          <a:prstGeom prst="ellipse">
            <a:avLst/>
          </a:prstGeom>
          <a:solidFill>
            <a:srgbClr val="241C45"/>
          </a:solidFill>
          <a:ln w="12700">
            <a:solidFill>
              <a:srgbClr val="8B5CF6"/>
            </a:solidFill>
            <a:prstDash val="solid"/>
          </a:ln>
        </p:spPr>
      </p:sp>
      <p:pic>
        <p:nvPicPr>
          <p:cNvPr id="13" name="icon" descr="preencoded.png">    </p:cNvPr>
          <p:cNvPicPr>
            <a:picLocks noChangeAspect="1"/>
          </p:cNvPicPr>
          <p:nvPr/>
        </p:nvPicPr>
        <p:blipFill>
          <a:blip r:embed="rId3"/>
          <a:stretch>
            <a:fillRect/>
          </a:stretch>
        </p:blipFill>
        <p:spPr>
          <a:xfrm>
            <a:off x="978408" y="3291840"/>
            <a:ext cx="219456" cy="219456"/>
          </a:xfrm>
          <a:prstGeom prst="rect">
            <a:avLst/>
          </a:prstGeom>
        </p:spPr>
      </p:pic>
      <p:sp>
        <p:nvSpPr>
          <p:cNvPr id="14" name="Text 8"/>
          <p:cNvSpPr txBox="1"/>
          <p:nvPr/>
        </p:nvSpPr>
        <p:spPr>
          <a:xfrm>
            <a:off x="1508760" y="3182112"/>
            <a:ext cx="4206240" cy="438912"/>
          </a:xfrm>
          <a:prstGeom prst="rect">
            <a:avLst/>
          </a:prstGeom>
          <a:noFill/>
          <a:ln/>
        </p:spPr>
        <p:txBody>
          <a:bodyPr wrap="square" lIns="0" tIns="0" rIns="0" bIns="0" rtlCol="0" anchor="ctr"/>
          <a:lstStyle/>
          <a:p>
            <a:pPr indent="0" marL="0">
              <a:buNone/>
            </a:pPr>
            <a:r>
              <a:rPr lang="en-US" sz="1600" dirty="0">
                <a:solidFill>
                  <a:srgbClr val="F5F7FB"/>
                </a:solidFill>
                <a:latin typeface="Calibri" pitchFamily="34" charset="0"/>
                <a:ea typeface="Calibri" pitchFamily="34" charset="-122"/>
                <a:cs typeface="Calibri" pitchFamily="34" charset="-120"/>
              </a:rPr>
              <a:t>Helps reduce calculation errors</a:t>
            </a:r>
            <a:endParaRPr lang="en-US" sz="1600" dirty="0"/>
          </a:p>
        </p:txBody>
      </p:sp>
      <p:sp>
        <p:nvSpPr>
          <p:cNvPr id="15" name="icon-circle"/>
          <p:cNvSpPr/>
          <p:nvPr/>
        </p:nvSpPr>
        <p:spPr>
          <a:xfrm>
            <a:off x="868680" y="3767328"/>
            <a:ext cx="438912" cy="438912"/>
          </a:xfrm>
          <a:prstGeom prst="ellipse">
            <a:avLst/>
          </a:prstGeom>
          <a:solidFill>
            <a:srgbClr val="241C45"/>
          </a:solidFill>
          <a:ln w="12700">
            <a:solidFill>
              <a:srgbClr val="8B5CF6"/>
            </a:solidFill>
            <a:prstDash val="solid"/>
          </a:ln>
        </p:spPr>
      </p:sp>
      <p:pic>
        <p:nvPicPr>
          <p:cNvPr id="16" name="icon" descr="preencoded.png">    </p:cNvPr>
          <p:cNvPicPr>
            <a:picLocks noChangeAspect="1"/>
          </p:cNvPicPr>
          <p:nvPr/>
        </p:nvPicPr>
        <p:blipFill>
          <a:blip r:embed="rId4"/>
          <a:stretch>
            <a:fillRect/>
          </a:stretch>
        </p:blipFill>
        <p:spPr>
          <a:xfrm>
            <a:off x="978408" y="3877056"/>
            <a:ext cx="219456" cy="219456"/>
          </a:xfrm>
          <a:prstGeom prst="rect">
            <a:avLst/>
          </a:prstGeom>
        </p:spPr>
      </p:pic>
      <p:sp>
        <p:nvSpPr>
          <p:cNvPr id="17" name="Text 10"/>
          <p:cNvSpPr txBox="1"/>
          <p:nvPr/>
        </p:nvSpPr>
        <p:spPr>
          <a:xfrm>
            <a:off x="1508760" y="3767328"/>
            <a:ext cx="4206240" cy="438912"/>
          </a:xfrm>
          <a:prstGeom prst="rect">
            <a:avLst/>
          </a:prstGeom>
          <a:noFill/>
          <a:ln/>
        </p:spPr>
        <p:txBody>
          <a:bodyPr wrap="square" lIns="0" tIns="0" rIns="0" bIns="0" rtlCol="0" anchor="ctr"/>
          <a:lstStyle/>
          <a:p>
            <a:pPr indent="0" marL="0">
              <a:buNone/>
            </a:pPr>
            <a:r>
              <a:rPr lang="en-US" sz="1600" dirty="0">
                <a:solidFill>
                  <a:srgbClr val="F5F7FB"/>
                </a:solidFill>
                <a:latin typeface="Calibri" pitchFamily="34" charset="0"/>
                <a:ea typeface="Calibri" pitchFamily="34" charset="-122"/>
                <a:cs typeface="Calibri" pitchFamily="34" charset="-120"/>
              </a:rPr>
              <a:t>Simplifies group expense management</a:t>
            </a:r>
            <a:endParaRPr lang="en-US" sz="1600" dirty="0"/>
          </a:p>
        </p:txBody>
      </p:sp>
      <p:sp>
        <p:nvSpPr>
          <p:cNvPr id="18" name="icon-circle"/>
          <p:cNvSpPr/>
          <p:nvPr/>
        </p:nvSpPr>
        <p:spPr>
          <a:xfrm>
            <a:off x="868680" y="4352544"/>
            <a:ext cx="438912" cy="438912"/>
          </a:xfrm>
          <a:prstGeom prst="ellipse">
            <a:avLst/>
          </a:prstGeom>
          <a:solidFill>
            <a:srgbClr val="241C45"/>
          </a:solidFill>
          <a:ln w="12700">
            <a:solidFill>
              <a:srgbClr val="8B5CF6"/>
            </a:solidFill>
            <a:prstDash val="solid"/>
          </a:ln>
        </p:spPr>
      </p:sp>
      <p:pic>
        <p:nvPicPr>
          <p:cNvPr id="19" name="icon" descr="preencoded.png">    </p:cNvPr>
          <p:cNvPicPr>
            <a:picLocks noChangeAspect="1"/>
          </p:cNvPicPr>
          <p:nvPr/>
        </p:nvPicPr>
        <p:blipFill>
          <a:blip r:embed="rId5"/>
          <a:stretch>
            <a:fillRect/>
          </a:stretch>
        </p:blipFill>
        <p:spPr>
          <a:xfrm>
            <a:off x="978408" y="4462272"/>
            <a:ext cx="219456" cy="219456"/>
          </a:xfrm>
          <a:prstGeom prst="rect">
            <a:avLst/>
          </a:prstGeom>
        </p:spPr>
      </p:pic>
      <p:sp>
        <p:nvSpPr>
          <p:cNvPr id="20" name="Text 12"/>
          <p:cNvSpPr txBox="1"/>
          <p:nvPr/>
        </p:nvSpPr>
        <p:spPr>
          <a:xfrm>
            <a:off x="1508760" y="4352544"/>
            <a:ext cx="4206240" cy="438912"/>
          </a:xfrm>
          <a:prstGeom prst="rect">
            <a:avLst/>
          </a:prstGeom>
          <a:noFill/>
          <a:ln/>
        </p:spPr>
        <p:txBody>
          <a:bodyPr wrap="square" lIns="0" tIns="0" rIns="0" bIns="0" rtlCol="0" anchor="ctr"/>
          <a:lstStyle/>
          <a:p>
            <a:pPr indent="0" marL="0">
              <a:buNone/>
            </a:pPr>
            <a:r>
              <a:rPr lang="en-US" sz="1600" dirty="0">
                <a:solidFill>
                  <a:srgbClr val="F5F7FB"/>
                </a:solidFill>
                <a:latin typeface="Calibri" pitchFamily="34" charset="0"/>
                <a:ea typeface="Calibri" pitchFamily="34" charset="-122"/>
                <a:cs typeface="Calibri" pitchFamily="34" charset="-120"/>
              </a:rPr>
              <a:t>Provides AI-powered assistance</a:t>
            </a:r>
            <a:endParaRPr lang="en-US" sz="1600" dirty="0"/>
          </a:p>
        </p:txBody>
      </p:sp>
      <p:sp>
        <p:nvSpPr>
          <p:cNvPr id="21" name="icon-circle"/>
          <p:cNvSpPr/>
          <p:nvPr/>
        </p:nvSpPr>
        <p:spPr>
          <a:xfrm>
            <a:off x="868680" y="4937760"/>
            <a:ext cx="438912" cy="438912"/>
          </a:xfrm>
          <a:prstGeom prst="ellipse">
            <a:avLst/>
          </a:prstGeom>
          <a:solidFill>
            <a:srgbClr val="241C45"/>
          </a:solidFill>
          <a:ln w="12700">
            <a:solidFill>
              <a:srgbClr val="8B5CF6"/>
            </a:solidFill>
            <a:prstDash val="solid"/>
          </a:ln>
        </p:spPr>
      </p:sp>
      <p:pic>
        <p:nvPicPr>
          <p:cNvPr id="22" name="icon" descr="preencoded.png">    </p:cNvPr>
          <p:cNvPicPr>
            <a:picLocks noChangeAspect="1"/>
          </p:cNvPicPr>
          <p:nvPr/>
        </p:nvPicPr>
        <p:blipFill>
          <a:blip r:embed="rId6"/>
          <a:stretch>
            <a:fillRect/>
          </a:stretch>
        </p:blipFill>
        <p:spPr>
          <a:xfrm>
            <a:off x="978408" y="5047488"/>
            <a:ext cx="219456" cy="219456"/>
          </a:xfrm>
          <a:prstGeom prst="rect">
            <a:avLst/>
          </a:prstGeom>
        </p:spPr>
      </p:pic>
      <p:sp>
        <p:nvSpPr>
          <p:cNvPr id="23" name="Text 14"/>
          <p:cNvSpPr txBox="1"/>
          <p:nvPr/>
        </p:nvSpPr>
        <p:spPr>
          <a:xfrm>
            <a:off x="1508760" y="4937760"/>
            <a:ext cx="4206240" cy="438912"/>
          </a:xfrm>
          <a:prstGeom prst="rect">
            <a:avLst/>
          </a:prstGeom>
          <a:noFill/>
          <a:ln/>
        </p:spPr>
        <p:txBody>
          <a:bodyPr wrap="square" lIns="0" tIns="0" rIns="0" bIns="0" rtlCol="0" anchor="ctr"/>
          <a:lstStyle/>
          <a:p>
            <a:pPr indent="0" marL="0">
              <a:buNone/>
            </a:pPr>
            <a:r>
              <a:rPr lang="en-US" sz="1600" dirty="0">
                <a:solidFill>
                  <a:srgbClr val="F5F7FB"/>
                </a:solidFill>
                <a:latin typeface="Calibri" pitchFamily="34" charset="0"/>
                <a:ea typeface="Calibri" pitchFamily="34" charset="-122"/>
                <a:cs typeface="Calibri" pitchFamily="34" charset="-120"/>
              </a:rPr>
              <a:t>Makes expense sharing easier</a:t>
            </a:r>
            <a:endParaRPr lang="en-US" sz="1600" dirty="0"/>
          </a:p>
        </p:txBody>
      </p:sp>
      <p:sp>
        <p:nvSpPr>
          <p:cNvPr id="24" name="icon-circle"/>
          <p:cNvSpPr/>
          <p:nvPr/>
        </p:nvSpPr>
        <p:spPr>
          <a:xfrm>
            <a:off x="868680" y="5522976"/>
            <a:ext cx="438912" cy="438912"/>
          </a:xfrm>
          <a:prstGeom prst="ellipse">
            <a:avLst/>
          </a:prstGeom>
          <a:solidFill>
            <a:srgbClr val="241C45"/>
          </a:solidFill>
          <a:ln w="12700">
            <a:solidFill>
              <a:srgbClr val="8B5CF6"/>
            </a:solidFill>
            <a:prstDash val="solid"/>
          </a:ln>
        </p:spPr>
      </p:sp>
      <p:pic>
        <p:nvPicPr>
          <p:cNvPr id="25" name="icon" descr="preencoded.png">    </p:cNvPr>
          <p:cNvPicPr>
            <a:picLocks noChangeAspect="1"/>
          </p:cNvPicPr>
          <p:nvPr/>
        </p:nvPicPr>
        <p:blipFill>
          <a:blip r:embed="rId7"/>
          <a:stretch>
            <a:fillRect/>
          </a:stretch>
        </p:blipFill>
        <p:spPr>
          <a:xfrm>
            <a:off x="978408" y="5632704"/>
            <a:ext cx="219456" cy="219456"/>
          </a:xfrm>
          <a:prstGeom prst="rect">
            <a:avLst/>
          </a:prstGeom>
        </p:spPr>
      </p:pic>
      <p:sp>
        <p:nvSpPr>
          <p:cNvPr id="26" name="Text 16"/>
          <p:cNvSpPr txBox="1"/>
          <p:nvPr/>
        </p:nvSpPr>
        <p:spPr>
          <a:xfrm>
            <a:off x="1508760" y="5522976"/>
            <a:ext cx="4206240" cy="438912"/>
          </a:xfrm>
          <a:prstGeom prst="rect">
            <a:avLst/>
          </a:prstGeom>
          <a:noFill/>
          <a:ln/>
        </p:spPr>
        <p:txBody>
          <a:bodyPr wrap="square" lIns="0" tIns="0" rIns="0" bIns="0" rtlCol="0" anchor="ctr"/>
          <a:lstStyle/>
          <a:p>
            <a:pPr indent="0" marL="0">
              <a:buNone/>
            </a:pPr>
            <a:r>
              <a:rPr lang="en-US" sz="1600" dirty="0">
                <a:solidFill>
                  <a:srgbClr val="F5F7FB"/>
                </a:solidFill>
                <a:latin typeface="Calibri" pitchFamily="34" charset="0"/>
                <a:ea typeface="Calibri" pitchFamily="34" charset="-122"/>
                <a:cs typeface="Calibri" pitchFamily="34" charset="-120"/>
              </a:rPr>
              <a:t>User-friendly interface</a:t>
            </a:r>
            <a:endParaRPr lang="en-US" sz="1600" dirty="0"/>
          </a:p>
        </p:txBody>
      </p:sp>
      <p:sp>
        <p:nvSpPr>
          <p:cNvPr id="27" name="card"/>
          <p:cNvSpPr/>
          <p:nvPr/>
        </p:nvSpPr>
        <p:spPr>
          <a:xfrm>
            <a:off x="6217920" y="1325880"/>
            <a:ext cx="5394960" cy="4937760"/>
          </a:xfrm>
          <a:prstGeom prst="roundRect">
            <a:avLst>
              <a:gd name="adj" fmla="val 2222"/>
            </a:avLst>
          </a:prstGeom>
          <a:solidFill>
            <a:srgbClr val="161B27"/>
          </a:solidFill>
          <a:ln w="12700">
            <a:solidFill>
              <a:srgbClr val="EC4899"/>
            </a:solidFill>
            <a:prstDash val="solid"/>
          </a:ln>
        </p:spPr>
      </p:sp>
      <p:sp>
        <p:nvSpPr>
          <p:cNvPr id="28" name="Text 18"/>
          <p:cNvSpPr txBox="1"/>
          <p:nvPr/>
        </p:nvSpPr>
        <p:spPr>
          <a:xfrm>
            <a:off x="6537960" y="1463040"/>
            <a:ext cx="4572000" cy="411480"/>
          </a:xfrm>
          <a:prstGeom prst="rect">
            <a:avLst/>
          </a:prstGeom>
          <a:noFill/>
          <a:ln/>
        </p:spPr>
        <p:txBody>
          <a:bodyPr wrap="square" lIns="0" tIns="0" rIns="0" bIns="0" rtlCol="0" anchor="ctr"/>
          <a:lstStyle/>
          <a:p>
            <a:pPr indent="0" marL="0">
              <a:buNone/>
            </a:pPr>
            <a:r>
              <a:rPr lang="en-US" sz="1800" b="1" dirty="0">
                <a:solidFill>
                  <a:srgbClr val="F9A8D4"/>
                </a:solidFill>
                <a:latin typeface="Calibri" pitchFamily="34" charset="0"/>
                <a:ea typeface="Calibri" pitchFamily="34" charset="-122"/>
                <a:cs typeface="Calibri" pitchFamily="34" charset="-120"/>
              </a:rPr>
              <a:t>APPLICATIONS</a:t>
            </a:r>
            <a:endParaRPr lang="en-US" sz="1800" dirty="0"/>
          </a:p>
        </p:txBody>
      </p:sp>
      <p:sp>
        <p:nvSpPr>
          <p:cNvPr id="29" name="icon-circle"/>
          <p:cNvSpPr/>
          <p:nvPr/>
        </p:nvSpPr>
        <p:spPr>
          <a:xfrm>
            <a:off x="6537960" y="2011680"/>
            <a:ext cx="438912" cy="438912"/>
          </a:xfrm>
          <a:prstGeom prst="ellipse">
            <a:avLst/>
          </a:prstGeom>
          <a:solidFill>
            <a:srgbClr val="241C45"/>
          </a:solidFill>
          <a:ln w="12700">
            <a:solidFill>
              <a:srgbClr val="EC4899"/>
            </a:solidFill>
            <a:prstDash val="solid"/>
          </a:ln>
        </p:spPr>
      </p:sp>
      <p:pic>
        <p:nvPicPr>
          <p:cNvPr id="30" name="icon" descr="preencoded.png">    </p:cNvPr>
          <p:cNvPicPr>
            <a:picLocks noChangeAspect="1"/>
          </p:cNvPicPr>
          <p:nvPr/>
        </p:nvPicPr>
        <p:blipFill>
          <a:blip r:embed="rId8"/>
          <a:stretch>
            <a:fillRect/>
          </a:stretch>
        </p:blipFill>
        <p:spPr>
          <a:xfrm>
            <a:off x="6647688" y="2121408"/>
            <a:ext cx="219456" cy="219456"/>
          </a:xfrm>
          <a:prstGeom prst="rect">
            <a:avLst/>
          </a:prstGeom>
        </p:spPr>
      </p:pic>
      <p:sp>
        <p:nvSpPr>
          <p:cNvPr id="31" name="Text 20"/>
          <p:cNvSpPr txBox="1"/>
          <p:nvPr/>
        </p:nvSpPr>
        <p:spPr>
          <a:xfrm>
            <a:off x="7178040" y="2011680"/>
            <a:ext cx="4206240" cy="438912"/>
          </a:xfrm>
          <a:prstGeom prst="rect">
            <a:avLst/>
          </a:prstGeom>
          <a:noFill/>
          <a:ln/>
        </p:spPr>
        <p:txBody>
          <a:bodyPr wrap="square" lIns="0" tIns="0" rIns="0" bIns="0" rtlCol="0" anchor="ctr"/>
          <a:lstStyle/>
          <a:p>
            <a:pPr indent="0" marL="0">
              <a:buNone/>
            </a:pPr>
            <a:r>
              <a:rPr lang="en-US" sz="1600" dirty="0">
                <a:solidFill>
                  <a:srgbClr val="F5F7FB"/>
                </a:solidFill>
                <a:latin typeface="Calibri" pitchFamily="34" charset="0"/>
                <a:ea typeface="Calibri" pitchFamily="34" charset="-122"/>
                <a:cs typeface="Calibri" pitchFamily="34" charset="-120"/>
              </a:rPr>
              <a:t>Restaurant / group dining</a:t>
            </a:r>
            <a:endParaRPr lang="en-US" sz="1600" dirty="0"/>
          </a:p>
        </p:txBody>
      </p:sp>
      <p:sp>
        <p:nvSpPr>
          <p:cNvPr id="32" name="icon-circle"/>
          <p:cNvSpPr/>
          <p:nvPr/>
        </p:nvSpPr>
        <p:spPr>
          <a:xfrm>
            <a:off x="6537960" y="2596896"/>
            <a:ext cx="438912" cy="438912"/>
          </a:xfrm>
          <a:prstGeom prst="ellipse">
            <a:avLst/>
          </a:prstGeom>
          <a:solidFill>
            <a:srgbClr val="241C45"/>
          </a:solidFill>
          <a:ln w="12700">
            <a:solidFill>
              <a:srgbClr val="EC4899"/>
            </a:solidFill>
            <a:prstDash val="solid"/>
          </a:ln>
        </p:spPr>
      </p:sp>
      <p:pic>
        <p:nvPicPr>
          <p:cNvPr id="33" name="icon" descr="preencoded.png">    </p:cNvPr>
          <p:cNvPicPr>
            <a:picLocks noChangeAspect="1"/>
          </p:cNvPicPr>
          <p:nvPr/>
        </p:nvPicPr>
        <p:blipFill>
          <a:blip r:embed="rId9"/>
          <a:stretch>
            <a:fillRect/>
          </a:stretch>
        </p:blipFill>
        <p:spPr>
          <a:xfrm>
            <a:off x="6647688" y="2706624"/>
            <a:ext cx="219456" cy="219456"/>
          </a:xfrm>
          <a:prstGeom prst="rect">
            <a:avLst/>
          </a:prstGeom>
        </p:spPr>
      </p:pic>
      <p:sp>
        <p:nvSpPr>
          <p:cNvPr id="34" name="Text 22"/>
          <p:cNvSpPr txBox="1"/>
          <p:nvPr/>
        </p:nvSpPr>
        <p:spPr>
          <a:xfrm>
            <a:off x="7178040" y="2596896"/>
            <a:ext cx="4206240" cy="438912"/>
          </a:xfrm>
          <a:prstGeom prst="rect">
            <a:avLst/>
          </a:prstGeom>
          <a:noFill/>
          <a:ln/>
        </p:spPr>
        <p:txBody>
          <a:bodyPr wrap="square" lIns="0" tIns="0" rIns="0" bIns="0" rtlCol="0" anchor="ctr"/>
          <a:lstStyle/>
          <a:p>
            <a:pPr indent="0" marL="0">
              <a:buNone/>
            </a:pPr>
            <a:r>
              <a:rPr lang="en-US" sz="1600" dirty="0">
                <a:solidFill>
                  <a:srgbClr val="F5F7FB"/>
                </a:solidFill>
                <a:latin typeface="Calibri" pitchFamily="34" charset="0"/>
                <a:ea typeface="Calibri" pitchFamily="34" charset="-122"/>
                <a:cs typeface="Calibri" pitchFamily="34" charset="-120"/>
              </a:rPr>
              <a:t>College student expenses</a:t>
            </a:r>
            <a:endParaRPr lang="en-US" sz="1600" dirty="0"/>
          </a:p>
        </p:txBody>
      </p:sp>
      <p:sp>
        <p:nvSpPr>
          <p:cNvPr id="35" name="icon-circle"/>
          <p:cNvSpPr/>
          <p:nvPr/>
        </p:nvSpPr>
        <p:spPr>
          <a:xfrm>
            <a:off x="6537960" y="3182112"/>
            <a:ext cx="438912" cy="438912"/>
          </a:xfrm>
          <a:prstGeom prst="ellipse">
            <a:avLst/>
          </a:prstGeom>
          <a:solidFill>
            <a:srgbClr val="241C45"/>
          </a:solidFill>
          <a:ln w="12700">
            <a:solidFill>
              <a:srgbClr val="EC4899"/>
            </a:solidFill>
            <a:prstDash val="solid"/>
          </a:ln>
        </p:spPr>
      </p:sp>
      <p:pic>
        <p:nvPicPr>
          <p:cNvPr id="36" name="icon" descr="preencoded.png">    </p:cNvPr>
          <p:cNvPicPr>
            <a:picLocks noChangeAspect="1"/>
          </p:cNvPicPr>
          <p:nvPr/>
        </p:nvPicPr>
        <p:blipFill>
          <a:blip r:embed="rId10"/>
          <a:stretch>
            <a:fillRect/>
          </a:stretch>
        </p:blipFill>
        <p:spPr>
          <a:xfrm>
            <a:off x="6647688" y="3291840"/>
            <a:ext cx="219456" cy="219456"/>
          </a:xfrm>
          <a:prstGeom prst="rect">
            <a:avLst/>
          </a:prstGeom>
        </p:spPr>
      </p:pic>
      <p:sp>
        <p:nvSpPr>
          <p:cNvPr id="37" name="Text 24"/>
          <p:cNvSpPr txBox="1"/>
          <p:nvPr/>
        </p:nvSpPr>
        <p:spPr>
          <a:xfrm>
            <a:off x="7178040" y="3182112"/>
            <a:ext cx="4206240" cy="438912"/>
          </a:xfrm>
          <a:prstGeom prst="rect">
            <a:avLst/>
          </a:prstGeom>
          <a:noFill/>
          <a:ln/>
        </p:spPr>
        <p:txBody>
          <a:bodyPr wrap="square" lIns="0" tIns="0" rIns="0" bIns="0" rtlCol="0" anchor="ctr"/>
          <a:lstStyle/>
          <a:p>
            <a:pPr indent="0" marL="0">
              <a:buNone/>
            </a:pPr>
            <a:r>
              <a:rPr lang="en-US" sz="1600" dirty="0">
                <a:solidFill>
                  <a:srgbClr val="F5F7FB"/>
                </a:solidFill>
                <a:latin typeface="Calibri" pitchFamily="34" charset="0"/>
                <a:ea typeface="Calibri" pitchFamily="34" charset="-122"/>
                <a:cs typeface="Calibri" pitchFamily="34" charset="-120"/>
              </a:rPr>
              <a:t>Friends and roommates</a:t>
            </a:r>
            <a:endParaRPr lang="en-US" sz="1600" dirty="0"/>
          </a:p>
        </p:txBody>
      </p:sp>
      <p:sp>
        <p:nvSpPr>
          <p:cNvPr id="38" name="icon-circle"/>
          <p:cNvSpPr/>
          <p:nvPr/>
        </p:nvSpPr>
        <p:spPr>
          <a:xfrm>
            <a:off x="6537960" y="3767328"/>
            <a:ext cx="438912" cy="438912"/>
          </a:xfrm>
          <a:prstGeom prst="ellipse">
            <a:avLst/>
          </a:prstGeom>
          <a:solidFill>
            <a:srgbClr val="241C45"/>
          </a:solidFill>
          <a:ln w="12700">
            <a:solidFill>
              <a:srgbClr val="EC4899"/>
            </a:solidFill>
            <a:prstDash val="solid"/>
          </a:ln>
        </p:spPr>
      </p:sp>
      <p:pic>
        <p:nvPicPr>
          <p:cNvPr id="39" name="icon" descr="preencoded.png">    </p:cNvPr>
          <p:cNvPicPr>
            <a:picLocks noChangeAspect="1"/>
          </p:cNvPicPr>
          <p:nvPr/>
        </p:nvPicPr>
        <p:blipFill>
          <a:blip r:embed="rId11"/>
          <a:stretch>
            <a:fillRect/>
          </a:stretch>
        </p:blipFill>
        <p:spPr>
          <a:xfrm>
            <a:off x="6647688" y="3877056"/>
            <a:ext cx="219456" cy="219456"/>
          </a:xfrm>
          <a:prstGeom prst="rect">
            <a:avLst/>
          </a:prstGeom>
        </p:spPr>
      </p:pic>
      <p:sp>
        <p:nvSpPr>
          <p:cNvPr id="40" name="Text 26"/>
          <p:cNvSpPr txBox="1"/>
          <p:nvPr/>
        </p:nvSpPr>
        <p:spPr>
          <a:xfrm>
            <a:off x="7178040" y="3767328"/>
            <a:ext cx="4206240" cy="438912"/>
          </a:xfrm>
          <a:prstGeom prst="rect">
            <a:avLst/>
          </a:prstGeom>
          <a:noFill/>
          <a:ln/>
        </p:spPr>
        <p:txBody>
          <a:bodyPr wrap="square" lIns="0" tIns="0" rIns="0" bIns="0" rtlCol="0" anchor="ctr"/>
          <a:lstStyle/>
          <a:p>
            <a:pPr indent="0" marL="0">
              <a:buNone/>
            </a:pPr>
            <a:r>
              <a:rPr lang="en-US" sz="1600" dirty="0">
                <a:solidFill>
                  <a:srgbClr val="F5F7FB"/>
                </a:solidFill>
                <a:latin typeface="Calibri" pitchFamily="34" charset="0"/>
                <a:ea typeface="Calibri" pitchFamily="34" charset="-122"/>
                <a:cs typeface="Calibri" pitchFamily="34" charset="-120"/>
              </a:rPr>
              <a:t>Travel expenses</a:t>
            </a:r>
            <a:endParaRPr lang="en-US" sz="1600" dirty="0"/>
          </a:p>
        </p:txBody>
      </p:sp>
      <p:sp>
        <p:nvSpPr>
          <p:cNvPr id="41" name="icon-circle"/>
          <p:cNvSpPr/>
          <p:nvPr/>
        </p:nvSpPr>
        <p:spPr>
          <a:xfrm>
            <a:off x="6537960" y="4352544"/>
            <a:ext cx="438912" cy="438912"/>
          </a:xfrm>
          <a:prstGeom prst="ellipse">
            <a:avLst/>
          </a:prstGeom>
          <a:solidFill>
            <a:srgbClr val="241C45"/>
          </a:solidFill>
          <a:ln w="12700">
            <a:solidFill>
              <a:srgbClr val="EC4899"/>
            </a:solidFill>
            <a:prstDash val="solid"/>
          </a:ln>
        </p:spPr>
      </p:sp>
      <p:pic>
        <p:nvPicPr>
          <p:cNvPr id="42" name="icon" descr="preencoded.png">    </p:cNvPr>
          <p:cNvPicPr>
            <a:picLocks noChangeAspect="1"/>
          </p:cNvPicPr>
          <p:nvPr/>
        </p:nvPicPr>
        <p:blipFill>
          <a:blip r:embed="rId12"/>
          <a:stretch>
            <a:fillRect/>
          </a:stretch>
        </p:blipFill>
        <p:spPr>
          <a:xfrm>
            <a:off x="6647688" y="4462272"/>
            <a:ext cx="219456" cy="219456"/>
          </a:xfrm>
          <a:prstGeom prst="rect">
            <a:avLst/>
          </a:prstGeom>
        </p:spPr>
      </p:pic>
      <p:sp>
        <p:nvSpPr>
          <p:cNvPr id="43" name="Text 28"/>
          <p:cNvSpPr txBox="1"/>
          <p:nvPr/>
        </p:nvSpPr>
        <p:spPr>
          <a:xfrm>
            <a:off x="7178040" y="4352544"/>
            <a:ext cx="4206240" cy="438912"/>
          </a:xfrm>
          <a:prstGeom prst="rect">
            <a:avLst/>
          </a:prstGeom>
          <a:noFill/>
          <a:ln/>
        </p:spPr>
        <p:txBody>
          <a:bodyPr wrap="square" lIns="0" tIns="0" rIns="0" bIns="0" rtlCol="0" anchor="ctr"/>
          <a:lstStyle/>
          <a:p>
            <a:pPr indent="0" marL="0">
              <a:buNone/>
            </a:pPr>
            <a:r>
              <a:rPr lang="en-US" sz="1600" dirty="0">
                <a:solidFill>
                  <a:srgbClr val="F5F7FB"/>
                </a:solidFill>
                <a:latin typeface="Calibri" pitchFamily="34" charset="0"/>
                <a:ea typeface="Calibri" pitchFamily="34" charset="-122"/>
                <a:cs typeface="Calibri" pitchFamily="34" charset="-120"/>
              </a:rPr>
              <a:t>Team expenses</a:t>
            </a:r>
            <a:endParaRPr lang="en-US" sz="1600" dirty="0"/>
          </a:p>
        </p:txBody>
      </p:sp>
      <p:sp>
        <p:nvSpPr>
          <p:cNvPr id="44" name="icon-circle"/>
          <p:cNvSpPr/>
          <p:nvPr/>
        </p:nvSpPr>
        <p:spPr>
          <a:xfrm>
            <a:off x="6537960" y="4937760"/>
            <a:ext cx="438912" cy="438912"/>
          </a:xfrm>
          <a:prstGeom prst="ellipse">
            <a:avLst/>
          </a:prstGeom>
          <a:solidFill>
            <a:srgbClr val="241C45"/>
          </a:solidFill>
          <a:ln w="12700">
            <a:solidFill>
              <a:srgbClr val="EC4899"/>
            </a:solidFill>
            <a:prstDash val="solid"/>
          </a:ln>
        </p:spPr>
      </p:sp>
      <p:pic>
        <p:nvPicPr>
          <p:cNvPr id="45" name="icon" descr="preencoded.png">    </p:cNvPr>
          <p:cNvPicPr>
            <a:picLocks noChangeAspect="1"/>
          </p:cNvPicPr>
          <p:nvPr/>
        </p:nvPicPr>
        <p:blipFill>
          <a:blip r:embed="rId13"/>
          <a:stretch>
            <a:fillRect/>
          </a:stretch>
        </p:blipFill>
        <p:spPr>
          <a:xfrm>
            <a:off x="6647688" y="5047488"/>
            <a:ext cx="219456" cy="219456"/>
          </a:xfrm>
          <a:prstGeom prst="rect">
            <a:avLst/>
          </a:prstGeom>
        </p:spPr>
      </p:pic>
      <p:sp>
        <p:nvSpPr>
          <p:cNvPr id="46" name="Text 30"/>
          <p:cNvSpPr txBox="1"/>
          <p:nvPr/>
        </p:nvSpPr>
        <p:spPr>
          <a:xfrm>
            <a:off x="7178040" y="4937760"/>
            <a:ext cx="4206240" cy="438912"/>
          </a:xfrm>
          <a:prstGeom prst="rect">
            <a:avLst/>
          </a:prstGeom>
          <a:noFill/>
          <a:ln/>
        </p:spPr>
        <p:txBody>
          <a:bodyPr wrap="square" lIns="0" tIns="0" rIns="0" bIns="0" rtlCol="0" anchor="ctr"/>
          <a:lstStyle/>
          <a:p>
            <a:pPr indent="0" marL="0">
              <a:buNone/>
            </a:pPr>
            <a:r>
              <a:rPr lang="en-US" sz="1600" dirty="0">
                <a:solidFill>
                  <a:srgbClr val="F5F7FB"/>
                </a:solidFill>
                <a:latin typeface="Calibri" pitchFamily="34" charset="0"/>
                <a:ea typeface="Calibri" pitchFamily="34" charset="-122"/>
                <a:cs typeface="Calibri" pitchFamily="34" charset="-120"/>
              </a:rPr>
              <a:t>Small events</a:t>
            </a:r>
            <a:endParaRPr lang="en-US" sz="1600" dirty="0"/>
          </a:p>
        </p:txBody>
      </p:sp>
      <p:sp>
        <p:nvSpPr>
          <p:cNvPr id="47" name="icon-circle"/>
          <p:cNvSpPr/>
          <p:nvPr/>
        </p:nvSpPr>
        <p:spPr>
          <a:xfrm>
            <a:off x="6537960" y="5522976"/>
            <a:ext cx="438912" cy="438912"/>
          </a:xfrm>
          <a:prstGeom prst="ellipse">
            <a:avLst/>
          </a:prstGeom>
          <a:solidFill>
            <a:srgbClr val="241C45"/>
          </a:solidFill>
          <a:ln w="12700">
            <a:solidFill>
              <a:srgbClr val="EC4899"/>
            </a:solidFill>
            <a:prstDash val="solid"/>
          </a:ln>
        </p:spPr>
      </p:sp>
      <p:pic>
        <p:nvPicPr>
          <p:cNvPr id="48" name="icon" descr="preencoded.png">    </p:cNvPr>
          <p:cNvPicPr>
            <a:picLocks noChangeAspect="1"/>
          </p:cNvPicPr>
          <p:nvPr/>
        </p:nvPicPr>
        <p:blipFill>
          <a:blip r:embed="rId14"/>
          <a:stretch>
            <a:fillRect/>
          </a:stretch>
        </p:blipFill>
        <p:spPr>
          <a:xfrm>
            <a:off x="6647688" y="5632704"/>
            <a:ext cx="219456" cy="219456"/>
          </a:xfrm>
          <a:prstGeom prst="rect">
            <a:avLst/>
          </a:prstGeom>
        </p:spPr>
      </p:pic>
      <p:sp>
        <p:nvSpPr>
          <p:cNvPr id="49" name="Text 32"/>
          <p:cNvSpPr txBox="1"/>
          <p:nvPr/>
        </p:nvSpPr>
        <p:spPr>
          <a:xfrm>
            <a:off x="7178040" y="5522976"/>
            <a:ext cx="4206240" cy="438912"/>
          </a:xfrm>
          <a:prstGeom prst="rect">
            <a:avLst/>
          </a:prstGeom>
          <a:noFill/>
          <a:ln/>
        </p:spPr>
        <p:txBody>
          <a:bodyPr wrap="square" lIns="0" tIns="0" rIns="0" bIns="0" rtlCol="0" anchor="ctr"/>
          <a:lstStyle/>
          <a:p>
            <a:pPr indent="0" marL="0">
              <a:buNone/>
            </a:pPr>
            <a:r>
              <a:rPr lang="en-US" sz="1600" dirty="0">
                <a:solidFill>
                  <a:srgbClr val="F5F7FB"/>
                </a:solidFill>
                <a:latin typeface="Calibri" pitchFamily="34" charset="0"/>
                <a:ea typeface="Calibri" pitchFamily="34" charset="-122"/>
                <a:cs typeface="Calibri" pitchFamily="34" charset="-120"/>
              </a:rPr>
              <a:t>Group activities</a:t>
            </a:r>
            <a:endParaRPr lang="en-US" sz="16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899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rgbClr val="F5F7FB"/>
                </a:solidFill>
                <a:latin typeface="Calibri" pitchFamily="34" charset="0"/>
                <a:ea typeface="Calibri" pitchFamily="34" charset="-122"/>
                <a:cs typeface="Calibri" pitchFamily="34" charset="-120"/>
              </a:rPr>
              <a:t>Future Enhancements</a:t>
            </a:r>
            <a:endParaRPr lang="en-US" sz="3600" dirty="0"/>
          </a:p>
        </p:txBody>
      </p:sp>
      <p:sp>
        <p:nvSpPr>
          <p:cNvPr id="4" name="Shape 1"/>
          <p:cNvSpPr/>
          <p:nvPr/>
        </p:nvSpPr>
        <p:spPr>
          <a:xfrm>
            <a:off x="6949440" y="502920"/>
            <a:ext cx="4663440" cy="365760"/>
          </a:xfrm>
          <a:prstGeom prst="roundRect">
            <a:avLst>
              <a:gd name="adj" fmla="val 25000"/>
            </a:avLst>
          </a:prstGeom>
          <a:solidFill>
            <a:srgbClr val="2A1830"/>
          </a:solidFill>
          <a:ln w="12700">
            <a:solidFill>
              <a:srgbClr val="EC4899"/>
            </a:solidFill>
            <a:prstDash val="solid"/>
          </a:ln>
        </p:spPr>
      </p:sp>
      <p:sp>
        <p:nvSpPr>
          <p:cNvPr id="5" name="Text 2"/>
          <p:cNvSpPr txBox="1"/>
          <p:nvPr/>
        </p:nvSpPr>
        <p:spPr>
          <a:xfrm>
            <a:off x="6949440" y="502920"/>
            <a:ext cx="4663440" cy="365760"/>
          </a:xfrm>
          <a:prstGeom prst="rect">
            <a:avLst/>
          </a:prstGeom>
          <a:noFill/>
          <a:ln/>
        </p:spPr>
        <p:txBody>
          <a:bodyPr wrap="square" lIns="0" tIns="0" rIns="0" bIns="0" rtlCol="0" anchor="ctr"/>
          <a:lstStyle/>
          <a:p>
            <a:pPr algn="ctr" indent="0" marL="0">
              <a:buNone/>
            </a:pPr>
            <a:r>
              <a:rPr lang="en-US" sz="1100" b="1" dirty="0">
                <a:solidFill>
                  <a:srgbClr val="F9A8D4"/>
                </a:solidFill>
                <a:latin typeface="Calibri" pitchFamily="34" charset="0"/>
                <a:ea typeface="Calibri" pitchFamily="34" charset="-122"/>
                <a:cs typeface="Calibri" pitchFamily="34" charset="-120"/>
              </a:rPr>
              <a:t>PLANNED – NOT PART OF CURRENT IMPLEMENTATION</a:t>
            </a:r>
            <a:endParaRPr lang="en-US" sz="1100" dirty="0"/>
          </a:p>
        </p:txBody>
      </p:sp>
      <p:sp>
        <p:nvSpPr>
          <p:cNvPr id="6" name="Shape 3"/>
          <p:cNvSpPr/>
          <p:nvPr/>
        </p:nvSpPr>
        <p:spPr>
          <a:xfrm>
            <a:off x="2308860" y="1828800"/>
            <a:ext cx="7543800" cy="0"/>
          </a:xfrm>
          <a:prstGeom prst="line">
            <a:avLst/>
          </a:prstGeom>
          <a:noFill/>
          <a:ln w="19050">
            <a:solidFill>
              <a:srgbClr val="8B5CF6"/>
            </a:solidFill>
            <a:prstDash val="dash"/>
          </a:ln>
        </p:spPr>
      </p:sp>
      <p:sp>
        <p:nvSpPr>
          <p:cNvPr id="7" name="icon-circle"/>
          <p:cNvSpPr/>
          <p:nvPr/>
        </p:nvSpPr>
        <p:spPr>
          <a:xfrm>
            <a:off x="1988820" y="1508760"/>
            <a:ext cx="640080" cy="640080"/>
          </a:xfrm>
          <a:prstGeom prst="ellipse">
            <a:avLst/>
          </a:prstGeom>
          <a:solidFill>
            <a:srgbClr val="241C45"/>
          </a:solidFill>
          <a:ln w="12700">
            <a:solidFill>
              <a:srgbClr val="EC4899"/>
            </a:solidFill>
            <a:prstDash val="solid"/>
          </a:ln>
        </p:spPr>
      </p:sp>
      <p:pic>
        <p:nvPicPr>
          <p:cNvPr id="8" name="icon" descr="preencoded.png">    </p:cNvPr>
          <p:cNvPicPr>
            <a:picLocks noChangeAspect="1"/>
          </p:cNvPicPr>
          <p:nvPr/>
        </p:nvPicPr>
        <p:blipFill>
          <a:blip r:embed="rId1"/>
          <a:stretch>
            <a:fillRect/>
          </a:stretch>
        </p:blipFill>
        <p:spPr>
          <a:xfrm>
            <a:off x="2148840" y="1668780"/>
            <a:ext cx="320040" cy="320040"/>
          </a:xfrm>
          <a:prstGeom prst="rect">
            <a:avLst/>
          </a:prstGeom>
        </p:spPr>
      </p:pic>
      <p:sp>
        <p:nvSpPr>
          <p:cNvPr id="9" name="card"/>
          <p:cNvSpPr/>
          <p:nvPr/>
        </p:nvSpPr>
        <p:spPr>
          <a:xfrm>
            <a:off x="548640" y="2423160"/>
            <a:ext cx="3520440" cy="3291840"/>
          </a:xfrm>
          <a:prstGeom prst="roundRect">
            <a:avLst>
              <a:gd name="adj" fmla="val 3333"/>
            </a:avLst>
          </a:prstGeom>
          <a:solidFill>
            <a:srgbClr val="161B27"/>
          </a:solidFill>
          <a:ln w="12700">
            <a:solidFill>
              <a:srgbClr val="8B5CF6"/>
            </a:solidFill>
            <a:prstDash val="dash"/>
          </a:ln>
        </p:spPr>
      </p:sp>
      <p:sp>
        <p:nvSpPr>
          <p:cNvPr id="10" name="Text 6"/>
          <p:cNvSpPr txBox="1"/>
          <p:nvPr/>
        </p:nvSpPr>
        <p:spPr>
          <a:xfrm>
            <a:off x="822960" y="2560320"/>
            <a:ext cx="2971800" cy="411480"/>
          </a:xfrm>
          <a:prstGeom prst="rect">
            <a:avLst/>
          </a:prstGeom>
          <a:noFill/>
          <a:ln/>
        </p:spPr>
        <p:txBody>
          <a:bodyPr wrap="square" lIns="0" tIns="0" rIns="0" bIns="0" rtlCol="0" anchor="ctr"/>
          <a:lstStyle/>
          <a:p>
            <a:pPr indent="0" marL="0">
              <a:buNone/>
            </a:pPr>
            <a:r>
              <a:rPr lang="en-US" sz="1600" b="1" dirty="0">
                <a:solidFill>
                  <a:srgbClr val="C4B5FD"/>
                </a:solidFill>
                <a:latin typeface="Calibri" pitchFamily="34" charset="0"/>
                <a:ea typeface="Calibri" pitchFamily="34" charset="-122"/>
                <a:cs typeface="Calibri" pitchFamily="34" charset="-120"/>
              </a:rPr>
              <a:t>NEAR TERM</a:t>
            </a:r>
            <a:endParaRPr lang="en-US" sz="1600" dirty="0"/>
          </a:p>
        </p:txBody>
      </p:sp>
      <p:sp>
        <p:nvSpPr>
          <p:cNvPr id="11" name="Text 7"/>
          <p:cNvSpPr txBox="1"/>
          <p:nvPr/>
        </p:nvSpPr>
        <p:spPr>
          <a:xfrm>
            <a:off x="822960" y="3063240"/>
            <a:ext cx="2971800" cy="25603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5F7FB"/>
                </a:solidFill>
                <a:latin typeface="Calibri" pitchFamily="34" charset="0"/>
                <a:ea typeface="Calibri" pitchFamily="34" charset="-122"/>
                <a:cs typeface="Calibri" pitchFamily="34" charset="-120"/>
              </a:rPr>
              <a:t>Expense history</a:t>
            </a:r>
            <a:endParaRPr lang="en-US" sz="1600" dirty="0"/>
          </a:p>
          <a:p>
            <a:pPr marL="342900" indent="-342900">
              <a:spcAft>
                <a:spcPts val="800"/>
              </a:spcAft>
              <a:buSzPct val="100000"/>
              <a:buChar char="•"/>
            </a:pPr>
            <a:r>
              <a:rPr lang="en-US" sz="1600" dirty="0">
                <a:solidFill>
                  <a:srgbClr val="F5F7FB"/>
                </a:solidFill>
                <a:latin typeface="Calibri" pitchFamily="34" charset="0"/>
                <a:ea typeface="Calibri" pitchFamily="34" charset="-122"/>
                <a:cs typeface="Calibri" pitchFamily="34" charset="-120"/>
              </a:rPr>
              <a:t>Personal expense dashboard</a:t>
            </a:r>
            <a:endParaRPr lang="en-US" sz="1600" dirty="0"/>
          </a:p>
          <a:p>
            <a:pPr marL="342900" indent="-342900">
              <a:spcAft>
                <a:spcPts val="800"/>
              </a:spcAft>
              <a:buSzPct val="100000"/>
              <a:buChar char="•"/>
            </a:pPr>
            <a:r>
              <a:rPr lang="en-US" sz="1600" dirty="0">
                <a:solidFill>
                  <a:srgbClr val="F5F7FB"/>
                </a:solidFill>
                <a:latin typeface="Calibri" pitchFamily="34" charset="0"/>
                <a:ea typeface="Calibri" pitchFamily="34" charset="-122"/>
                <a:cs typeface="Calibri" pitchFamily="34" charset="-120"/>
              </a:rPr>
              <a:t>Support for more receipt formats</a:t>
            </a:r>
            <a:endParaRPr lang="en-US" sz="1600" dirty="0"/>
          </a:p>
          <a:p>
            <a:pPr marL="342900" indent="-342900">
              <a:spcAft>
                <a:spcPts val="800"/>
              </a:spcAft>
              <a:buSzPct val="100000"/>
              <a:buChar char="•"/>
            </a:pPr>
            <a:r>
              <a:rPr lang="en-US" sz="1600" dirty="0">
                <a:solidFill>
                  <a:srgbClr val="F5F7FB"/>
                </a:solidFill>
                <a:latin typeface="Calibri" pitchFamily="34" charset="0"/>
                <a:ea typeface="Calibri" pitchFamily="34" charset="-122"/>
                <a:cs typeface="Calibri" pitchFamily="34" charset="-120"/>
              </a:rPr>
              <a:t>Improved OCR fallback</a:t>
            </a:r>
            <a:endParaRPr lang="en-US" sz="1600" dirty="0"/>
          </a:p>
        </p:txBody>
      </p:sp>
      <p:sp>
        <p:nvSpPr>
          <p:cNvPr id="12" name="icon-circle"/>
          <p:cNvSpPr/>
          <p:nvPr/>
        </p:nvSpPr>
        <p:spPr>
          <a:xfrm>
            <a:off x="5760720" y="1508760"/>
            <a:ext cx="640080" cy="640080"/>
          </a:xfrm>
          <a:prstGeom prst="ellipse">
            <a:avLst/>
          </a:prstGeom>
          <a:solidFill>
            <a:srgbClr val="241C45"/>
          </a:solidFill>
          <a:ln w="12700">
            <a:solidFill>
              <a:srgbClr val="EC4899"/>
            </a:solidFill>
            <a:prstDash val="solid"/>
          </a:ln>
        </p:spPr>
      </p:sp>
      <p:pic>
        <p:nvPicPr>
          <p:cNvPr id="13" name="icon" descr="preencoded.png">    </p:cNvPr>
          <p:cNvPicPr>
            <a:picLocks noChangeAspect="1"/>
          </p:cNvPicPr>
          <p:nvPr/>
        </p:nvPicPr>
        <p:blipFill>
          <a:blip r:embed="rId2"/>
          <a:stretch>
            <a:fillRect/>
          </a:stretch>
        </p:blipFill>
        <p:spPr>
          <a:xfrm>
            <a:off x="5920740" y="1668780"/>
            <a:ext cx="320040" cy="320040"/>
          </a:xfrm>
          <a:prstGeom prst="rect">
            <a:avLst/>
          </a:prstGeom>
        </p:spPr>
      </p:pic>
      <p:sp>
        <p:nvSpPr>
          <p:cNvPr id="14" name="card"/>
          <p:cNvSpPr/>
          <p:nvPr/>
        </p:nvSpPr>
        <p:spPr>
          <a:xfrm>
            <a:off x="4320540" y="2423160"/>
            <a:ext cx="3520440" cy="3291840"/>
          </a:xfrm>
          <a:prstGeom prst="roundRect">
            <a:avLst>
              <a:gd name="adj" fmla="val 3333"/>
            </a:avLst>
          </a:prstGeom>
          <a:solidFill>
            <a:srgbClr val="161B27"/>
          </a:solidFill>
          <a:ln w="12700">
            <a:solidFill>
              <a:srgbClr val="8B5CF6"/>
            </a:solidFill>
            <a:prstDash val="dash"/>
          </a:ln>
        </p:spPr>
      </p:sp>
      <p:sp>
        <p:nvSpPr>
          <p:cNvPr id="15" name="Text 10"/>
          <p:cNvSpPr txBox="1"/>
          <p:nvPr/>
        </p:nvSpPr>
        <p:spPr>
          <a:xfrm>
            <a:off x="4594860" y="2560320"/>
            <a:ext cx="2971800" cy="411480"/>
          </a:xfrm>
          <a:prstGeom prst="rect">
            <a:avLst/>
          </a:prstGeom>
          <a:noFill/>
          <a:ln/>
        </p:spPr>
        <p:txBody>
          <a:bodyPr wrap="square" lIns="0" tIns="0" rIns="0" bIns="0" rtlCol="0" anchor="ctr"/>
          <a:lstStyle/>
          <a:p>
            <a:pPr indent="0" marL="0">
              <a:buNone/>
            </a:pPr>
            <a:r>
              <a:rPr lang="en-US" sz="1600" b="1" dirty="0">
                <a:solidFill>
                  <a:srgbClr val="C4B5FD"/>
                </a:solidFill>
                <a:latin typeface="Calibri" pitchFamily="34" charset="0"/>
                <a:ea typeface="Calibri" pitchFamily="34" charset="-122"/>
                <a:cs typeface="Calibri" pitchFamily="34" charset="-120"/>
              </a:rPr>
              <a:t>MID TERM</a:t>
            </a:r>
            <a:endParaRPr lang="en-US" sz="1600" dirty="0"/>
          </a:p>
        </p:txBody>
      </p:sp>
      <p:sp>
        <p:nvSpPr>
          <p:cNvPr id="16" name="Text 11"/>
          <p:cNvSpPr txBox="1"/>
          <p:nvPr/>
        </p:nvSpPr>
        <p:spPr>
          <a:xfrm>
            <a:off x="4594860" y="3063240"/>
            <a:ext cx="2971800" cy="25603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5F7FB"/>
                </a:solidFill>
                <a:latin typeface="Calibri" pitchFamily="34" charset="0"/>
                <a:ea typeface="Calibri" pitchFamily="34" charset="-122"/>
                <a:cs typeface="Calibri" pitchFamily="34" charset="-120"/>
              </a:rPr>
              <a:t>Multi-language receipt understanding</a:t>
            </a:r>
            <a:endParaRPr lang="en-US" sz="1600" dirty="0"/>
          </a:p>
          <a:p>
            <a:pPr marL="342900" indent="-342900">
              <a:spcAft>
                <a:spcPts val="800"/>
              </a:spcAft>
              <a:buSzPct val="100000"/>
              <a:buChar char="•"/>
            </a:pPr>
            <a:r>
              <a:rPr lang="en-US" sz="1600" dirty="0">
                <a:solidFill>
                  <a:srgbClr val="F5F7FB"/>
                </a:solidFill>
                <a:latin typeface="Calibri" pitchFamily="34" charset="0"/>
                <a:ea typeface="Calibri" pitchFamily="34" charset="-122"/>
                <a:cs typeface="Calibri" pitchFamily="34" charset="-120"/>
              </a:rPr>
              <a:t>Spending insights and analytics</a:t>
            </a:r>
            <a:endParaRPr lang="en-US" sz="1600" dirty="0"/>
          </a:p>
          <a:p>
            <a:pPr marL="342900" indent="-342900">
              <a:spcAft>
                <a:spcPts val="800"/>
              </a:spcAft>
              <a:buSzPct val="100000"/>
              <a:buChar char="•"/>
            </a:pPr>
            <a:r>
              <a:rPr lang="en-US" sz="1600" dirty="0">
                <a:solidFill>
                  <a:srgbClr val="F5F7FB"/>
                </a:solidFill>
                <a:latin typeface="Calibri" pitchFamily="34" charset="0"/>
                <a:ea typeface="Calibri" pitchFamily="34" charset="-122"/>
                <a:cs typeface="Calibri" pitchFamily="34" charset="-120"/>
              </a:rPr>
              <a:t>Additional payment / sharing integrations</a:t>
            </a:r>
            <a:endParaRPr lang="en-US" sz="1600" dirty="0"/>
          </a:p>
        </p:txBody>
      </p:sp>
      <p:sp>
        <p:nvSpPr>
          <p:cNvPr id="17" name="icon-circle"/>
          <p:cNvSpPr/>
          <p:nvPr/>
        </p:nvSpPr>
        <p:spPr>
          <a:xfrm>
            <a:off x="9532620" y="1508760"/>
            <a:ext cx="640080" cy="640080"/>
          </a:xfrm>
          <a:prstGeom prst="ellipse">
            <a:avLst/>
          </a:prstGeom>
          <a:solidFill>
            <a:srgbClr val="241C45"/>
          </a:solidFill>
          <a:ln w="12700">
            <a:solidFill>
              <a:srgbClr val="EC4899"/>
            </a:solidFill>
            <a:prstDash val="solid"/>
          </a:ln>
        </p:spPr>
      </p:sp>
      <p:pic>
        <p:nvPicPr>
          <p:cNvPr id="18" name="icon" descr="preencoded.png">    </p:cNvPr>
          <p:cNvPicPr>
            <a:picLocks noChangeAspect="1"/>
          </p:cNvPicPr>
          <p:nvPr/>
        </p:nvPicPr>
        <p:blipFill>
          <a:blip r:embed="rId3"/>
          <a:stretch>
            <a:fillRect/>
          </a:stretch>
        </p:blipFill>
        <p:spPr>
          <a:xfrm>
            <a:off x="9692640" y="1668780"/>
            <a:ext cx="320040" cy="320040"/>
          </a:xfrm>
          <a:prstGeom prst="rect">
            <a:avLst/>
          </a:prstGeom>
        </p:spPr>
      </p:pic>
      <p:sp>
        <p:nvSpPr>
          <p:cNvPr id="19" name="card"/>
          <p:cNvSpPr/>
          <p:nvPr/>
        </p:nvSpPr>
        <p:spPr>
          <a:xfrm>
            <a:off x="8092440" y="2423160"/>
            <a:ext cx="3520440" cy="3291840"/>
          </a:xfrm>
          <a:prstGeom prst="roundRect">
            <a:avLst>
              <a:gd name="adj" fmla="val 3333"/>
            </a:avLst>
          </a:prstGeom>
          <a:solidFill>
            <a:srgbClr val="161B27"/>
          </a:solidFill>
          <a:ln w="12700">
            <a:solidFill>
              <a:srgbClr val="8B5CF6"/>
            </a:solidFill>
            <a:prstDash val="dash"/>
          </a:ln>
        </p:spPr>
      </p:sp>
      <p:sp>
        <p:nvSpPr>
          <p:cNvPr id="20" name="Text 14"/>
          <p:cNvSpPr txBox="1"/>
          <p:nvPr/>
        </p:nvSpPr>
        <p:spPr>
          <a:xfrm>
            <a:off x="8366760" y="2560320"/>
            <a:ext cx="2971800" cy="411480"/>
          </a:xfrm>
          <a:prstGeom prst="rect">
            <a:avLst/>
          </a:prstGeom>
          <a:noFill/>
          <a:ln/>
        </p:spPr>
        <p:txBody>
          <a:bodyPr wrap="square" lIns="0" tIns="0" rIns="0" bIns="0" rtlCol="0" anchor="ctr"/>
          <a:lstStyle/>
          <a:p>
            <a:pPr indent="0" marL="0">
              <a:buNone/>
            </a:pPr>
            <a:r>
              <a:rPr lang="en-US" sz="1600" b="1" dirty="0">
                <a:solidFill>
                  <a:srgbClr val="C4B5FD"/>
                </a:solidFill>
                <a:latin typeface="Calibri" pitchFamily="34" charset="0"/>
                <a:ea typeface="Calibri" pitchFamily="34" charset="-122"/>
                <a:cs typeface="Calibri" pitchFamily="34" charset="-120"/>
              </a:rPr>
              <a:t>LONG TERM</a:t>
            </a:r>
            <a:endParaRPr lang="en-US" sz="1600" dirty="0"/>
          </a:p>
        </p:txBody>
      </p:sp>
      <p:sp>
        <p:nvSpPr>
          <p:cNvPr id="21" name="Text 15"/>
          <p:cNvSpPr txBox="1"/>
          <p:nvPr/>
        </p:nvSpPr>
        <p:spPr>
          <a:xfrm>
            <a:off x="8366760" y="3063240"/>
            <a:ext cx="2971800" cy="25603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5F7FB"/>
                </a:solidFill>
                <a:latin typeface="Calibri" pitchFamily="34" charset="0"/>
                <a:ea typeface="Calibri" pitchFamily="34" charset="-122"/>
                <a:cs typeface="Calibri" pitchFamily="34" charset="-120"/>
              </a:rPr>
              <a:t>Dedicated mobile application</a:t>
            </a:r>
            <a:endParaRPr lang="en-US" sz="1600" dirty="0"/>
          </a:p>
          <a:p>
            <a:pPr marL="342900" indent="-342900">
              <a:spcAft>
                <a:spcPts val="800"/>
              </a:spcAft>
              <a:buSzPct val="100000"/>
              <a:buChar char="•"/>
            </a:pPr>
            <a:r>
              <a:rPr lang="en-US" sz="1600" dirty="0">
                <a:solidFill>
                  <a:srgbClr val="F5F7FB"/>
                </a:solidFill>
                <a:latin typeface="Calibri" pitchFamily="34" charset="0"/>
                <a:ea typeface="Calibri" pitchFamily="34" charset="-122"/>
                <a:cs typeface="Calibri" pitchFamily="34" charset="-120"/>
              </a:rPr>
              <a:t>Secure cloud-based accounts</a:t>
            </a:r>
            <a:endParaRPr lang="en-US" sz="1600" dirty="0"/>
          </a:p>
          <a:p>
            <a:pPr marL="342900" indent="-342900">
              <a:spcAft>
                <a:spcPts val="800"/>
              </a:spcAft>
              <a:buSzPct val="100000"/>
              <a:buChar char="•"/>
            </a:pPr>
            <a:r>
              <a:rPr lang="en-US" sz="1600" dirty="0">
                <a:solidFill>
                  <a:srgbClr val="F5F7FB"/>
                </a:solidFill>
                <a:latin typeface="Calibri" pitchFamily="34" charset="0"/>
                <a:ea typeface="Calibri" pitchFamily="34" charset="-122"/>
                <a:cs typeface="Calibri" pitchFamily="34" charset="-120"/>
              </a:rPr>
              <a:t>Recurring expense tracking</a:t>
            </a:r>
            <a:endParaRPr lang="en-US" sz="1600" dirty="0"/>
          </a:p>
          <a:p>
            <a:pPr marL="342900" indent="-342900">
              <a:spcAft>
                <a:spcPts val="800"/>
              </a:spcAft>
              <a:buSzPct val="100000"/>
              <a:buChar char="•"/>
            </a:pPr>
            <a:r>
              <a:rPr lang="en-US" sz="1600" dirty="0">
                <a:solidFill>
                  <a:srgbClr val="F5F7FB"/>
                </a:solidFill>
                <a:latin typeface="Calibri" pitchFamily="34" charset="0"/>
                <a:ea typeface="Calibri" pitchFamily="34" charset="-122"/>
                <a:cs typeface="Calibri" pitchFamily="34" charset="-120"/>
              </a:rPr>
              <a:t>Advanced AI financial insights</a:t>
            </a:r>
            <a:endParaRPr lang="en-US" sz="16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899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rgbClr val="F5F7FB"/>
                </a:solidFill>
                <a:latin typeface="Calibri" pitchFamily="34" charset="0"/>
                <a:ea typeface="Calibri" pitchFamily="34" charset="-122"/>
                <a:cs typeface="Calibri" pitchFamily="34" charset="-120"/>
              </a:rPr>
              <a:t>Conclusion &amp; References</a:t>
            </a:r>
            <a:endParaRPr lang="en-US" sz="3600" dirty="0"/>
          </a:p>
        </p:txBody>
      </p:sp>
      <p:sp>
        <p:nvSpPr>
          <p:cNvPr id="4" name="card"/>
          <p:cNvSpPr/>
          <p:nvPr/>
        </p:nvSpPr>
        <p:spPr>
          <a:xfrm>
            <a:off x="548640" y="1280160"/>
            <a:ext cx="11064240" cy="1051560"/>
          </a:xfrm>
          <a:prstGeom prst="roundRect">
            <a:avLst>
              <a:gd name="adj" fmla="val 10435"/>
            </a:avLst>
          </a:prstGeom>
          <a:solidFill>
            <a:srgbClr val="161B27"/>
          </a:solidFill>
          <a:ln w="12700">
            <a:solidFill>
              <a:srgbClr val="2B3240"/>
            </a:solidFill>
            <a:prstDash val="solid"/>
          </a:ln>
        </p:spPr>
      </p:sp>
      <p:sp>
        <p:nvSpPr>
          <p:cNvPr id="5" name="Text 2"/>
          <p:cNvSpPr txBox="1"/>
          <p:nvPr/>
        </p:nvSpPr>
        <p:spPr>
          <a:xfrm>
            <a:off x="777240" y="1325880"/>
            <a:ext cx="10607040" cy="960120"/>
          </a:xfrm>
          <a:prstGeom prst="rect">
            <a:avLst/>
          </a:prstGeom>
          <a:noFill/>
          <a:ln/>
        </p:spPr>
        <p:txBody>
          <a:bodyPr wrap="square" lIns="0" tIns="0" rIns="0" bIns="0" rtlCol="0" anchor="ctr"/>
          <a:lstStyle/>
          <a:p>
            <a:pPr indent="0" marL="0">
              <a:buNone/>
            </a:pPr>
            <a:r>
              <a:rPr lang="en-US" sz="1500" dirty="0">
                <a:solidFill>
                  <a:srgbClr val="F5F7FB"/>
                </a:solidFill>
                <a:latin typeface="Calibri" pitchFamily="34" charset="0"/>
                <a:ea typeface="Calibri" pitchFamily="34" charset="-122"/>
                <a:cs typeface="Calibri" pitchFamily="34" charset="-120"/>
              </a:rPr>
              <a:t>BillWise AI combines AI-powered receipt understanding, bill verification, intelligent expense splitting and convenient sharing in a single user-friendly application, reducing manual effort in group expense management.</a:t>
            </a:r>
            <a:endParaRPr lang="en-US" sz="1500" dirty="0"/>
          </a:p>
        </p:txBody>
      </p:sp>
      <p:sp>
        <p:nvSpPr>
          <p:cNvPr id="6" name="card"/>
          <p:cNvSpPr/>
          <p:nvPr/>
        </p:nvSpPr>
        <p:spPr>
          <a:xfrm>
            <a:off x="548640" y="2560320"/>
            <a:ext cx="1920240" cy="1143000"/>
          </a:xfrm>
          <a:prstGeom prst="roundRect">
            <a:avLst>
              <a:gd name="adj" fmla="val 9600"/>
            </a:avLst>
          </a:prstGeom>
          <a:solidFill>
            <a:srgbClr val="241C45"/>
          </a:solidFill>
          <a:ln w="12700">
            <a:solidFill>
              <a:srgbClr val="8B5CF6"/>
            </a:solidFill>
            <a:prstDash val="solid"/>
          </a:ln>
          <a:effectLst>
            <a:outerShdw sx="100000" sy="100000" kx="0" ky="0" algn="bl" rotWithShape="0" blurRad="177800" dist="50800" dir="16200000">
              <a:srgbClr val="8B5CF6">
                <a:alpha val="28000"/>
              </a:srgbClr>
            </a:outerShdw>
          </a:effectLst>
        </p:spPr>
      </p:sp>
      <p:sp>
        <p:nvSpPr>
          <p:cNvPr id="7" name="icon-circle"/>
          <p:cNvSpPr/>
          <p:nvPr/>
        </p:nvSpPr>
        <p:spPr>
          <a:xfrm>
            <a:off x="658368" y="2834640"/>
            <a:ext cx="548640" cy="548640"/>
          </a:xfrm>
          <a:prstGeom prst="ellipse">
            <a:avLst/>
          </a:prstGeom>
          <a:solidFill>
            <a:srgbClr val="241C45"/>
          </a:solidFill>
          <a:ln w="12700">
            <a:solidFill>
              <a:srgbClr val="8B5CF6"/>
            </a:solidFill>
            <a:prstDash val="solid"/>
          </a:ln>
        </p:spPr>
      </p:sp>
      <p:pic>
        <p:nvPicPr>
          <p:cNvPr id="8" name="icon" descr="preencoded.png">    </p:cNvPr>
          <p:cNvPicPr>
            <a:picLocks noChangeAspect="1"/>
          </p:cNvPicPr>
          <p:nvPr/>
        </p:nvPicPr>
        <p:blipFill>
          <a:blip r:embed="rId1"/>
          <a:stretch>
            <a:fillRect/>
          </a:stretch>
        </p:blipFill>
        <p:spPr>
          <a:xfrm>
            <a:off x="795528" y="2971800"/>
            <a:ext cx="274320" cy="274320"/>
          </a:xfrm>
          <a:prstGeom prst="rect">
            <a:avLst/>
          </a:prstGeom>
        </p:spPr>
      </p:pic>
      <p:sp>
        <p:nvSpPr>
          <p:cNvPr id="9" name="Text 5"/>
          <p:cNvSpPr txBox="1"/>
          <p:nvPr/>
        </p:nvSpPr>
        <p:spPr>
          <a:xfrm>
            <a:off x="1280160" y="2560320"/>
            <a:ext cx="1143000" cy="1143000"/>
          </a:xfrm>
          <a:prstGeom prst="rect">
            <a:avLst/>
          </a:prstGeom>
          <a:noFill/>
          <a:ln/>
        </p:spPr>
        <p:txBody>
          <a:bodyPr wrap="square" lIns="0" tIns="0" rIns="0" bIns="0" rtlCol="0" anchor="ctr"/>
          <a:lstStyle/>
          <a:p>
            <a:pPr indent="0" marL="0">
              <a:buNone/>
            </a:pPr>
            <a:r>
              <a:rPr lang="en-US" sz="1300" b="1" dirty="0">
                <a:solidFill>
                  <a:srgbClr val="F5F7FB"/>
                </a:solidFill>
                <a:latin typeface="Calibri" pitchFamily="34" charset="0"/>
                <a:ea typeface="Calibri" pitchFamily="34" charset="-122"/>
                <a:cs typeface="Calibri" pitchFamily="34" charset="-120"/>
              </a:rPr>
              <a:t>RECEIPT</a:t>
            </a:r>
            <a:endParaRPr lang="en-US" sz="1300" dirty="0"/>
          </a:p>
        </p:txBody>
      </p:sp>
      <p:sp>
        <p:nvSpPr>
          <p:cNvPr id="10" name="Text 6"/>
          <p:cNvSpPr txBox="1"/>
          <p:nvPr/>
        </p:nvSpPr>
        <p:spPr>
          <a:xfrm>
            <a:off x="2468880" y="2926080"/>
            <a:ext cx="365760" cy="411480"/>
          </a:xfrm>
          <a:prstGeom prst="rect">
            <a:avLst/>
          </a:prstGeom>
          <a:noFill/>
          <a:ln/>
        </p:spPr>
        <p:txBody>
          <a:bodyPr wrap="square" lIns="0" tIns="0" rIns="0" bIns="0" rtlCol="0" anchor="ctr"/>
          <a:lstStyle/>
          <a:p>
            <a:pPr algn="ctr" indent="0" marL="0">
              <a:buNone/>
            </a:pPr>
            <a:r>
              <a:rPr lang="en-US" sz="2000" b="1" dirty="0">
                <a:solidFill>
                  <a:srgbClr val="EC4899"/>
                </a:solidFill>
                <a:latin typeface="Calibri" pitchFamily="34" charset="0"/>
                <a:ea typeface="Calibri" pitchFamily="34" charset="-122"/>
                <a:cs typeface="Calibri" pitchFamily="34" charset="-120"/>
              </a:rPr>
              <a:t>→</a:t>
            </a:r>
            <a:endParaRPr lang="en-US" sz="2000" dirty="0"/>
          </a:p>
        </p:txBody>
      </p:sp>
      <p:sp>
        <p:nvSpPr>
          <p:cNvPr id="11" name="card"/>
          <p:cNvSpPr/>
          <p:nvPr/>
        </p:nvSpPr>
        <p:spPr>
          <a:xfrm>
            <a:off x="2834640" y="2560320"/>
            <a:ext cx="1920240" cy="1143000"/>
          </a:xfrm>
          <a:prstGeom prst="roundRect">
            <a:avLst>
              <a:gd name="adj" fmla="val 9600"/>
            </a:avLst>
          </a:prstGeom>
          <a:solidFill>
            <a:srgbClr val="241C45"/>
          </a:solidFill>
          <a:ln w="12700">
            <a:solidFill>
              <a:srgbClr val="8B5CF6"/>
            </a:solidFill>
            <a:prstDash val="solid"/>
          </a:ln>
          <a:effectLst>
            <a:outerShdw sx="100000" sy="100000" kx="0" ky="0" algn="bl" rotWithShape="0" blurRad="177800" dist="50800" dir="16200000">
              <a:srgbClr val="8B5CF6">
                <a:alpha val="28000"/>
              </a:srgbClr>
            </a:outerShdw>
          </a:effectLst>
        </p:spPr>
      </p:sp>
      <p:sp>
        <p:nvSpPr>
          <p:cNvPr id="12" name="icon-circle"/>
          <p:cNvSpPr/>
          <p:nvPr/>
        </p:nvSpPr>
        <p:spPr>
          <a:xfrm>
            <a:off x="2944368" y="2834640"/>
            <a:ext cx="548640" cy="548640"/>
          </a:xfrm>
          <a:prstGeom prst="ellipse">
            <a:avLst/>
          </a:prstGeom>
          <a:solidFill>
            <a:srgbClr val="241C45"/>
          </a:solidFill>
          <a:ln w="12700">
            <a:solidFill>
              <a:srgbClr val="8B5CF6"/>
            </a:solidFill>
            <a:prstDash val="solid"/>
          </a:ln>
        </p:spPr>
      </p:sp>
      <p:pic>
        <p:nvPicPr>
          <p:cNvPr id="13" name="icon" descr="preencoded.png">    </p:cNvPr>
          <p:cNvPicPr>
            <a:picLocks noChangeAspect="1"/>
          </p:cNvPicPr>
          <p:nvPr/>
        </p:nvPicPr>
        <p:blipFill>
          <a:blip r:embed="rId2"/>
          <a:stretch>
            <a:fillRect/>
          </a:stretch>
        </p:blipFill>
        <p:spPr>
          <a:xfrm>
            <a:off x="3081528" y="2971800"/>
            <a:ext cx="274320" cy="274320"/>
          </a:xfrm>
          <a:prstGeom prst="rect">
            <a:avLst/>
          </a:prstGeom>
        </p:spPr>
      </p:pic>
      <p:sp>
        <p:nvSpPr>
          <p:cNvPr id="14" name="Text 9"/>
          <p:cNvSpPr txBox="1"/>
          <p:nvPr/>
        </p:nvSpPr>
        <p:spPr>
          <a:xfrm>
            <a:off x="3566160" y="2560320"/>
            <a:ext cx="1143000" cy="1143000"/>
          </a:xfrm>
          <a:prstGeom prst="rect">
            <a:avLst/>
          </a:prstGeom>
          <a:noFill/>
          <a:ln/>
        </p:spPr>
        <p:txBody>
          <a:bodyPr wrap="square" lIns="0" tIns="0" rIns="0" bIns="0" rtlCol="0" anchor="ctr"/>
          <a:lstStyle/>
          <a:p>
            <a:pPr indent="0" marL="0">
              <a:buNone/>
            </a:pPr>
            <a:r>
              <a:rPr lang="en-US" sz="1300" b="1" dirty="0">
                <a:solidFill>
                  <a:srgbClr val="F5F7FB"/>
                </a:solidFill>
                <a:latin typeface="Calibri" pitchFamily="34" charset="0"/>
                <a:ea typeface="Calibri" pitchFamily="34" charset="-122"/>
                <a:cs typeface="Calibri" pitchFamily="34" charset="-120"/>
              </a:rPr>
              <a:t>UNDERSTAND</a:t>
            </a:r>
            <a:endParaRPr lang="en-US" sz="1300" dirty="0"/>
          </a:p>
        </p:txBody>
      </p:sp>
      <p:sp>
        <p:nvSpPr>
          <p:cNvPr id="15" name="Text 10"/>
          <p:cNvSpPr txBox="1"/>
          <p:nvPr/>
        </p:nvSpPr>
        <p:spPr>
          <a:xfrm>
            <a:off x="4754880" y="2926080"/>
            <a:ext cx="365760" cy="411480"/>
          </a:xfrm>
          <a:prstGeom prst="rect">
            <a:avLst/>
          </a:prstGeom>
          <a:noFill/>
          <a:ln/>
        </p:spPr>
        <p:txBody>
          <a:bodyPr wrap="square" lIns="0" tIns="0" rIns="0" bIns="0" rtlCol="0" anchor="ctr"/>
          <a:lstStyle/>
          <a:p>
            <a:pPr algn="ctr" indent="0" marL="0">
              <a:buNone/>
            </a:pPr>
            <a:r>
              <a:rPr lang="en-US" sz="2000" b="1" dirty="0">
                <a:solidFill>
                  <a:srgbClr val="EC4899"/>
                </a:solidFill>
                <a:latin typeface="Calibri" pitchFamily="34" charset="0"/>
                <a:ea typeface="Calibri" pitchFamily="34" charset="-122"/>
                <a:cs typeface="Calibri" pitchFamily="34" charset="-120"/>
              </a:rPr>
              <a:t>→</a:t>
            </a:r>
            <a:endParaRPr lang="en-US" sz="2000" dirty="0"/>
          </a:p>
        </p:txBody>
      </p:sp>
      <p:sp>
        <p:nvSpPr>
          <p:cNvPr id="16" name="card"/>
          <p:cNvSpPr/>
          <p:nvPr/>
        </p:nvSpPr>
        <p:spPr>
          <a:xfrm>
            <a:off x="5120640" y="2560320"/>
            <a:ext cx="1920240" cy="1143000"/>
          </a:xfrm>
          <a:prstGeom prst="roundRect">
            <a:avLst>
              <a:gd name="adj" fmla="val 9600"/>
            </a:avLst>
          </a:prstGeom>
          <a:solidFill>
            <a:srgbClr val="241C45"/>
          </a:solidFill>
          <a:ln w="12700">
            <a:solidFill>
              <a:srgbClr val="8B5CF6"/>
            </a:solidFill>
            <a:prstDash val="solid"/>
          </a:ln>
          <a:effectLst>
            <a:outerShdw sx="100000" sy="100000" kx="0" ky="0" algn="bl" rotWithShape="0" blurRad="177800" dist="50800" dir="16200000">
              <a:srgbClr val="8B5CF6">
                <a:alpha val="28000"/>
              </a:srgbClr>
            </a:outerShdw>
          </a:effectLst>
        </p:spPr>
      </p:sp>
      <p:sp>
        <p:nvSpPr>
          <p:cNvPr id="17" name="icon-circle"/>
          <p:cNvSpPr/>
          <p:nvPr/>
        </p:nvSpPr>
        <p:spPr>
          <a:xfrm>
            <a:off x="5230368" y="2834640"/>
            <a:ext cx="548640" cy="548640"/>
          </a:xfrm>
          <a:prstGeom prst="ellipse">
            <a:avLst/>
          </a:prstGeom>
          <a:solidFill>
            <a:srgbClr val="241C45"/>
          </a:solidFill>
          <a:ln w="12700">
            <a:solidFill>
              <a:srgbClr val="8B5CF6"/>
            </a:solidFill>
            <a:prstDash val="solid"/>
          </a:ln>
        </p:spPr>
      </p:sp>
      <p:pic>
        <p:nvPicPr>
          <p:cNvPr id="18" name="icon" descr="preencoded.png">    </p:cNvPr>
          <p:cNvPicPr>
            <a:picLocks noChangeAspect="1"/>
          </p:cNvPicPr>
          <p:nvPr/>
        </p:nvPicPr>
        <p:blipFill>
          <a:blip r:embed="rId3"/>
          <a:stretch>
            <a:fillRect/>
          </a:stretch>
        </p:blipFill>
        <p:spPr>
          <a:xfrm>
            <a:off x="5367528" y="2971800"/>
            <a:ext cx="274320" cy="274320"/>
          </a:xfrm>
          <a:prstGeom prst="rect">
            <a:avLst/>
          </a:prstGeom>
        </p:spPr>
      </p:pic>
      <p:sp>
        <p:nvSpPr>
          <p:cNvPr id="19" name="Text 13"/>
          <p:cNvSpPr txBox="1"/>
          <p:nvPr/>
        </p:nvSpPr>
        <p:spPr>
          <a:xfrm>
            <a:off x="5852160" y="2560320"/>
            <a:ext cx="1143000" cy="1143000"/>
          </a:xfrm>
          <a:prstGeom prst="rect">
            <a:avLst/>
          </a:prstGeom>
          <a:noFill/>
          <a:ln/>
        </p:spPr>
        <p:txBody>
          <a:bodyPr wrap="square" lIns="0" tIns="0" rIns="0" bIns="0" rtlCol="0" anchor="ctr"/>
          <a:lstStyle/>
          <a:p>
            <a:pPr indent="0" marL="0">
              <a:buNone/>
            </a:pPr>
            <a:r>
              <a:rPr lang="en-US" sz="1300" b="1" dirty="0">
                <a:solidFill>
                  <a:srgbClr val="F5F7FB"/>
                </a:solidFill>
                <a:latin typeface="Calibri" pitchFamily="34" charset="0"/>
                <a:ea typeface="Calibri" pitchFamily="34" charset="-122"/>
                <a:cs typeface="Calibri" pitchFamily="34" charset="-120"/>
              </a:rPr>
              <a:t>VERIFY</a:t>
            </a:r>
            <a:endParaRPr lang="en-US" sz="1300" dirty="0"/>
          </a:p>
        </p:txBody>
      </p:sp>
      <p:sp>
        <p:nvSpPr>
          <p:cNvPr id="20" name="Text 14"/>
          <p:cNvSpPr txBox="1"/>
          <p:nvPr/>
        </p:nvSpPr>
        <p:spPr>
          <a:xfrm>
            <a:off x="7040880" y="2926080"/>
            <a:ext cx="365760" cy="411480"/>
          </a:xfrm>
          <a:prstGeom prst="rect">
            <a:avLst/>
          </a:prstGeom>
          <a:noFill/>
          <a:ln/>
        </p:spPr>
        <p:txBody>
          <a:bodyPr wrap="square" lIns="0" tIns="0" rIns="0" bIns="0" rtlCol="0" anchor="ctr"/>
          <a:lstStyle/>
          <a:p>
            <a:pPr algn="ctr" indent="0" marL="0">
              <a:buNone/>
            </a:pPr>
            <a:r>
              <a:rPr lang="en-US" sz="2000" b="1" dirty="0">
                <a:solidFill>
                  <a:srgbClr val="EC4899"/>
                </a:solidFill>
                <a:latin typeface="Calibri" pitchFamily="34" charset="0"/>
                <a:ea typeface="Calibri" pitchFamily="34" charset="-122"/>
                <a:cs typeface="Calibri" pitchFamily="34" charset="-120"/>
              </a:rPr>
              <a:t>→</a:t>
            </a:r>
            <a:endParaRPr lang="en-US" sz="2000" dirty="0"/>
          </a:p>
        </p:txBody>
      </p:sp>
      <p:sp>
        <p:nvSpPr>
          <p:cNvPr id="21" name="card"/>
          <p:cNvSpPr/>
          <p:nvPr/>
        </p:nvSpPr>
        <p:spPr>
          <a:xfrm>
            <a:off x="7406640" y="2560320"/>
            <a:ext cx="1920240" cy="1143000"/>
          </a:xfrm>
          <a:prstGeom prst="roundRect">
            <a:avLst>
              <a:gd name="adj" fmla="val 9600"/>
            </a:avLst>
          </a:prstGeom>
          <a:solidFill>
            <a:srgbClr val="241C45"/>
          </a:solidFill>
          <a:ln w="12700">
            <a:solidFill>
              <a:srgbClr val="8B5CF6"/>
            </a:solidFill>
            <a:prstDash val="solid"/>
          </a:ln>
          <a:effectLst>
            <a:outerShdw sx="100000" sy="100000" kx="0" ky="0" algn="bl" rotWithShape="0" blurRad="177800" dist="50800" dir="16200000">
              <a:srgbClr val="8B5CF6">
                <a:alpha val="28000"/>
              </a:srgbClr>
            </a:outerShdw>
          </a:effectLst>
        </p:spPr>
      </p:sp>
      <p:sp>
        <p:nvSpPr>
          <p:cNvPr id="22" name="icon-circle"/>
          <p:cNvSpPr/>
          <p:nvPr/>
        </p:nvSpPr>
        <p:spPr>
          <a:xfrm>
            <a:off x="7516368" y="2834640"/>
            <a:ext cx="548640" cy="548640"/>
          </a:xfrm>
          <a:prstGeom prst="ellipse">
            <a:avLst/>
          </a:prstGeom>
          <a:solidFill>
            <a:srgbClr val="241C45"/>
          </a:solidFill>
          <a:ln w="12700">
            <a:solidFill>
              <a:srgbClr val="8B5CF6"/>
            </a:solidFill>
            <a:prstDash val="solid"/>
          </a:ln>
        </p:spPr>
      </p:sp>
      <p:pic>
        <p:nvPicPr>
          <p:cNvPr id="23" name="icon" descr="preencoded.png">    </p:cNvPr>
          <p:cNvPicPr>
            <a:picLocks noChangeAspect="1"/>
          </p:cNvPicPr>
          <p:nvPr/>
        </p:nvPicPr>
        <p:blipFill>
          <a:blip r:embed="rId4"/>
          <a:stretch>
            <a:fillRect/>
          </a:stretch>
        </p:blipFill>
        <p:spPr>
          <a:xfrm>
            <a:off x="7653528" y="2971800"/>
            <a:ext cx="274320" cy="274320"/>
          </a:xfrm>
          <a:prstGeom prst="rect">
            <a:avLst/>
          </a:prstGeom>
        </p:spPr>
      </p:pic>
      <p:sp>
        <p:nvSpPr>
          <p:cNvPr id="24" name="Text 17"/>
          <p:cNvSpPr txBox="1"/>
          <p:nvPr/>
        </p:nvSpPr>
        <p:spPr>
          <a:xfrm>
            <a:off x="8138160" y="2560320"/>
            <a:ext cx="1143000" cy="1143000"/>
          </a:xfrm>
          <a:prstGeom prst="rect">
            <a:avLst/>
          </a:prstGeom>
          <a:noFill/>
          <a:ln/>
        </p:spPr>
        <p:txBody>
          <a:bodyPr wrap="square" lIns="0" tIns="0" rIns="0" bIns="0" rtlCol="0" anchor="ctr"/>
          <a:lstStyle/>
          <a:p>
            <a:pPr indent="0" marL="0">
              <a:buNone/>
            </a:pPr>
            <a:r>
              <a:rPr lang="en-US" sz="1300" b="1" dirty="0">
                <a:solidFill>
                  <a:srgbClr val="F5F7FB"/>
                </a:solidFill>
                <a:latin typeface="Calibri" pitchFamily="34" charset="0"/>
                <a:ea typeface="Calibri" pitchFamily="34" charset="-122"/>
                <a:cs typeface="Calibri" pitchFamily="34" charset="-120"/>
              </a:rPr>
              <a:t>SPLIT</a:t>
            </a:r>
            <a:endParaRPr lang="en-US" sz="1300" dirty="0"/>
          </a:p>
        </p:txBody>
      </p:sp>
      <p:sp>
        <p:nvSpPr>
          <p:cNvPr id="25" name="Text 18"/>
          <p:cNvSpPr txBox="1"/>
          <p:nvPr/>
        </p:nvSpPr>
        <p:spPr>
          <a:xfrm>
            <a:off x="9326880" y="2926080"/>
            <a:ext cx="365760" cy="411480"/>
          </a:xfrm>
          <a:prstGeom prst="rect">
            <a:avLst/>
          </a:prstGeom>
          <a:noFill/>
          <a:ln/>
        </p:spPr>
        <p:txBody>
          <a:bodyPr wrap="square" lIns="0" tIns="0" rIns="0" bIns="0" rtlCol="0" anchor="ctr"/>
          <a:lstStyle/>
          <a:p>
            <a:pPr algn="ctr" indent="0" marL="0">
              <a:buNone/>
            </a:pPr>
            <a:r>
              <a:rPr lang="en-US" sz="2000" b="1" dirty="0">
                <a:solidFill>
                  <a:srgbClr val="EC4899"/>
                </a:solidFill>
                <a:latin typeface="Calibri" pitchFamily="34" charset="0"/>
                <a:ea typeface="Calibri" pitchFamily="34" charset="-122"/>
                <a:cs typeface="Calibri" pitchFamily="34" charset="-120"/>
              </a:rPr>
              <a:t>→</a:t>
            </a:r>
            <a:endParaRPr lang="en-US" sz="2000" dirty="0"/>
          </a:p>
        </p:txBody>
      </p:sp>
      <p:sp>
        <p:nvSpPr>
          <p:cNvPr id="26" name="card"/>
          <p:cNvSpPr/>
          <p:nvPr/>
        </p:nvSpPr>
        <p:spPr>
          <a:xfrm>
            <a:off x="9692640" y="2560320"/>
            <a:ext cx="1920240" cy="1143000"/>
          </a:xfrm>
          <a:prstGeom prst="roundRect">
            <a:avLst>
              <a:gd name="adj" fmla="val 9600"/>
            </a:avLst>
          </a:prstGeom>
          <a:solidFill>
            <a:srgbClr val="241C45"/>
          </a:solidFill>
          <a:ln w="12700">
            <a:solidFill>
              <a:srgbClr val="8B5CF6"/>
            </a:solidFill>
            <a:prstDash val="solid"/>
          </a:ln>
          <a:effectLst>
            <a:outerShdw sx="100000" sy="100000" kx="0" ky="0" algn="bl" rotWithShape="0" blurRad="177800" dist="50800" dir="16200000">
              <a:srgbClr val="8B5CF6">
                <a:alpha val="28000"/>
              </a:srgbClr>
            </a:outerShdw>
          </a:effectLst>
        </p:spPr>
      </p:sp>
      <p:sp>
        <p:nvSpPr>
          <p:cNvPr id="27" name="icon-circle"/>
          <p:cNvSpPr/>
          <p:nvPr/>
        </p:nvSpPr>
        <p:spPr>
          <a:xfrm>
            <a:off x="9802368" y="2834640"/>
            <a:ext cx="548640" cy="548640"/>
          </a:xfrm>
          <a:prstGeom prst="ellipse">
            <a:avLst/>
          </a:prstGeom>
          <a:solidFill>
            <a:srgbClr val="241C45"/>
          </a:solidFill>
          <a:ln w="12700">
            <a:solidFill>
              <a:srgbClr val="8B5CF6"/>
            </a:solidFill>
            <a:prstDash val="solid"/>
          </a:ln>
        </p:spPr>
      </p:sp>
      <p:pic>
        <p:nvPicPr>
          <p:cNvPr id="28" name="icon" descr="preencoded.png">    </p:cNvPr>
          <p:cNvPicPr>
            <a:picLocks noChangeAspect="1"/>
          </p:cNvPicPr>
          <p:nvPr/>
        </p:nvPicPr>
        <p:blipFill>
          <a:blip r:embed="rId5"/>
          <a:stretch>
            <a:fillRect/>
          </a:stretch>
        </p:blipFill>
        <p:spPr>
          <a:xfrm>
            <a:off x="9939528" y="2971800"/>
            <a:ext cx="274320" cy="274320"/>
          </a:xfrm>
          <a:prstGeom prst="rect">
            <a:avLst/>
          </a:prstGeom>
        </p:spPr>
      </p:pic>
      <p:sp>
        <p:nvSpPr>
          <p:cNvPr id="29" name="Text 21"/>
          <p:cNvSpPr txBox="1"/>
          <p:nvPr/>
        </p:nvSpPr>
        <p:spPr>
          <a:xfrm>
            <a:off x="10424160" y="2560320"/>
            <a:ext cx="1143000" cy="1143000"/>
          </a:xfrm>
          <a:prstGeom prst="rect">
            <a:avLst/>
          </a:prstGeom>
          <a:noFill/>
          <a:ln/>
        </p:spPr>
        <p:txBody>
          <a:bodyPr wrap="square" lIns="0" tIns="0" rIns="0" bIns="0" rtlCol="0" anchor="ctr"/>
          <a:lstStyle/>
          <a:p>
            <a:pPr indent="0" marL="0">
              <a:buNone/>
            </a:pPr>
            <a:r>
              <a:rPr lang="en-US" sz="1300" b="1" dirty="0">
                <a:solidFill>
                  <a:srgbClr val="F5F7FB"/>
                </a:solidFill>
                <a:latin typeface="Calibri" pitchFamily="34" charset="0"/>
                <a:ea typeface="Calibri" pitchFamily="34" charset="-122"/>
                <a:cs typeface="Calibri" pitchFamily="34" charset="-120"/>
              </a:rPr>
              <a:t>SHARE</a:t>
            </a:r>
            <a:endParaRPr lang="en-US" sz="1300" dirty="0"/>
          </a:p>
        </p:txBody>
      </p:sp>
      <p:sp>
        <p:nvSpPr>
          <p:cNvPr id="30" name="card"/>
          <p:cNvSpPr/>
          <p:nvPr/>
        </p:nvSpPr>
        <p:spPr>
          <a:xfrm>
            <a:off x="548640" y="3931920"/>
            <a:ext cx="7086600" cy="2331720"/>
          </a:xfrm>
          <a:prstGeom prst="roundRect">
            <a:avLst>
              <a:gd name="adj" fmla="val 4706"/>
            </a:avLst>
          </a:prstGeom>
          <a:solidFill>
            <a:srgbClr val="161B27"/>
          </a:solidFill>
          <a:ln w="12700">
            <a:solidFill>
              <a:srgbClr val="2B3240"/>
            </a:solidFill>
            <a:prstDash val="solid"/>
          </a:ln>
        </p:spPr>
      </p:sp>
      <p:sp>
        <p:nvSpPr>
          <p:cNvPr id="31" name="Text 23"/>
          <p:cNvSpPr txBox="1"/>
          <p:nvPr/>
        </p:nvSpPr>
        <p:spPr>
          <a:xfrm>
            <a:off x="777240" y="4023360"/>
            <a:ext cx="3657600" cy="320040"/>
          </a:xfrm>
          <a:prstGeom prst="rect">
            <a:avLst/>
          </a:prstGeom>
          <a:noFill/>
          <a:ln/>
        </p:spPr>
        <p:txBody>
          <a:bodyPr wrap="square" lIns="0" tIns="0" rIns="0" bIns="0" rtlCol="0" anchor="ctr"/>
          <a:lstStyle/>
          <a:p>
            <a:pPr indent="0" marL="0">
              <a:buNone/>
            </a:pPr>
            <a:r>
              <a:rPr lang="en-US" sz="1200" b="1" dirty="0">
                <a:solidFill>
                  <a:srgbClr val="EC4899"/>
                </a:solidFill>
                <a:latin typeface="Calibri" pitchFamily="34" charset="0"/>
                <a:ea typeface="Calibri" pitchFamily="34" charset="-122"/>
                <a:cs typeface="Calibri" pitchFamily="34" charset="-120"/>
              </a:rPr>
              <a:t>REFERENCES</a:t>
            </a:r>
            <a:endParaRPr lang="en-US" sz="1200" dirty="0"/>
          </a:p>
        </p:txBody>
      </p:sp>
      <p:sp>
        <p:nvSpPr>
          <p:cNvPr id="32" name="Text 24"/>
          <p:cNvSpPr txBox="1"/>
          <p:nvPr/>
        </p:nvSpPr>
        <p:spPr>
          <a:xfrm>
            <a:off x="777240" y="4389120"/>
            <a:ext cx="6675120" cy="1783080"/>
          </a:xfrm>
          <a:prstGeom prst="rect">
            <a:avLst/>
          </a:prstGeom>
          <a:noFill/>
          <a:ln/>
        </p:spPr>
        <p:txBody>
          <a:bodyPr wrap="square" lIns="0" tIns="0" rIns="0" bIns="0" rtlCol="0" anchor="t"/>
          <a:lstStyle/>
          <a:p>
            <a:pPr indent="0" marL="0">
              <a:spcAft>
                <a:spcPts val="300"/>
              </a:spcAft>
              <a:buNone/>
            </a:pPr>
            <a:r>
              <a:rPr lang="en-US" sz="1200" dirty="0">
                <a:solidFill>
                  <a:srgbClr val="D5D9E2"/>
                </a:solidFill>
                <a:latin typeface="Calibri" pitchFamily="34" charset="0"/>
                <a:ea typeface="Calibri" pitchFamily="34" charset="-122"/>
                <a:cs typeface="Calibri" pitchFamily="34" charset="-120"/>
              </a:rPr>
              <a:t>BillWise AI GitHub Repository: github.com/srinijaagangulaa-lab/BillWiseAI</a:t>
            </a:r>
            <a:endParaRPr lang="en-US" sz="1200" dirty="0"/>
          </a:p>
          <a:p>
            <a:pPr indent="0" marL="0">
              <a:spcAft>
                <a:spcPts val="300"/>
              </a:spcAft>
              <a:buNone/>
            </a:pPr>
            <a:r>
              <a:rPr lang="en-US" sz="1200" dirty="0">
                <a:solidFill>
                  <a:srgbClr val="D5D9E2"/>
                </a:solidFill>
                <a:latin typeface="Calibri" pitchFamily="34" charset="0"/>
                <a:ea typeface="Calibri" pitchFamily="34" charset="-122"/>
                <a:cs typeface="Calibri" pitchFamily="34" charset="-120"/>
              </a:rPr>
              <a:t>Google Gemini API Documentation</a:t>
            </a:r>
            <a:endParaRPr lang="en-US" sz="1200" dirty="0"/>
          </a:p>
          <a:p>
            <a:pPr indent="0" marL="0">
              <a:spcAft>
                <a:spcPts val="300"/>
              </a:spcAft>
              <a:buNone/>
            </a:pPr>
            <a:r>
              <a:rPr lang="en-US" sz="1200" dirty="0">
                <a:solidFill>
                  <a:srgbClr val="D5D9E2"/>
                </a:solidFill>
                <a:latin typeface="Calibri" pitchFamily="34" charset="0"/>
                <a:ea typeface="Calibri" pitchFamily="34" charset="-122"/>
                <a:cs typeface="Calibri" pitchFamily="34" charset="-120"/>
              </a:rPr>
              <a:t>Streamlit Documentation</a:t>
            </a:r>
            <a:endParaRPr lang="en-US" sz="1200" dirty="0"/>
          </a:p>
          <a:p>
            <a:pPr indent="0" marL="0">
              <a:spcAft>
                <a:spcPts val="300"/>
              </a:spcAft>
              <a:buNone/>
            </a:pPr>
            <a:r>
              <a:rPr lang="en-US" sz="1200" dirty="0">
                <a:solidFill>
                  <a:srgbClr val="D5D9E2"/>
                </a:solidFill>
                <a:latin typeface="Calibri" pitchFamily="34" charset="0"/>
                <a:ea typeface="Calibri" pitchFamily="34" charset="-122"/>
                <a:cs typeface="Calibri" pitchFamily="34" charset="-120"/>
              </a:rPr>
              <a:t>Python Documentation</a:t>
            </a:r>
            <a:endParaRPr lang="en-US" sz="1200" dirty="0"/>
          </a:p>
          <a:p>
            <a:pPr indent="0" marL="0">
              <a:spcAft>
                <a:spcPts val="300"/>
              </a:spcAft>
              <a:buNone/>
            </a:pPr>
            <a:r>
              <a:rPr lang="en-US" sz="1200" dirty="0">
                <a:solidFill>
                  <a:srgbClr val="D5D9E2"/>
                </a:solidFill>
                <a:latin typeface="Calibri" pitchFamily="34" charset="0"/>
                <a:ea typeface="Calibri" pitchFamily="34" charset="-122"/>
                <a:cs typeface="Calibri" pitchFamily="34" charset="-120"/>
              </a:rPr>
              <a:t>Twilio Documentation</a:t>
            </a:r>
            <a:endParaRPr lang="en-US" sz="1200" dirty="0"/>
          </a:p>
          <a:p>
            <a:pPr indent="0" marL="0">
              <a:spcAft>
                <a:spcPts val="300"/>
              </a:spcAft>
              <a:buNone/>
            </a:pPr>
            <a:r>
              <a:rPr lang="en-US" sz="1200" dirty="0">
                <a:solidFill>
                  <a:srgbClr val="D5D9E2"/>
                </a:solidFill>
                <a:latin typeface="Calibri" pitchFamily="34" charset="0"/>
                <a:ea typeface="Calibri" pitchFamily="34" charset="-122"/>
                <a:cs typeface="Calibri" pitchFamily="34" charset="-120"/>
              </a:rPr>
              <a:t>Pydantic Documentation</a:t>
            </a:r>
            <a:endParaRPr lang="en-US" sz="1200" dirty="0"/>
          </a:p>
        </p:txBody>
      </p:sp>
      <p:sp>
        <p:nvSpPr>
          <p:cNvPr id="33" name="card"/>
          <p:cNvSpPr/>
          <p:nvPr/>
        </p:nvSpPr>
        <p:spPr>
          <a:xfrm>
            <a:off x="7863840" y="3931920"/>
            <a:ext cx="3749040" cy="2331720"/>
          </a:xfrm>
          <a:prstGeom prst="roundRect">
            <a:avLst>
              <a:gd name="adj" fmla="val 4706"/>
            </a:avLst>
          </a:prstGeom>
          <a:solidFill>
            <a:srgbClr val="18142B"/>
          </a:solidFill>
          <a:ln w="12700">
            <a:solidFill>
              <a:srgbClr val="8B5CF6"/>
            </a:solidFill>
            <a:prstDash val="solid"/>
          </a:ln>
          <a:effectLst>
            <a:outerShdw sx="100000" sy="100000" kx="0" ky="0" algn="bl" rotWithShape="0" blurRad="177800" dist="50800" dir="16200000">
              <a:srgbClr val="8B5CF6">
                <a:alpha val="28000"/>
              </a:srgbClr>
            </a:outerShdw>
          </a:effectLst>
        </p:spPr>
      </p:sp>
      <p:sp>
        <p:nvSpPr>
          <p:cNvPr id="34" name="Text 26"/>
          <p:cNvSpPr txBox="1"/>
          <p:nvPr/>
        </p:nvSpPr>
        <p:spPr>
          <a:xfrm>
            <a:off x="7863840" y="4160520"/>
            <a:ext cx="3749040" cy="822960"/>
          </a:xfrm>
          <a:prstGeom prst="rect">
            <a:avLst/>
          </a:prstGeom>
          <a:noFill/>
          <a:ln/>
        </p:spPr>
        <p:txBody>
          <a:bodyPr wrap="square" lIns="0" tIns="0" rIns="0" bIns="0" rtlCol="0" anchor="ctr"/>
          <a:lstStyle/>
          <a:p>
            <a:pPr algn="ctr" indent="0" marL="0">
              <a:buNone/>
            </a:pPr>
            <a:r>
              <a:rPr lang="en-US" sz="3600" b="1" dirty="0">
                <a:solidFill>
                  <a:srgbClr val="C4B5FD"/>
                </a:solidFill>
                <a:latin typeface="Calibri" pitchFamily="34" charset="0"/>
                <a:ea typeface="Calibri" pitchFamily="34" charset="-122"/>
                <a:cs typeface="Calibri" pitchFamily="34" charset="-120"/>
              </a:rPr>
              <a:t>THANK YOU</a:t>
            </a:r>
            <a:endParaRPr lang="en-US" sz="3600" dirty="0"/>
          </a:p>
        </p:txBody>
      </p:sp>
      <p:sp>
        <p:nvSpPr>
          <p:cNvPr id="35" name="Text 27"/>
          <p:cNvSpPr txBox="1"/>
          <p:nvPr/>
        </p:nvSpPr>
        <p:spPr>
          <a:xfrm>
            <a:off x="7863840" y="5029200"/>
            <a:ext cx="3749040" cy="457200"/>
          </a:xfrm>
          <a:prstGeom prst="rect">
            <a:avLst/>
          </a:prstGeom>
          <a:noFill/>
          <a:ln/>
        </p:spPr>
        <p:txBody>
          <a:bodyPr wrap="square" lIns="0" tIns="0" rIns="0" bIns="0" rtlCol="0" anchor="ctr"/>
          <a:lstStyle/>
          <a:p>
            <a:pPr algn="ctr" indent="0" marL="0">
              <a:buNone/>
            </a:pPr>
            <a:r>
              <a:rPr lang="en-US" sz="1800" dirty="0">
                <a:solidFill>
                  <a:srgbClr val="F5F7FB"/>
                </a:solidFill>
                <a:latin typeface="Calibri" pitchFamily="34" charset="0"/>
                <a:ea typeface="Calibri" pitchFamily="34" charset="-122"/>
                <a:cs typeface="Calibri" pitchFamily="34" charset="-120"/>
              </a:rPr>
              <a:t>Questions &amp; Discussion</a:t>
            </a:r>
            <a:endParaRPr lang="en-US" sz="1800" dirty="0"/>
          </a:p>
        </p:txBody>
      </p:sp>
      <p:sp>
        <p:nvSpPr>
          <p:cNvPr id="36" name="Text 28"/>
          <p:cNvSpPr txBox="1"/>
          <p:nvPr/>
        </p:nvSpPr>
        <p:spPr>
          <a:xfrm>
            <a:off x="7863840" y="5577840"/>
            <a:ext cx="3749040" cy="320040"/>
          </a:xfrm>
          <a:prstGeom prst="rect">
            <a:avLst/>
          </a:prstGeom>
          <a:noFill/>
          <a:ln/>
        </p:spPr>
        <p:txBody>
          <a:bodyPr wrap="square" lIns="0" tIns="0" rIns="0" bIns="0" rtlCol="0" anchor="ctr"/>
          <a:lstStyle/>
          <a:p>
            <a:pPr algn="ctr" indent="0" marL="0">
              <a:buNone/>
            </a:pPr>
            <a:r>
              <a:rPr lang="en-US" sz="1200" dirty="0">
                <a:solidFill>
                  <a:srgbClr val="A3ABBC"/>
                </a:solidFill>
                <a:latin typeface="Calibri" pitchFamily="34" charset="0"/>
                <a:ea typeface="Calibri" pitchFamily="34" charset="-122"/>
                <a:cs typeface="Calibri" pitchFamily="34" charset="-120"/>
              </a:rPr>
              <a:t>billwise-ai1.streamlit.app</a:t>
            </a:r>
            <a:endParaRPr lang="en-US" sz="12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899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BillWise Dark">
  <a:themeElements>
    <a:clrScheme name="BillWise Dark">
      <a:dk1>
        <a:srgbClr val="090B11"/>
      </a:dk1>
      <a:lt1>
        <a:srgbClr val="F5F7FB"/>
      </a:lt1>
      <a:dk2>
        <a:srgbClr val="11151F"/>
      </a:dk2>
      <a:lt2>
        <a:srgbClr val="C4B5FD"/>
      </a:lt2>
      <a:accent1>
        <a:srgbClr val="8B5CF6"/>
      </a:accent1>
      <a:accent2>
        <a:srgbClr val="EC4899"/>
      </a:accent2>
      <a:accent3>
        <a:srgbClr val="A78BFA"/>
      </a:accent3>
      <a:accent4>
        <a:srgbClr val="F9A8D4"/>
      </a:accent4>
      <a:accent5>
        <a:srgbClr val="262D3A"/>
      </a:accent5>
      <a:accent6>
        <a:srgbClr val="929BAD"/>
      </a:accent6>
      <a:hlink>
        <a:srgbClr val="C4B5FD"/>
      </a:hlink>
      <a:folHlink>
        <a:srgbClr val="F9A8D4"/>
      </a:folHlink>
    </a:clrScheme>
    <a:fontScheme name="BillWise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BillWise AI</dc:title>
  <dc:subject>PptxGenJS Presentation</dc:subject>
  <dc:creator>BillWise AI</dc:creator>
  <cp:lastModifiedBy>BillWise AI</cp:lastModifiedBy>
  <cp:revision>1</cp:revision>
  <dcterms:created xsi:type="dcterms:W3CDTF">2026-10-06T06:39:31Z</dcterms:created>
  <dcterms:modified xsi:type="dcterms:W3CDTF">2026-10-06T06:39:31Z</dcterms:modified>
</cp:coreProperties>
</file>